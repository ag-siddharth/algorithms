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  <p:sldMasterId id="2147483648" r:id="rId2"/>
  </p:sldMasterIdLst>
  <p:notesMasterIdLst>
    <p:notesMasterId r:id="rId14"/>
  </p:notesMasterIdLst>
  <p:sldIdLst>
    <p:sldId id="257" r:id="rId3"/>
    <p:sldId id="258" r:id="rId4"/>
    <p:sldId id="480" r:id="rId5"/>
    <p:sldId id="481" r:id="rId6"/>
    <p:sldId id="518" r:id="rId7"/>
    <p:sldId id="483" r:id="rId8"/>
    <p:sldId id="502" r:id="rId9"/>
    <p:sldId id="519" r:id="rId10"/>
    <p:sldId id="520" r:id="rId11"/>
    <p:sldId id="517" r:id="rId12"/>
    <p:sldId id="346" r:id="rId13"/>
  </p:sldIdLst>
  <p:sldSz cx="12192000" cy="6858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alibri Light" panose="020F0302020204030204" pitchFamily="34" charset="0"/>
      <p:regular r:id="rId19"/>
      <p: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99" y="1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4.fntdata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3.fntdata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5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vi Sundaram" userId="a7df020c0a403423" providerId="LiveId" clId="{E9B73C6C-FC92-4927-9807-64C11862D04C}"/>
    <pc:docChg chg="custSel modSld">
      <pc:chgData name="Ravi Sundaram" userId="a7df020c0a403423" providerId="LiveId" clId="{E9B73C6C-FC92-4927-9807-64C11862D04C}" dt="2020-09-14T16:48:21.670" v="5" actId="20577"/>
      <pc:docMkLst>
        <pc:docMk/>
      </pc:docMkLst>
      <pc:sldChg chg="modSp">
        <pc:chgData name="Ravi Sundaram" userId="a7df020c0a403423" providerId="LiveId" clId="{E9B73C6C-FC92-4927-9807-64C11862D04C}" dt="2020-09-14T16:48:21.670" v="5" actId="20577"/>
        <pc:sldMkLst>
          <pc:docMk/>
          <pc:sldMk cId="0" sldId="502"/>
        </pc:sldMkLst>
        <pc:spChg chg="mod">
          <ac:chgData name="Ravi Sundaram" userId="a7df020c0a403423" providerId="LiveId" clId="{E9B73C6C-FC92-4927-9807-64C11862D04C}" dt="2020-09-14T16:48:21.670" v="5" actId="20577"/>
          <ac:spMkLst>
            <pc:docMk/>
            <pc:sldMk cId="0" sldId="502"/>
            <ac:spMk id="648195" creationId="{40C60C56-03B4-4B7A-B128-AEB4024CB9B7}"/>
          </ac:spMkLst>
        </pc:spChg>
      </pc:sldChg>
    </pc:docChg>
  </pc:docChgLst>
  <pc:docChgLst>
    <pc:chgData name="Ravi Sundaram" userId="a7df020c0a403423" providerId="LiveId" clId="{A0298B4A-A394-414A-98E2-013DBCB86465}"/>
    <pc:docChg chg="modSld">
      <pc:chgData name="Ravi Sundaram" userId="a7df020c0a403423" providerId="LiveId" clId="{A0298B4A-A394-414A-98E2-013DBCB86465}" dt="2022-10-07T04:06:50.303" v="5" actId="20577"/>
      <pc:docMkLst>
        <pc:docMk/>
      </pc:docMkLst>
      <pc:sldChg chg="modSp mod">
        <pc:chgData name="Ravi Sundaram" userId="a7df020c0a403423" providerId="LiveId" clId="{A0298B4A-A394-414A-98E2-013DBCB86465}" dt="2022-10-07T04:06:50.303" v="5" actId="20577"/>
        <pc:sldMkLst>
          <pc:docMk/>
          <pc:sldMk cId="0" sldId="483"/>
        </pc:sldMkLst>
        <pc:spChg chg="mod">
          <ac:chgData name="Ravi Sundaram" userId="a7df020c0a403423" providerId="LiveId" clId="{A0298B4A-A394-414A-98E2-013DBCB86465}" dt="2022-10-07T04:06:50.303" v="5" actId="20577"/>
          <ac:spMkLst>
            <pc:docMk/>
            <pc:sldMk cId="0" sldId="483"/>
            <ac:spMk id="612355" creationId="{6D0AA8F6-2E0C-41E6-AA6C-59525FA87DC1}"/>
          </ac:spMkLst>
        </pc:spChg>
      </pc:sldChg>
    </pc:docChg>
  </pc:docChgLst>
  <pc:docChgLst>
    <pc:chgData name="Ravi Sundaram" userId="a7df020c0a403423" providerId="LiveId" clId="{81C421EF-CE34-4930-9C93-C978E40747FE}"/>
    <pc:docChg chg="modSld">
      <pc:chgData name="Ravi Sundaram" userId="a7df020c0a403423" providerId="LiveId" clId="{81C421EF-CE34-4930-9C93-C978E40747FE}" dt="2020-10-13T15:21:56.746" v="16" actId="20577"/>
      <pc:docMkLst>
        <pc:docMk/>
      </pc:docMkLst>
      <pc:sldChg chg="modSp">
        <pc:chgData name="Ravi Sundaram" userId="a7df020c0a403423" providerId="LiveId" clId="{81C421EF-CE34-4930-9C93-C978E40747FE}" dt="2020-10-13T15:21:56.746" v="16" actId="20577"/>
        <pc:sldMkLst>
          <pc:docMk/>
          <pc:sldMk cId="4014147109" sldId="346"/>
        </pc:sldMkLst>
        <pc:spChg chg="mod">
          <ac:chgData name="Ravi Sundaram" userId="a7df020c0a403423" providerId="LiveId" clId="{81C421EF-CE34-4930-9C93-C978E40747FE}" dt="2020-10-13T15:21:56.746" v="16" actId="20577"/>
          <ac:spMkLst>
            <pc:docMk/>
            <pc:sldMk cId="4014147109" sldId="346"/>
            <ac:spMk id="3" creationId="{03364FEF-F44A-4071-922A-E51980E95FCC}"/>
          </ac:spMkLst>
        </pc:spChg>
      </pc:sldChg>
      <pc:sldChg chg="delSp">
        <pc:chgData name="Ravi Sundaram" userId="a7df020c0a403423" providerId="LiveId" clId="{81C421EF-CE34-4930-9C93-C978E40747FE}" dt="2020-10-13T15:21:32.049" v="0" actId="478"/>
        <pc:sldMkLst>
          <pc:docMk/>
          <pc:sldMk cId="0" sldId="517"/>
        </pc:sldMkLst>
        <pc:spChg chg="del">
          <ac:chgData name="Ravi Sundaram" userId="a7df020c0a403423" providerId="LiveId" clId="{81C421EF-CE34-4930-9C93-C978E40747FE}" dt="2020-10-13T15:21:32.049" v="0" actId="478"/>
          <ac:spMkLst>
            <pc:docMk/>
            <pc:sldMk cId="0" sldId="517"/>
            <ac:spMk id="696326" creationId="{7FF905CA-E1C3-4824-8787-55916FAA04B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B73B14-E03D-4C36-A9A9-DDF34C9C76C4}" type="datetimeFigureOut">
              <a:rPr lang="en-US" smtClean="0"/>
              <a:t>10/7/2022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2575FB-1220-46CE-B9EB-2DF038F4E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296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234" name="Rectangle 2">
            <a:extLst>
              <a:ext uri="{FF2B5EF4-FFF2-40B4-BE49-F238E27FC236}">
                <a16:creationId xmlns:a16="http://schemas.microsoft.com/office/drawing/2014/main" id="{F0DF77C0-637D-458D-9B20-DD3D4AB1E6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7235" name="Rectangle 3">
            <a:extLst>
              <a:ext uri="{FF2B5EF4-FFF2-40B4-BE49-F238E27FC236}">
                <a16:creationId xmlns:a16="http://schemas.microsoft.com/office/drawing/2014/main" id="{ACDEBED8-06E8-4E21-A5CE-9A3DA0F755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282" name="Rectangle 2">
            <a:extLst>
              <a:ext uri="{FF2B5EF4-FFF2-40B4-BE49-F238E27FC236}">
                <a16:creationId xmlns:a16="http://schemas.microsoft.com/office/drawing/2014/main" id="{E6E644F7-8516-4952-B3AE-C70E3A7D2E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9283" name="Rectangle 3">
            <a:extLst>
              <a:ext uri="{FF2B5EF4-FFF2-40B4-BE49-F238E27FC236}">
                <a16:creationId xmlns:a16="http://schemas.microsoft.com/office/drawing/2014/main" id="{51C05C3B-975E-420B-BDA6-3F2B9F2017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282" name="Rectangle 2">
            <a:extLst>
              <a:ext uri="{FF2B5EF4-FFF2-40B4-BE49-F238E27FC236}">
                <a16:creationId xmlns:a16="http://schemas.microsoft.com/office/drawing/2014/main" id="{E6E644F7-8516-4952-B3AE-C70E3A7D2E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9283" name="Rectangle 3">
            <a:extLst>
              <a:ext uri="{FF2B5EF4-FFF2-40B4-BE49-F238E27FC236}">
                <a16:creationId xmlns:a16="http://schemas.microsoft.com/office/drawing/2014/main" id="{51C05C3B-975E-420B-BDA6-3F2B9F2017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80594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378" name="Rectangle 2">
            <a:extLst>
              <a:ext uri="{FF2B5EF4-FFF2-40B4-BE49-F238E27FC236}">
                <a16:creationId xmlns:a16="http://schemas.microsoft.com/office/drawing/2014/main" id="{619803CF-ACDC-4634-93C7-7963EA5B87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3379" name="Rectangle 3">
            <a:extLst>
              <a:ext uri="{FF2B5EF4-FFF2-40B4-BE49-F238E27FC236}">
                <a16:creationId xmlns:a16="http://schemas.microsoft.com/office/drawing/2014/main" id="{0F354EE5-1A3A-4234-BBDE-35C30BCC1E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218" name="Rectangle 2">
            <a:extLst>
              <a:ext uri="{FF2B5EF4-FFF2-40B4-BE49-F238E27FC236}">
                <a16:creationId xmlns:a16="http://schemas.microsoft.com/office/drawing/2014/main" id="{DD45BBA0-B2DA-4EFA-B4BB-3189AEE8A3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9219" name="Rectangle 3">
            <a:extLst>
              <a:ext uri="{FF2B5EF4-FFF2-40B4-BE49-F238E27FC236}">
                <a16:creationId xmlns:a16="http://schemas.microsoft.com/office/drawing/2014/main" id="{00E63F79-F2C3-4AE0-AAB1-6CCFD751F8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218" name="Rectangle 2">
            <a:extLst>
              <a:ext uri="{FF2B5EF4-FFF2-40B4-BE49-F238E27FC236}">
                <a16:creationId xmlns:a16="http://schemas.microsoft.com/office/drawing/2014/main" id="{DD45BBA0-B2DA-4EFA-B4BB-3189AEE8A3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9219" name="Rectangle 3">
            <a:extLst>
              <a:ext uri="{FF2B5EF4-FFF2-40B4-BE49-F238E27FC236}">
                <a16:creationId xmlns:a16="http://schemas.microsoft.com/office/drawing/2014/main" id="{00E63F79-F2C3-4AE0-AAB1-6CCFD751F8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9783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282" name="Rectangle 2">
            <a:extLst>
              <a:ext uri="{FF2B5EF4-FFF2-40B4-BE49-F238E27FC236}">
                <a16:creationId xmlns:a16="http://schemas.microsoft.com/office/drawing/2014/main" id="{E6E644F7-8516-4952-B3AE-C70E3A7D2E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9283" name="Rectangle 3">
            <a:extLst>
              <a:ext uri="{FF2B5EF4-FFF2-40B4-BE49-F238E27FC236}">
                <a16:creationId xmlns:a16="http://schemas.microsoft.com/office/drawing/2014/main" id="{51C05C3B-975E-420B-BDA6-3F2B9F2017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8144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7B66A-B261-4E9B-B884-0E08F3996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A6F6A9-CB80-4838-9194-C1D4806501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8C919-F7DB-4D92-8230-BE2600AD5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10/7/2022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02EAE-90CF-42E4-9D14-B51C620FC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72B40-2763-4320-95FD-79EAF4930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2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65F9D-EB46-464A-9C1F-36F52A033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E2D95-61E5-4BA6-A5CA-989CDDC25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30BF0-DEA8-4F87-8199-C96828545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10/7/2022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42B86-28A3-44DB-9CFB-1A1C0FF4A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0C2B3-6C04-46A0-8FA7-0063446F2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98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22C2D-7AD7-4039-949A-2027C8F80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EFC05-C3D5-426B-A838-A7F0C5261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E9E0A-1F89-4190-BC9C-B9E9F0997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10/7/2022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B166D-848F-4CB8-8A44-D60A37F50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D63A5-CC65-4162-9521-BA95ECD3D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002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54BD8-C0A3-43A7-9732-BA4FD6FF9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5813D-6C9D-4545-AA01-E0C57C9098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9235D6-133C-4A12-BD8B-3A15F48D5E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4C587C-1331-44D1-83D3-0B8854C24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10/7/2022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23FC86-6C1E-499F-AB30-D19B24A0A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52A89-22C3-45AD-BCD2-6FF037FC3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811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F58E2-82E8-4BD5-A304-4EF171821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701953-3B7F-4B14-9B3B-0BA693B2F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8E5DE-211A-4124-9442-641AEE501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484F4D-9B29-47E3-8C8A-D2DF81EC0E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4DC0E2-E01E-4DBE-A2D7-E8BD341921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33BCC3-372E-4D85-A683-9274F59CF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10/7/2022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1154E9-9F74-429E-86F9-69DD81D59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7C6BB3-2072-4777-B179-8FB5A8F78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950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A94A6-5DF6-47C6-B60B-99F61A5FF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81011E-25AB-4FB9-A747-F1E58849D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10/7/2022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4F2190-B682-4144-983C-080CBD314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9E53F1-0E9A-4302-B4D8-60A31EE14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930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80136C-067E-49CF-BEFB-07DCD05CC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10/7/2022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DB2C96-B1E3-42ED-8203-CA1BD4250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033A53-F566-47F1-8F54-EB975B360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508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45B4A-0671-47E5-83D9-49994E714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B3781-23BB-4681-AA1A-3F931A427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8D9E8-D8B4-462F-9876-EE4339BB1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8E83D1-9453-43F1-8018-1094AF33D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10/7/2022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67543E-4DA3-46F9-B662-BC517F2B4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256846-A283-4D1C-B6E2-BA550C209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539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F9D4D-C3DE-4F73-A1E1-0879EC66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351224-56BF-4517-B358-05EEB2CCBA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559471-0385-4433-8AFE-F7A59EC032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76818A-4939-449E-A64E-08F4AE8EE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10/7/2022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108150-FC02-4AE2-ADA5-62EEC4241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2A9674-8609-4504-A853-B14F9D05C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610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C15A7-2E0C-4D10-A18E-6D4C8C5BF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D9F29E-B286-4821-873A-4EEBDDA907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EC13E-20DD-4FA1-84FA-0DC0C2686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10/7/2022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F46F0-D564-4E7F-94CB-C728ED71A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677A7-30EC-4454-BE13-EDADC1B54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299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538BB8-1524-4263-8145-DD7BF0F6D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2F6161-598E-41A1-94D4-0CB9C5F320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ABBA5-CB02-4CF4-834F-78CD0EE3F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10/7/2022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05DEC-DA76-449C-95DA-37378675A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DEDC1-4F32-4D8B-9B85-B93C062C2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90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0F615-C80C-4577-B8C0-60EF203ED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3CD97-97A8-4B3D-BCFA-4F23FDA8F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A63E9-8815-42F1-8F7E-8D0C3C0A3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0D9C8-F031-4208-B5FA-65A96CC7B6FA}" type="datetimeFigureOut">
              <a:rPr lang="en-US" smtClean="0"/>
              <a:t>10/7/2022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CAB7F-DC4A-450A-8EC8-53CB35CFB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3FE77-9520-40B4-AF8F-7D8D9CC06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9BE43-225A-480C-9C42-2CD467CB4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062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C83CAB-A5A6-4427-9403-D15078A23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33D35-FFB0-41EC-B656-BBA19813B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EF149-9FF9-44EA-A48F-86A3F23EEC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D7C2BA-BD82-4009-A526-3CB63542CE01}" type="datetimeFigureOut">
              <a:rPr lang="en-US" smtClean="0"/>
              <a:t>10/7/2022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134C8-0AC4-4373-84B9-4926B6707B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86F41-206B-4D3D-BD01-1955F6F68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875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0244C0-42D6-467E-A100-0E78E1276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97938-D6DE-4603-956D-AFF345DF4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ADE1D-8F0D-48D6-B74C-332A21BE56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0D9C8-F031-4208-B5FA-65A96CC7B6FA}" type="datetimeFigureOut">
              <a:rPr lang="en-US" smtClean="0"/>
              <a:t>10/7/2022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DDDC5-B42E-4025-9BA1-A73D4D3EF6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247E8-581C-41DA-849A-F588F08214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9BE43-225A-480C-9C42-2CD467CB4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853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97C44-BBD0-4A67-A16E-1796651C5A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2819" y="1204598"/>
            <a:ext cx="9144000" cy="3843765"/>
          </a:xfrm>
        </p:spPr>
        <p:txBody>
          <a:bodyPr>
            <a:noAutofit/>
          </a:bodyPr>
          <a:lstStyle/>
          <a:p>
            <a:r>
              <a:rPr lang="en-US" sz="4000" u="sng" dirty="0"/>
              <a:t>CS5800 – ALGORITHMS</a:t>
            </a: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MODULE 7. GREEDY ALGORITHMS - II</a:t>
            </a: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Lesson 3: Prim &amp; Kruskal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58199E-2156-4542-B134-D3536A98A8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2819" y="5688991"/>
            <a:ext cx="9144000" cy="477733"/>
          </a:xfrm>
        </p:spPr>
        <p:txBody>
          <a:bodyPr/>
          <a:lstStyle/>
          <a:p>
            <a:r>
              <a:rPr lang="en-US" u="sng" dirty="0"/>
              <a:t>Ravi Sundaram</a:t>
            </a:r>
          </a:p>
        </p:txBody>
      </p:sp>
    </p:spTree>
    <p:extLst>
      <p:ext uri="{BB962C8B-B14F-4D97-AF65-F5344CB8AC3E}">
        <p14:creationId xmlns:p14="http://schemas.microsoft.com/office/powerpoint/2010/main" val="4099122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FA58-59B8-4EFD-BF2B-069C45712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4FEF-F44A-4071-922A-E51980E95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Prim’s algorithm</a:t>
            </a:r>
          </a:p>
          <a:p>
            <a:pPr lvl="1"/>
            <a:r>
              <a:rPr lang="en-US" dirty="0"/>
              <a:t>Proof of correctness</a:t>
            </a:r>
          </a:p>
          <a:p>
            <a:pPr lvl="1"/>
            <a:r>
              <a:rPr lang="en-US" dirty="0"/>
              <a:t>Implementation &amp; Complexity</a:t>
            </a:r>
          </a:p>
          <a:p>
            <a:r>
              <a:rPr lang="en-US" dirty="0"/>
              <a:t>Kruskal’s algorithm</a:t>
            </a:r>
          </a:p>
          <a:p>
            <a:pPr lvl="1"/>
            <a:r>
              <a:rPr lang="en-US" dirty="0"/>
              <a:t>Proof of correctness</a:t>
            </a:r>
          </a:p>
          <a:p>
            <a:pPr lvl="1"/>
            <a:r>
              <a:rPr lang="en-US" dirty="0"/>
              <a:t>Implementation &amp; Complexity</a:t>
            </a:r>
          </a:p>
          <a:p>
            <a:r>
              <a:rPr lang="en-US" dirty="0"/>
              <a:t>Reverse-delete algorithm</a:t>
            </a:r>
          </a:p>
          <a:p>
            <a:r>
              <a:rPr lang="en-US" dirty="0"/>
              <a:t>Summary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479009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237" name="Freeform 29">
            <a:extLst>
              <a:ext uri="{FF2B5EF4-FFF2-40B4-BE49-F238E27FC236}">
                <a16:creationId xmlns:a16="http://schemas.microsoft.com/office/drawing/2014/main" id="{EB4F9D6B-AB0B-4FF5-8451-98B7141633F6}"/>
              </a:ext>
            </a:extLst>
          </p:cNvPr>
          <p:cNvSpPr>
            <a:spLocks/>
          </p:cNvSpPr>
          <p:nvPr/>
        </p:nvSpPr>
        <p:spPr bwMode="auto">
          <a:xfrm>
            <a:off x="3781281" y="2825750"/>
            <a:ext cx="4037012" cy="2963862"/>
          </a:xfrm>
          <a:custGeom>
            <a:avLst/>
            <a:gdLst>
              <a:gd name="T0" fmla="*/ 138 w 2543"/>
              <a:gd name="T1" fmla="*/ 151 h 1867"/>
              <a:gd name="T2" fmla="*/ 332 w 2543"/>
              <a:gd name="T3" fmla="*/ 120 h 1867"/>
              <a:gd name="T4" fmla="*/ 658 w 2543"/>
              <a:gd name="T5" fmla="*/ 114 h 1867"/>
              <a:gd name="T6" fmla="*/ 1165 w 2543"/>
              <a:gd name="T7" fmla="*/ 189 h 1867"/>
              <a:gd name="T8" fmla="*/ 1203 w 2543"/>
              <a:gd name="T9" fmla="*/ 339 h 1867"/>
              <a:gd name="T10" fmla="*/ 1278 w 2543"/>
              <a:gd name="T11" fmla="*/ 445 h 1867"/>
              <a:gd name="T12" fmla="*/ 1347 w 2543"/>
              <a:gd name="T13" fmla="*/ 552 h 1867"/>
              <a:gd name="T14" fmla="*/ 1403 w 2543"/>
              <a:gd name="T15" fmla="*/ 608 h 1867"/>
              <a:gd name="T16" fmla="*/ 1434 w 2543"/>
              <a:gd name="T17" fmla="*/ 671 h 1867"/>
              <a:gd name="T18" fmla="*/ 1584 w 2543"/>
              <a:gd name="T19" fmla="*/ 777 h 1867"/>
              <a:gd name="T20" fmla="*/ 2198 w 2543"/>
              <a:gd name="T21" fmla="*/ 802 h 1867"/>
              <a:gd name="T22" fmla="*/ 2311 w 2543"/>
              <a:gd name="T23" fmla="*/ 821 h 1867"/>
              <a:gd name="T24" fmla="*/ 2511 w 2543"/>
              <a:gd name="T25" fmla="*/ 871 h 1867"/>
              <a:gd name="T26" fmla="*/ 2542 w 2543"/>
              <a:gd name="T27" fmla="*/ 946 h 1867"/>
              <a:gd name="T28" fmla="*/ 2536 w 2543"/>
              <a:gd name="T29" fmla="*/ 1122 h 1867"/>
              <a:gd name="T30" fmla="*/ 2511 w 2543"/>
              <a:gd name="T31" fmla="*/ 1184 h 1867"/>
              <a:gd name="T32" fmla="*/ 2442 w 2543"/>
              <a:gd name="T33" fmla="*/ 1378 h 1867"/>
              <a:gd name="T34" fmla="*/ 2386 w 2543"/>
              <a:gd name="T35" fmla="*/ 1491 h 1867"/>
              <a:gd name="T36" fmla="*/ 2179 w 2543"/>
              <a:gd name="T37" fmla="*/ 1704 h 1867"/>
              <a:gd name="T38" fmla="*/ 2123 w 2543"/>
              <a:gd name="T39" fmla="*/ 1741 h 1867"/>
              <a:gd name="T40" fmla="*/ 1754 w 2543"/>
              <a:gd name="T41" fmla="*/ 1867 h 1867"/>
              <a:gd name="T42" fmla="*/ 1428 w 2543"/>
              <a:gd name="T43" fmla="*/ 1842 h 1867"/>
              <a:gd name="T44" fmla="*/ 1347 w 2543"/>
              <a:gd name="T45" fmla="*/ 1823 h 1867"/>
              <a:gd name="T46" fmla="*/ 1278 w 2543"/>
              <a:gd name="T47" fmla="*/ 1798 h 1867"/>
              <a:gd name="T48" fmla="*/ 1178 w 2543"/>
              <a:gd name="T49" fmla="*/ 1754 h 1867"/>
              <a:gd name="T50" fmla="*/ 1115 w 2543"/>
              <a:gd name="T51" fmla="*/ 1723 h 1867"/>
              <a:gd name="T52" fmla="*/ 1096 w 2543"/>
              <a:gd name="T53" fmla="*/ 1710 h 1867"/>
              <a:gd name="T54" fmla="*/ 1071 w 2543"/>
              <a:gd name="T55" fmla="*/ 1704 h 1867"/>
              <a:gd name="T56" fmla="*/ 1052 w 2543"/>
              <a:gd name="T57" fmla="*/ 1685 h 1867"/>
              <a:gd name="T58" fmla="*/ 940 w 2543"/>
              <a:gd name="T59" fmla="*/ 1635 h 1867"/>
              <a:gd name="T60" fmla="*/ 858 w 2543"/>
              <a:gd name="T61" fmla="*/ 1579 h 1867"/>
              <a:gd name="T62" fmla="*/ 771 w 2543"/>
              <a:gd name="T63" fmla="*/ 1522 h 1867"/>
              <a:gd name="T64" fmla="*/ 683 w 2543"/>
              <a:gd name="T65" fmla="*/ 1460 h 1867"/>
              <a:gd name="T66" fmla="*/ 539 w 2543"/>
              <a:gd name="T67" fmla="*/ 1366 h 1867"/>
              <a:gd name="T68" fmla="*/ 501 w 2543"/>
              <a:gd name="T69" fmla="*/ 1341 h 1867"/>
              <a:gd name="T70" fmla="*/ 420 w 2543"/>
              <a:gd name="T71" fmla="*/ 1284 h 1867"/>
              <a:gd name="T72" fmla="*/ 263 w 2543"/>
              <a:gd name="T73" fmla="*/ 1134 h 1867"/>
              <a:gd name="T74" fmla="*/ 213 w 2543"/>
              <a:gd name="T75" fmla="*/ 1053 h 1867"/>
              <a:gd name="T76" fmla="*/ 188 w 2543"/>
              <a:gd name="T77" fmla="*/ 1015 h 1867"/>
              <a:gd name="T78" fmla="*/ 119 w 2543"/>
              <a:gd name="T79" fmla="*/ 865 h 1867"/>
              <a:gd name="T80" fmla="*/ 94 w 2543"/>
              <a:gd name="T81" fmla="*/ 821 h 1867"/>
              <a:gd name="T82" fmla="*/ 38 w 2543"/>
              <a:gd name="T83" fmla="*/ 614 h 1867"/>
              <a:gd name="T84" fmla="*/ 19 w 2543"/>
              <a:gd name="T85" fmla="*/ 533 h 1867"/>
              <a:gd name="T86" fmla="*/ 7 w 2543"/>
              <a:gd name="T87" fmla="*/ 470 h 1867"/>
              <a:gd name="T88" fmla="*/ 0 w 2543"/>
              <a:gd name="T89" fmla="*/ 308 h 1867"/>
              <a:gd name="T90" fmla="*/ 138 w 2543"/>
              <a:gd name="T91" fmla="*/ 151 h 18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543" h="1867">
                <a:moveTo>
                  <a:pt x="138" y="151"/>
                </a:moveTo>
                <a:cubicBezTo>
                  <a:pt x="200" y="140"/>
                  <a:pt x="270" y="122"/>
                  <a:pt x="332" y="120"/>
                </a:cubicBezTo>
                <a:cubicBezTo>
                  <a:pt x="441" y="116"/>
                  <a:pt x="549" y="116"/>
                  <a:pt x="658" y="114"/>
                </a:cubicBezTo>
                <a:cubicBezTo>
                  <a:pt x="1020" y="119"/>
                  <a:pt x="1067" y="0"/>
                  <a:pt x="1165" y="189"/>
                </a:cubicBezTo>
                <a:cubicBezTo>
                  <a:pt x="1176" y="236"/>
                  <a:pt x="1182" y="296"/>
                  <a:pt x="1203" y="339"/>
                </a:cubicBezTo>
                <a:cubicBezTo>
                  <a:pt x="1222" y="377"/>
                  <a:pt x="1260" y="407"/>
                  <a:pt x="1278" y="445"/>
                </a:cubicBezTo>
                <a:cubicBezTo>
                  <a:pt x="1297" y="484"/>
                  <a:pt x="1321" y="518"/>
                  <a:pt x="1347" y="552"/>
                </a:cubicBezTo>
                <a:cubicBezTo>
                  <a:pt x="1357" y="565"/>
                  <a:pt x="1400" y="603"/>
                  <a:pt x="1403" y="608"/>
                </a:cubicBezTo>
                <a:cubicBezTo>
                  <a:pt x="1415" y="627"/>
                  <a:pt x="1420" y="654"/>
                  <a:pt x="1434" y="671"/>
                </a:cubicBezTo>
                <a:cubicBezTo>
                  <a:pt x="1470" y="715"/>
                  <a:pt x="1527" y="762"/>
                  <a:pt x="1584" y="777"/>
                </a:cubicBezTo>
                <a:cubicBezTo>
                  <a:pt x="1770" y="827"/>
                  <a:pt x="2070" y="800"/>
                  <a:pt x="2198" y="802"/>
                </a:cubicBezTo>
                <a:cubicBezTo>
                  <a:pt x="2236" y="807"/>
                  <a:pt x="2273" y="816"/>
                  <a:pt x="2311" y="821"/>
                </a:cubicBezTo>
                <a:cubicBezTo>
                  <a:pt x="2380" y="830"/>
                  <a:pt x="2451" y="833"/>
                  <a:pt x="2511" y="871"/>
                </a:cubicBezTo>
                <a:cubicBezTo>
                  <a:pt x="2543" y="919"/>
                  <a:pt x="2534" y="894"/>
                  <a:pt x="2542" y="946"/>
                </a:cubicBezTo>
                <a:cubicBezTo>
                  <a:pt x="2540" y="1005"/>
                  <a:pt x="2540" y="1063"/>
                  <a:pt x="2536" y="1122"/>
                </a:cubicBezTo>
                <a:cubicBezTo>
                  <a:pt x="2535" y="1144"/>
                  <a:pt x="2516" y="1162"/>
                  <a:pt x="2511" y="1184"/>
                </a:cubicBezTo>
                <a:cubicBezTo>
                  <a:pt x="2496" y="1253"/>
                  <a:pt x="2484" y="1320"/>
                  <a:pt x="2442" y="1378"/>
                </a:cubicBezTo>
                <a:cubicBezTo>
                  <a:pt x="2428" y="1422"/>
                  <a:pt x="2420" y="1457"/>
                  <a:pt x="2386" y="1491"/>
                </a:cubicBezTo>
                <a:cubicBezTo>
                  <a:pt x="2364" y="1583"/>
                  <a:pt x="2251" y="1651"/>
                  <a:pt x="2179" y="1704"/>
                </a:cubicBezTo>
                <a:cubicBezTo>
                  <a:pt x="2157" y="1720"/>
                  <a:pt x="2150" y="1733"/>
                  <a:pt x="2123" y="1741"/>
                </a:cubicBezTo>
                <a:cubicBezTo>
                  <a:pt x="2032" y="1832"/>
                  <a:pt x="1872" y="1834"/>
                  <a:pt x="1754" y="1867"/>
                </a:cubicBezTo>
                <a:cubicBezTo>
                  <a:pt x="1644" y="1862"/>
                  <a:pt x="1537" y="1857"/>
                  <a:pt x="1428" y="1842"/>
                </a:cubicBezTo>
                <a:cubicBezTo>
                  <a:pt x="1401" y="1834"/>
                  <a:pt x="1374" y="1830"/>
                  <a:pt x="1347" y="1823"/>
                </a:cubicBezTo>
                <a:cubicBezTo>
                  <a:pt x="1323" y="1816"/>
                  <a:pt x="1303" y="1804"/>
                  <a:pt x="1278" y="1798"/>
                </a:cubicBezTo>
                <a:cubicBezTo>
                  <a:pt x="1249" y="1778"/>
                  <a:pt x="1211" y="1765"/>
                  <a:pt x="1178" y="1754"/>
                </a:cubicBezTo>
                <a:cubicBezTo>
                  <a:pt x="1155" y="1746"/>
                  <a:pt x="1138" y="1730"/>
                  <a:pt x="1115" y="1723"/>
                </a:cubicBezTo>
                <a:cubicBezTo>
                  <a:pt x="1109" y="1719"/>
                  <a:pt x="1103" y="1713"/>
                  <a:pt x="1096" y="1710"/>
                </a:cubicBezTo>
                <a:cubicBezTo>
                  <a:pt x="1088" y="1707"/>
                  <a:pt x="1078" y="1708"/>
                  <a:pt x="1071" y="1704"/>
                </a:cubicBezTo>
                <a:cubicBezTo>
                  <a:pt x="1063" y="1700"/>
                  <a:pt x="1059" y="1690"/>
                  <a:pt x="1052" y="1685"/>
                </a:cubicBezTo>
                <a:cubicBezTo>
                  <a:pt x="1029" y="1669"/>
                  <a:pt x="968" y="1647"/>
                  <a:pt x="940" y="1635"/>
                </a:cubicBezTo>
                <a:cubicBezTo>
                  <a:pt x="915" y="1610"/>
                  <a:pt x="887" y="1597"/>
                  <a:pt x="858" y="1579"/>
                </a:cubicBezTo>
                <a:cubicBezTo>
                  <a:pt x="827" y="1559"/>
                  <a:pt x="803" y="1539"/>
                  <a:pt x="771" y="1522"/>
                </a:cubicBezTo>
                <a:cubicBezTo>
                  <a:pt x="750" y="1493"/>
                  <a:pt x="711" y="1483"/>
                  <a:pt x="683" y="1460"/>
                </a:cubicBezTo>
                <a:cubicBezTo>
                  <a:pt x="639" y="1424"/>
                  <a:pt x="591" y="1391"/>
                  <a:pt x="539" y="1366"/>
                </a:cubicBezTo>
                <a:cubicBezTo>
                  <a:pt x="474" y="1301"/>
                  <a:pt x="559" y="1380"/>
                  <a:pt x="501" y="1341"/>
                </a:cubicBezTo>
                <a:cubicBezTo>
                  <a:pt x="474" y="1322"/>
                  <a:pt x="452" y="1296"/>
                  <a:pt x="420" y="1284"/>
                </a:cubicBezTo>
                <a:cubicBezTo>
                  <a:pt x="377" y="1225"/>
                  <a:pt x="305" y="1194"/>
                  <a:pt x="263" y="1134"/>
                </a:cubicBezTo>
                <a:cubicBezTo>
                  <a:pt x="245" y="1108"/>
                  <a:pt x="230" y="1079"/>
                  <a:pt x="213" y="1053"/>
                </a:cubicBezTo>
                <a:cubicBezTo>
                  <a:pt x="205" y="1040"/>
                  <a:pt x="188" y="1015"/>
                  <a:pt x="188" y="1015"/>
                </a:cubicBezTo>
                <a:cubicBezTo>
                  <a:pt x="172" y="964"/>
                  <a:pt x="149" y="909"/>
                  <a:pt x="119" y="865"/>
                </a:cubicBezTo>
                <a:cubicBezTo>
                  <a:pt x="103" y="797"/>
                  <a:pt x="128" y="882"/>
                  <a:pt x="94" y="821"/>
                </a:cubicBezTo>
                <a:cubicBezTo>
                  <a:pt x="61" y="762"/>
                  <a:pt x="53" y="678"/>
                  <a:pt x="38" y="614"/>
                </a:cubicBezTo>
                <a:cubicBezTo>
                  <a:pt x="32" y="587"/>
                  <a:pt x="24" y="560"/>
                  <a:pt x="19" y="533"/>
                </a:cubicBezTo>
                <a:cubicBezTo>
                  <a:pt x="15" y="512"/>
                  <a:pt x="7" y="470"/>
                  <a:pt x="7" y="470"/>
                </a:cubicBezTo>
                <a:cubicBezTo>
                  <a:pt x="5" y="416"/>
                  <a:pt x="4" y="362"/>
                  <a:pt x="0" y="308"/>
                </a:cubicBezTo>
                <a:cubicBezTo>
                  <a:pt x="22" y="255"/>
                  <a:pt x="83" y="182"/>
                  <a:pt x="138" y="151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606211" name="Rectangle 3">
            <a:extLst>
              <a:ext uri="{FF2B5EF4-FFF2-40B4-BE49-F238E27FC236}">
                <a16:creationId xmlns:a16="http://schemas.microsoft.com/office/drawing/2014/main" id="{137E4425-5449-4189-8E01-0C2001AC4A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214" y="52349"/>
            <a:ext cx="10515600" cy="1325563"/>
          </a:xfrm>
        </p:spPr>
        <p:txBody>
          <a:bodyPr/>
          <a:lstStyle/>
          <a:p>
            <a:r>
              <a:rPr lang="en-US" altLang="en-US" dirty="0"/>
              <a:t>Prim's Algorithm:  Proof of Correctness</a:t>
            </a:r>
          </a:p>
        </p:txBody>
      </p:sp>
      <p:sp>
        <p:nvSpPr>
          <p:cNvPr id="606212" name="Rectangle 4">
            <a:extLst>
              <a:ext uri="{FF2B5EF4-FFF2-40B4-BE49-F238E27FC236}">
                <a16:creationId xmlns:a16="http://schemas.microsoft.com/office/drawing/2014/main" id="{207FE4CD-EBF3-4941-B6E9-421CFCD45B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9238" y="1398587"/>
            <a:ext cx="10515600" cy="2365375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Prim's algorithm.  </a:t>
            </a:r>
            <a:r>
              <a:rPr lang="en-US" altLang="en-US" dirty="0">
                <a:solidFill>
                  <a:schemeClr val="hlink"/>
                </a:solidFill>
              </a:rPr>
              <a:t>[</a:t>
            </a:r>
            <a:r>
              <a:rPr lang="en-US" altLang="en-US" dirty="0" err="1">
                <a:solidFill>
                  <a:schemeClr val="hlink"/>
                </a:solidFill>
              </a:rPr>
              <a:t>Jarník</a:t>
            </a:r>
            <a:r>
              <a:rPr lang="en-US" altLang="en-US" dirty="0">
                <a:solidFill>
                  <a:schemeClr val="hlink"/>
                </a:solidFill>
              </a:rPr>
              <a:t> 1930, Dijkstra 1957, Prim 1959]</a:t>
            </a:r>
          </a:p>
          <a:p>
            <a:pPr lvl="1"/>
            <a:r>
              <a:rPr lang="en-US" altLang="en-US" dirty="0"/>
              <a:t>Initialize S = any node.</a:t>
            </a:r>
          </a:p>
          <a:p>
            <a:pPr lvl="1"/>
            <a:r>
              <a:rPr lang="en-US" altLang="en-US" dirty="0"/>
              <a:t>Apply cut property to S.</a:t>
            </a:r>
          </a:p>
          <a:p>
            <a:pPr lvl="1"/>
            <a:r>
              <a:rPr lang="en-US" altLang="en-US" dirty="0"/>
              <a:t>Add min cost edge in cut-set corresponding to S </a:t>
            </a:r>
          </a:p>
          <a:p>
            <a:pPr marL="457200" lvl="1" indent="0">
              <a:buNone/>
            </a:pPr>
            <a:r>
              <a:rPr lang="en-US" altLang="en-US" dirty="0"/>
              <a:t>   to T, and add one new </a:t>
            </a:r>
          </a:p>
          <a:p>
            <a:pPr marL="457200" lvl="1" indent="0">
              <a:buNone/>
            </a:pPr>
            <a:r>
              <a:rPr lang="en-US" altLang="en-US" dirty="0"/>
              <a:t>   explored node u to S.</a:t>
            </a:r>
          </a:p>
          <a:p>
            <a:pPr lvl="1"/>
            <a:endParaRPr lang="en-US" altLang="en-US" dirty="0"/>
          </a:p>
        </p:txBody>
      </p:sp>
      <p:sp>
        <p:nvSpPr>
          <p:cNvPr id="606213" name="Oval 5">
            <a:extLst>
              <a:ext uri="{FF2B5EF4-FFF2-40B4-BE49-F238E27FC236}">
                <a16:creationId xmlns:a16="http://schemas.microsoft.com/office/drawing/2014/main" id="{F2A63B8A-6493-4D9A-B3D2-AB8D8B32B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1631" y="3476625"/>
            <a:ext cx="201612" cy="201612"/>
          </a:xfrm>
          <a:prstGeom prst="ellipse">
            <a:avLst/>
          </a:prstGeom>
          <a:solidFill>
            <a:schemeClr val="tx2"/>
          </a:solidFill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200"/>
          </a:p>
        </p:txBody>
      </p:sp>
      <p:sp>
        <p:nvSpPr>
          <p:cNvPr id="606214" name="Oval 6">
            <a:extLst>
              <a:ext uri="{FF2B5EF4-FFF2-40B4-BE49-F238E27FC236}">
                <a16:creationId xmlns:a16="http://schemas.microsoft.com/office/drawing/2014/main" id="{0D434431-25B1-42E2-B365-1E4594D08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1818" y="3071812"/>
            <a:ext cx="203200" cy="203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200"/>
          </a:p>
        </p:txBody>
      </p:sp>
      <p:sp>
        <p:nvSpPr>
          <p:cNvPr id="606215" name="Oval 7">
            <a:extLst>
              <a:ext uri="{FF2B5EF4-FFF2-40B4-BE49-F238E27FC236}">
                <a16:creationId xmlns:a16="http://schemas.microsoft.com/office/drawing/2014/main" id="{96197BFF-6017-4597-AE10-7BC70B69DB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1006" y="5799137"/>
            <a:ext cx="203200" cy="203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200"/>
          </a:p>
        </p:txBody>
      </p:sp>
      <p:sp>
        <p:nvSpPr>
          <p:cNvPr id="606216" name="Oval 8">
            <a:extLst>
              <a:ext uri="{FF2B5EF4-FFF2-40B4-BE49-F238E27FC236}">
                <a16:creationId xmlns:a16="http://schemas.microsoft.com/office/drawing/2014/main" id="{90B190A7-0260-47CB-B339-E5664DFE4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0468" y="3122613"/>
            <a:ext cx="203200" cy="201613"/>
          </a:xfrm>
          <a:prstGeom prst="ellipse">
            <a:avLst/>
          </a:prstGeom>
          <a:solidFill>
            <a:schemeClr val="tx2"/>
          </a:solidFill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200"/>
          </a:p>
        </p:txBody>
      </p:sp>
      <p:sp>
        <p:nvSpPr>
          <p:cNvPr id="606217" name="Oval 9">
            <a:extLst>
              <a:ext uri="{FF2B5EF4-FFF2-40B4-BE49-F238E27FC236}">
                <a16:creationId xmlns:a16="http://schemas.microsoft.com/office/drawing/2014/main" id="{3D293C03-533A-49E1-A6EF-C4A817DC8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7256" y="4284663"/>
            <a:ext cx="203200" cy="201613"/>
          </a:xfrm>
          <a:prstGeom prst="ellipse">
            <a:avLst/>
          </a:prstGeom>
          <a:solidFill>
            <a:schemeClr val="tx2"/>
          </a:solidFill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200"/>
          </a:p>
        </p:txBody>
      </p:sp>
      <p:sp>
        <p:nvSpPr>
          <p:cNvPr id="606218" name="Oval 10">
            <a:extLst>
              <a:ext uri="{FF2B5EF4-FFF2-40B4-BE49-F238E27FC236}">
                <a16:creationId xmlns:a16="http://schemas.microsoft.com/office/drawing/2014/main" id="{2FD796DB-7884-4252-AD7B-D5FCD2E65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9218" y="6153150"/>
            <a:ext cx="203200" cy="203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200"/>
          </a:p>
        </p:txBody>
      </p:sp>
      <p:sp>
        <p:nvSpPr>
          <p:cNvPr id="606219" name="Oval 11">
            <a:extLst>
              <a:ext uri="{FF2B5EF4-FFF2-40B4-BE49-F238E27FC236}">
                <a16:creationId xmlns:a16="http://schemas.microsoft.com/office/drawing/2014/main" id="{E48A655D-B405-4609-9293-2F0323DD9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6969" y="4437063"/>
            <a:ext cx="200025" cy="2000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200"/>
          </a:p>
        </p:txBody>
      </p:sp>
      <p:sp>
        <p:nvSpPr>
          <p:cNvPr id="606220" name="Oval 12">
            <a:extLst>
              <a:ext uri="{FF2B5EF4-FFF2-40B4-BE49-F238E27FC236}">
                <a16:creationId xmlns:a16="http://schemas.microsoft.com/office/drawing/2014/main" id="{032838B5-54D4-4082-9294-300B390E7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8518" y="5294312"/>
            <a:ext cx="203200" cy="203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200"/>
          </a:p>
        </p:txBody>
      </p:sp>
      <p:cxnSp>
        <p:nvCxnSpPr>
          <p:cNvPr id="606221" name="AutoShape 13">
            <a:extLst>
              <a:ext uri="{FF2B5EF4-FFF2-40B4-BE49-F238E27FC236}">
                <a16:creationId xmlns:a16="http://schemas.microsoft.com/office/drawing/2014/main" id="{E2E39891-EA60-4323-BCCE-E1BB4BE14611}"/>
              </a:ext>
            </a:extLst>
          </p:cNvPr>
          <p:cNvCxnSpPr>
            <a:cxnSpLocks noChangeShapeType="1"/>
            <a:stCxn id="606213" idx="6"/>
            <a:endCxn id="606216" idx="3"/>
          </p:cNvCxnSpPr>
          <p:nvPr/>
        </p:nvCxnSpPr>
        <p:spPr bwMode="auto">
          <a:xfrm flipV="1">
            <a:off x="4243243" y="3295651"/>
            <a:ext cx="687388" cy="282575"/>
          </a:xfrm>
          <a:prstGeom prst="straightConnector1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06222" name="AutoShape 14">
            <a:extLst>
              <a:ext uri="{FF2B5EF4-FFF2-40B4-BE49-F238E27FC236}">
                <a16:creationId xmlns:a16="http://schemas.microsoft.com/office/drawing/2014/main" id="{58441788-92B5-4595-A350-0EAA5E86F4FA}"/>
              </a:ext>
            </a:extLst>
          </p:cNvPr>
          <p:cNvCxnSpPr>
            <a:cxnSpLocks noChangeShapeType="1"/>
            <a:stCxn id="606213" idx="5"/>
            <a:endCxn id="606217" idx="0"/>
          </p:cNvCxnSpPr>
          <p:nvPr/>
        </p:nvCxnSpPr>
        <p:spPr bwMode="auto">
          <a:xfrm>
            <a:off x="4214668" y="3649662"/>
            <a:ext cx="484188" cy="635000"/>
          </a:xfrm>
          <a:prstGeom prst="straightConnector1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06223" name="AutoShape 15">
            <a:extLst>
              <a:ext uri="{FF2B5EF4-FFF2-40B4-BE49-F238E27FC236}">
                <a16:creationId xmlns:a16="http://schemas.microsoft.com/office/drawing/2014/main" id="{0E402572-5B90-402E-A2B8-D60A4761C951}"/>
              </a:ext>
            </a:extLst>
          </p:cNvPr>
          <p:cNvCxnSpPr>
            <a:cxnSpLocks noChangeShapeType="1"/>
            <a:stCxn id="606213" idx="4"/>
            <a:endCxn id="606218" idx="0"/>
          </p:cNvCxnSpPr>
          <p:nvPr/>
        </p:nvCxnSpPr>
        <p:spPr bwMode="auto">
          <a:xfrm flipH="1">
            <a:off x="3890819" y="3678238"/>
            <a:ext cx="252413" cy="2474913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06224" name="AutoShape 16">
            <a:extLst>
              <a:ext uri="{FF2B5EF4-FFF2-40B4-BE49-F238E27FC236}">
                <a16:creationId xmlns:a16="http://schemas.microsoft.com/office/drawing/2014/main" id="{BFE3BAF4-462F-4EF0-84AB-A56C7C9DED07}"/>
              </a:ext>
            </a:extLst>
          </p:cNvPr>
          <p:cNvCxnSpPr>
            <a:cxnSpLocks noChangeShapeType="1"/>
            <a:stCxn id="606217" idx="7"/>
            <a:endCxn id="606214" idx="2"/>
          </p:cNvCxnSpPr>
          <p:nvPr/>
        </p:nvCxnSpPr>
        <p:spPr bwMode="auto">
          <a:xfrm flipV="1">
            <a:off x="4770294" y="3173413"/>
            <a:ext cx="3311525" cy="1139825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06225" name="AutoShape 17">
            <a:extLst>
              <a:ext uri="{FF2B5EF4-FFF2-40B4-BE49-F238E27FC236}">
                <a16:creationId xmlns:a16="http://schemas.microsoft.com/office/drawing/2014/main" id="{9B3A9366-C94D-4BD5-9CC5-2864B60787A3}"/>
              </a:ext>
            </a:extLst>
          </p:cNvPr>
          <p:cNvCxnSpPr>
            <a:cxnSpLocks noChangeShapeType="1"/>
            <a:stCxn id="606219" idx="0"/>
            <a:endCxn id="606214" idx="4"/>
          </p:cNvCxnSpPr>
          <p:nvPr/>
        </p:nvCxnSpPr>
        <p:spPr bwMode="auto">
          <a:xfrm flipV="1">
            <a:off x="7476982" y="3275012"/>
            <a:ext cx="708025" cy="1162050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06226" name="AutoShape 18">
            <a:extLst>
              <a:ext uri="{FF2B5EF4-FFF2-40B4-BE49-F238E27FC236}">
                <a16:creationId xmlns:a16="http://schemas.microsoft.com/office/drawing/2014/main" id="{E3CA8FAB-0E63-422B-9EDB-6DAE051C11F1}"/>
              </a:ext>
            </a:extLst>
          </p:cNvPr>
          <p:cNvCxnSpPr>
            <a:cxnSpLocks noChangeShapeType="1"/>
            <a:stCxn id="606217" idx="5"/>
            <a:endCxn id="606220" idx="1"/>
          </p:cNvCxnSpPr>
          <p:nvPr/>
        </p:nvCxnSpPr>
        <p:spPr bwMode="auto">
          <a:xfrm>
            <a:off x="4770293" y="4457701"/>
            <a:ext cx="1068388" cy="866775"/>
          </a:xfrm>
          <a:prstGeom prst="straightConnector1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06227" name="AutoShape 19">
            <a:extLst>
              <a:ext uri="{FF2B5EF4-FFF2-40B4-BE49-F238E27FC236}">
                <a16:creationId xmlns:a16="http://schemas.microsoft.com/office/drawing/2014/main" id="{83448D38-76D8-452F-A07C-8AE4B468C541}"/>
              </a:ext>
            </a:extLst>
          </p:cNvPr>
          <p:cNvCxnSpPr>
            <a:cxnSpLocks noChangeShapeType="1"/>
            <a:stCxn id="606220" idx="5"/>
            <a:endCxn id="606215" idx="2"/>
          </p:cNvCxnSpPr>
          <p:nvPr/>
        </p:nvCxnSpPr>
        <p:spPr bwMode="auto">
          <a:xfrm>
            <a:off x="5983144" y="5468937"/>
            <a:ext cx="1947863" cy="433388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06228" name="AutoShape 20">
            <a:extLst>
              <a:ext uri="{FF2B5EF4-FFF2-40B4-BE49-F238E27FC236}">
                <a16:creationId xmlns:a16="http://schemas.microsoft.com/office/drawing/2014/main" id="{C05EBC59-81DB-490F-A58C-166197C7FAB5}"/>
              </a:ext>
            </a:extLst>
          </p:cNvPr>
          <p:cNvCxnSpPr>
            <a:cxnSpLocks noChangeShapeType="1"/>
            <a:stCxn id="606220" idx="7"/>
            <a:endCxn id="606219" idx="3"/>
          </p:cNvCxnSpPr>
          <p:nvPr/>
        </p:nvCxnSpPr>
        <p:spPr bwMode="auto">
          <a:xfrm flipV="1">
            <a:off x="5983143" y="4608513"/>
            <a:ext cx="1422400" cy="715963"/>
          </a:xfrm>
          <a:prstGeom prst="straightConnector1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06229" name="AutoShape 21">
            <a:extLst>
              <a:ext uri="{FF2B5EF4-FFF2-40B4-BE49-F238E27FC236}">
                <a16:creationId xmlns:a16="http://schemas.microsoft.com/office/drawing/2014/main" id="{EBFC565D-2463-4F69-8432-4B1BBE487FA4}"/>
              </a:ext>
            </a:extLst>
          </p:cNvPr>
          <p:cNvCxnSpPr>
            <a:cxnSpLocks noChangeShapeType="1"/>
            <a:stCxn id="606219" idx="4"/>
            <a:endCxn id="606215" idx="0"/>
          </p:cNvCxnSpPr>
          <p:nvPr/>
        </p:nvCxnSpPr>
        <p:spPr bwMode="auto">
          <a:xfrm>
            <a:off x="7476982" y="4637087"/>
            <a:ext cx="555625" cy="1162050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06230" name="AutoShape 22">
            <a:extLst>
              <a:ext uri="{FF2B5EF4-FFF2-40B4-BE49-F238E27FC236}">
                <a16:creationId xmlns:a16="http://schemas.microsoft.com/office/drawing/2014/main" id="{69A26525-9BDE-41F0-8C57-5746D6C4D5B0}"/>
              </a:ext>
            </a:extLst>
          </p:cNvPr>
          <p:cNvCxnSpPr>
            <a:cxnSpLocks noChangeShapeType="1"/>
            <a:stCxn id="606214" idx="3"/>
            <a:endCxn id="606220" idx="0"/>
          </p:cNvCxnSpPr>
          <p:nvPr/>
        </p:nvCxnSpPr>
        <p:spPr bwMode="auto">
          <a:xfrm flipH="1">
            <a:off x="5911707" y="3244850"/>
            <a:ext cx="2200275" cy="2049462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06231" name="AutoShape 23">
            <a:extLst>
              <a:ext uri="{FF2B5EF4-FFF2-40B4-BE49-F238E27FC236}">
                <a16:creationId xmlns:a16="http://schemas.microsoft.com/office/drawing/2014/main" id="{3B8CA80F-E85E-4C70-A6A6-E6062FE70197}"/>
              </a:ext>
            </a:extLst>
          </p:cNvPr>
          <p:cNvCxnSpPr>
            <a:cxnSpLocks noChangeShapeType="1"/>
            <a:stCxn id="606217" idx="4"/>
            <a:endCxn id="606218" idx="7"/>
          </p:cNvCxnSpPr>
          <p:nvPr/>
        </p:nvCxnSpPr>
        <p:spPr bwMode="auto">
          <a:xfrm flipH="1">
            <a:off x="3962256" y="4486276"/>
            <a:ext cx="736600" cy="1697037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06232" name="AutoShape 24">
            <a:extLst>
              <a:ext uri="{FF2B5EF4-FFF2-40B4-BE49-F238E27FC236}">
                <a16:creationId xmlns:a16="http://schemas.microsoft.com/office/drawing/2014/main" id="{48F764F6-4A83-4FF7-8BBA-5E56EA05D004}"/>
              </a:ext>
            </a:extLst>
          </p:cNvPr>
          <p:cNvCxnSpPr>
            <a:cxnSpLocks noChangeShapeType="1"/>
            <a:stCxn id="606218" idx="6"/>
            <a:endCxn id="606220" idx="2"/>
          </p:cNvCxnSpPr>
          <p:nvPr/>
        </p:nvCxnSpPr>
        <p:spPr bwMode="auto">
          <a:xfrm flipV="1">
            <a:off x="3992418" y="5397501"/>
            <a:ext cx="1816100" cy="858837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06233" name="AutoShape 25">
            <a:extLst>
              <a:ext uri="{FF2B5EF4-FFF2-40B4-BE49-F238E27FC236}">
                <a16:creationId xmlns:a16="http://schemas.microsoft.com/office/drawing/2014/main" id="{10548921-0877-47B8-BF8E-B6991C001B34}"/>
              </a:ext>
            </a:extLst>
          </p:cNvPr>
          <p:cNvCxnSpPr>
            <a:cxnSpLocks noChangeShapeType="1"/>
            <a:stCxn id="606216" idx="6"/>
            <a:endCxn id="606214" idx="1"/>
          </p:cNvCxnSpPr>
          <p:nvPr/>
        </p:nvCxnSpPr>
        <p:spPr bwMode="auto">
          <a:xfrm flipV="1">
            <a:off x="5103669" y="3100388"/>
            <a:ext cx="3008313" cy="123825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06234" name="AutoShape 26">
            <a:extLst>
              <a:ext uri="{FF2B5EF4-FFF2-40B4-BE49-F238E27FC236}">
                <a16:creationId xmlns:a16="http://schemas.microsoft.com/office/drawing/2014/main" id="{C368754A-4923-4245-9AC1-F2F60E10A225}"/>
              </a:ext>
            </a:extLst>
          </p:cNvPr>
          <p:cNvCxnSpPr>
            <a:cxnSpLocks noChangeShapeType="1"/>
            <a:stCxn id="606218" idx="5"/>
            <a:endCxn id="606215" idx="3"/>
          </p:cNvCxnSpPr>
          <p:nvPr/>
        </p:nvCxnSpPr>
        <p:spPr bwMode="auto">
          <a:xfrm flipV="1">
            <a:off x="3962256" y="5973763"/>
            <a:ext cx="3998912" cy="354013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06235" name="AutoShape 27">
            <a:extLst>
              <a:ext uri="{FF2B5EF4-FFF2-40B4-BE49-F238E27FC236}">
                <a16:creationId xmlns:a16="http://schemas.microsoft.com/office/drawing/2014/main" id="{1865C94D-F125-40EC-8893-E7296FF7CAF1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8016731" y="3743325"/>
            <a:ext cx="201612" cy="334962"/>
          </a:xfrm>
          <a:prstGeom prst="upArrow">
            <a:avLst>
              <a:gd name="adj1" fmla="val 50000"/>
              <a:gd name="adj2" fmla="val 41535"/>
            </a:avLst>
          </a:prstGeom>
          <a:solidFill>
            <a:srgbClr val="003399"/>
          </a:solidFill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endParaRPr lang="en-US"/>
          </a:p>
        </p:txBody>
      </p:sp>
      <p:sp>
        <p:nvSpPr>
          <p:cNvPr id="606238" name="Text Box 30">
            <a:extLst>
              <a:ext uri="{FF2B5EF4-FFF2-40B4-BE49-F238E27FC236}">
                <a16:creationId xmlns:a16="http://schemas.microsoft.com/office/drawing/2014/main" id="{313BD4FD-A55B-44E4-A729-6744C9A4B5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219" y="3617912"/>
            <a:ext cx="291747" cy="369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258" name="Rectangle 2">
            <a:extLst>
              <a:ext uri="{FF2B5EF4-FFF2-40B4-BE49-F238E27FC236}">
                <a16:creationId xmlns:a16="http://schemas.microsoft.com/office/drawing/2014/main" id="{4CCC4BB1-0FB3-4BD9-99A3-880D37854C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18255"/>
            <a:ext cx="10515600" cy="1325563"/>
          </a:xfrm>
        </p:spPr>
        <p:txBody>
          <a:bodyPr/>
          <a:lstStyle/>
          <a:p>
            <a:r>
              <a:rPr lang="en-US" altLang="en-US" dirty="0"/>
              <a:t>Prim's Algorithm: Implementation</a:t>
            </a:r>
          </a:p>
        </p:txBody>
      </p:sp>
      <p:sp>
        <p:nvSpPr>
          <p:cNvPr id="608266" name="Text Box 10">
            <a:extLst>
              <a:ext uri="{FF2B5EF4-FFF2-40B4-BE49-F238E27FC236}">
                <a16:creationId xmlns:a16="http://schemas.microsoft.com/office/drawing/2014/main" id="{7027031A-41F9-4991-A9D0-C0B900F5E9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527" y="1433945"/>
            <a:ext cx="7557654" cy="41388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square" lIns="182880" tIns="91440" rIns="137160" bIns="9144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Prim(G, c) {</a:t>
            </a:r>
          </a:p>
          <a:p>
            <a:pPr>
              <a:lnSpc>
                <a:spcPct val="110000"/>
              </a:lnSpc>
            </a:pPr>
            <a:r>
              <a:rPr lang="en-US" altLang="en-US" b="1" dirty="0">
                <a:solidFill>
                  <a:srgbClr val="003399"/>
                </a:solidFill>
                <a:latin typeface="Courier New" panose="02070309020205020404" pitchFamily="49" charset="0"/>
              </a:rPr>
              <a:t>   foreach</a:t>
            </a:r>
            <a:r>
              <a:rPr lang="en-US" altLang="en-US" b="1" dirty="0">
                <a:latin typeface="Courier New" panose="02070309020205020404" pitchFamily="49" charset="0"/>
              </a:rPr>
              <a:t> (v 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 </a:t>
            </a:r>
            <a:r>
              <a:rPr lang="en-US" altLang="en-US" b="1" dirty="0">
                <a:latin typeface="Courier New" panose="02070309020205020404" pitchFamily="49" charset="0"/>
              </a:rPr>
              <a:t>V) a[v] 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</a:t>
            </a:r>
            <a:r>
              <a:rPr lang="en-US" altLang="en-US" b="1" dirty="0">
                <a:latin typeface="Courier New" panose="02070309020205020404" pitchFamily="49" charset="0"/>
              </a:rPr>
              <a:t> 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  <a:p>
            <a:pPr>
              <a:lnSpc>
                <a:spcPct val="110000"/>
              </a:lnSpc>
            </a:pP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   Initialize an empty priority queue Q</a:t>
            </a:r>
          </a:p>
          <a:p>
            <a:pPr>
              <a:lnSpc>
                <a:spcPct val="110000"/>
              </a:lnSpc>
            </a:pPr>
            <a:r>
              <a:rPr lang="en-US" altLang="en-US" b="1" dirty="0">
                <a:solidFill>
                  <a:srgbClr val="003399"/>
                </a:solidFill>
                <a:latin typeface="Courier New" panose="02070309020205020404" pitchFamily="49" charset="0"/>
              </a:rPr>
              <a:t>   foreach</a:t>
            </a:r>
            <a:r>
              <a:rPr lang="en-US" altLang="en-US" b="1" dirty="0">
                <a:latin typeface="Courier New" panose="02070309020205020404" pitchFamily="49" charset="0"/>
              </a:rPr>
              <a:t> (v 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 </a:t>
            </a:r>
            <a:r>
              <a:rPr lang="en-US" altLang="en-US" b="1" dirty="0">
                <a:latin typeface="Courier New" panose="02070309020205020404" pitchFamily="49" charset="0"/>
              </a:rPr>
              <a:t>V) insert v onto Q</a:t>
            </a:r>
          </a:p>
          <a:p>
            <a:pPr>
              <a:lnSpc>
                <a:spcPct val="110000"/>
              </a:lnSpc>
            </a:pP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   Initialize set of explored nodes S </a:t>
            </a:r>
            <a:r>
              <a:rPr lang="en-US" altLang="en-US" b="1" dirty="0">
                <a:latin typeface="Courier New" panose="02070309020205020404" pitchFamily="49" charset="0"/>
              </a:rPr>
              <a:t> 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</a:t>
            </a:r>
            <a:endParaRPr lang="en-US" altLang="en-US" b="1" dirty="0">
              <a:solidFill>
                <a:srgbClr val="003399"/>
              </a:solidFill>
              <a:latin typeface="Courier New" panose="02070309020205020404" pitchFamily="49" charset="0"/>
            </a:endParaRPr>
          </a:p>
          <a:p>
            <a:pPr>
              <a:lnSpc>
                <a:spcPct val="110000"/>
              </a:lnSpc>
            </a:pPr>
            <a:endParaRPr lang="en-US" altLang="en-US" b="1" dirty="0">
              <a:latin typeface="Courier New" panose="020703090202050204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en-US" b="1" dirty="0">
                <a:solidFill>
                  <a:srgbClr val="003399"/>
                </a:solidFill>
                <a:latin typeface="Courier New" panose="02070309020205020404" pitchFamily="49" charset="0"/>
              </a:rPr>
              <a:t>   while</a:t>
            </a:r>
            <a:r>
              <a:rPr lang="en-US" altLang="en-US" b="1" dirty="0">
                <a:latin typeface="Courier New" panose="02070309020205020404" pitchFamily="49" charset="0"/>
              </a:rPr>
              <a:t> (Q is not empty) {</a:t>
            </a:r>
          </a:p>
          <a:p>
            <a:pPr>
              <a:lnSpc>
                <a:spcPct val="110000"/>
              </a:lnSpc>
            </a:pPr>
            <a:r>
              <a:rPr lang="en-US" altLang="en-US" b="1" dirty="0">
                <a:latin typeface="Courier New" panose="02070309020205020404" pitchFamily="49" charset="0"/>
              </a:rPr>
              <a:t>      u 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</a:t>
            </a:r>
            <a:r>
              <a:rPr lang="en-US" altLang="en-US" b="1" dirty="0">
                <a:latin typeface="Courier New" panose="02070309020205020404" pitchFamily="49" charset="0"/>
              </a:rPr>
              <a:t> delete min element from Q</a:t>
            </a:r>
          </a:p>
          <a:p>
            <a:pPr>
              <a:lnSpc>
                <a:spcPct val="110000"/>
              </a:lnSpc>
            </a:pP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      S </a:t>
            </a:r>
            <a:r>
              <a:rPr lang="en-US" altLang="en-US" b="1" dirty="0">
                <a:latin typeface="Courier New" panose="02070309020205020404" pitchFamily="49" charset="0"/>
              </a:rPr>
              <a:t> S 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 {</a:t>
            </a:r>
            <a:r>
              <a:rPr lang="en-US" altLang="en-US" b="1" baseline="-25000" dirty="0">
                <a:latin typeface="Courier New" panose="02070309020205020404" pitchFamily="49" charset="0"/>
                <a:sym typeface="Symbol" panose="05050102010706020507" pitchFamily="18" charset="2"/>
              </a:rPr>
              <a:t> 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u</a:t>
            </a:r>
            <a:r>
              <a:rPr lang="en-US" altLang="en-US" b="1" baseline="-25000" dirty="0">
                <a:latin typeface="Courier New" panose="02070309020205020404" pitchFamily="49" charset="0"/>
                <a:sym typeface="Symbol" panose="05050102010706020507" pitchFamily="18" charset="2"/>
              </a:rPr>
              <a:t> 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}</a:t>
            </a:r>
            <a:endParaRPr lang="en-US" altLang="en-US" b="1" dirty="0">
              <a:latin typeface="Courier New" panose="020703090202050204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en-US" b="1" dirty="0">
                <a:latin typeface="Courier New" panose="02070309020205020404" pitchFamily="49" charset="0"/>
              </a:rPr>
              <a:t>      </a:t>
            </a:r>
            <a:r>
              <a:rPr lang="en-US" altLang="en-US" b="1" dirty="0">
                <a:solidFill>
                  <a:srgbClr val="003399"/>
                </a:solidFill>
                <a:latin typeface="Courier New" panose="02070309020205020404" pitchFamily="49" charset="0"/>
              </a:rPr>
              <a:t>foreach</a:t>
            </a:r>
            <a:r>
              <a:rPr lang="en-US" altLang="en-US" b="1" dirty="0">
                <a:latin typeface="Courier New" panose="02070309020205020404" pitchFamily="49" charset="0"/>
              </a:rPr>
              <a:t> (edge e = (u, v) incident to u)</a:t>
            </a:r>
          </a:p>
          <a:p>
            <a:pPr>
              <a:lnSpc>
                <a:spcPct val="110000"/>
              </a:lnSpc>
            </a:pPr>
            <a:r>
              <a:rPr lang="en-US" altLang="en-US" b="1" dirty="0">
                <a:latin typeface="Courier New" panose="02070309020205020404" pitchFamily="49" charset="0"/>
              </a:rPr>
              <a:t>          </a:t>
            </a:r>
            <a:r>
              <a:rPr lang="en-US" altLang="en-US" b="1" dirty="0">
                <a:solidFill>
                  <a:srgbClr val="003399"/>
                </a:solidFill>
                <a:latin typeface="Courier New" panose="02070309020205020404" pitchFamily="49" charset="0"/>
              </a:rPr>
              <a:t>if</a:t>
            </a:r>
            <a:r>
              <a:rPr lang="en-US" altLang="en-US" b="1" dirty="0">
                <a:latin typeface="Courier New" panose="02070309020205020404" pitchFamily="49" charset="0"/>
              </a:rPr>
              <a:t> ((v 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 S)</a:t>
            </a:r>
            <a:r>
              <a:rPr lang="en-US" altLang="en-US" b="1" dirty="0">
                <a:latin typeface="Courier New" panose="02070309020205020404" pitchFamily="49" charset="0"/>
              </a:rPr>
              <a:t> and (</a:t>
            </a:r>
            <a:r>
              <a:rPr lang="en-US" altLang="en-US" b="1" dirty="0" err="1">
                <a:latin typeface="Courier New" panose="02070309020205020404" pitchFamily="49" charset="0"/>
              </a:rPr>
              <a:t>c</a:t>
            </a:r>
            <a:r>
              <a:rPr lang="en-US" altLang="en-US" b="1" baseline="-25000" dirty="0" err="1">
                <a:latin typeface="Courier New" panose="02070309020205020404" pitchFamily="49" charset="0"/>
              </a:rPr>
              <a:t>e</a:t>
            </a:r>
            <a:r>
              <a:rPr lang="en-US" altLang="en-US" b="1" dirty="0">
                <a:latin typeface="Courier New" panose="02070309020205020404" pitchFamily="49" charset="0"/>
              </a:rPr>
              <a:t> &lt; a[v]))</a:t>
            </a:r>
          </a:p>
          <a:p>
            <a:pPr>
              <a:lnSpc>
                <a:spcPct val="110000"/>
              </a:lnSpc>
            </a:pPr>
            <a:r>
              <a:rPr lang="en-US" altLang="en-US" b="1" dirty="0">
                <a:latin typeface="Courier New" panose="02070309020205020404" pitchFamily="49" charset="0"/>
              </a:rPr>
              <a:t>             decrease priority a[v] to </a:t>
            </a:r>
            <a:r>
              <a:rPr lang="en-US" altLang="en-US" b="1" dirty="0" err="1">
                <a:latin typeface="Courier New" panose="02070309020205020404" pitchFamily="49" charset="0"/>
              </a:rPr>
              <a:t>c</a:t>
            </a:r>
            <a:r>
              <a:rPr lang="en-US" altLang="en-US" b="1" baseline="-25000" dirty="0" err="1">
                <a:latin typeface="Courier New" panose="02070309020205020404" pitchFamily="49" charset="0"/>
              </a:rPr>
              <a:t>e</a:t>
            </a:r>
            <a:endParaRPr lang="en-US" altLang="en-US" b="1" dirty="0">
              <a:latin typeface="Courier New" panose="020703090202050204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en-US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DF6F120-C6EB-410B-BC99-49B18A6DC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0544" y="1433945"/>
            <a:ext cx="2660073" cy="4138825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1 x </a:t>
            </a:r>
            <a:r>
              <a:rPr lang="en-US" dirty="0" err="1"/>
              <a:t>buildheap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 x </a:t>
            </a:r>
            <a:r>
              <a:rPr lang="en-US" dirty="0" err="1"/>
              <a:t>deletemin</a:t>
            </a:r>
            <a:endParaRPr lang="en-US" dirty="0"/>
          </a:p>
          <a:p>
            <a:endParaRPr lang="en-US" dirty="0"/>
          </a:p>
          <a:p>
            <a:r>
              <a:rPr lang="en-US" dirty="0"/>
              <a:t>m x </a:t>
            </a:r>
            <a:r>
              <a:rPr lang="en-US" dirty="0" err="1"/>
              <a:t>changekey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258" name="Rectangle 2">
            <a:extLst>
              <a:ext uri="{FF2B5EF4-FFF2-40B4-BE49-F238E27FC236}">
                <a16:creationId xmlns:a16="http://schemas.microsoft.com/office/drawing/2014/main" id="{4CCC4BB1-0FB3-4BD9-99A3-880D37854C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199" y="18255"/>
            <a:ext cx="11291455" cy="1325563"/>
          </a:xfrm>
        </p:spPr>
        <p:txBody>
          <a:bodyPr/>
          <a:lstStyle/>
          <a:p>
            <a:r>
              <a:rPr lang="en-US" altLang="en-US" dirty="0"/>
              <a:t>Prim's Algorithm: Complexity</a:t>
            </a:r>
          </a:p>
        </p:txBody>
      </p:sp>
      <p:sp>
        <p:nvSpPr>
          <p:cNvPr id="608267" name="Rectangle 11">
            <a:extLst>
              <a:ext uri="{FF2B5EF4-FFF2-40B4-BE49-F238E27FC236}">
                <a16:creationId xmlns:a16="http://schemas.microsoft.com/office/drawing/2014/main" id="{8BB6B550-0C9E-4615-AA53-2131677A14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70164" y="1738672"/>
            <a:ext cx="8063345" cy="4351338"/>
          </a:xfrm>
        </p:spPr>
        <p:txBody>
          <a:bodyPr/>
          <a:lstStyle/>
          <a:p>
            <a:r>
              <a:rPr lang="en-US" altLang="en-US" dirty="0"/>
              <a:t>Implementation.  </a:t>
            </a:r>
            <a:r>
              <a:rPr lang="en-US" altLang="en-US" dirty="0">
                <a:solidFill>
                  <a:schemeClr val="tx1"/>
                </a:solidFill>
              </a:rPr>
              <a:t>Use a priority queue a la Dijkstra.</a:t>
            </a:r>
          </a:p>
          <a:p>
            <a:pPr lvl="1"/>
            <a:r>
              <a:rPr lang="en-US" altLang="en-US" dirty="0"/>
              <a:t>Maintain set of explored nodes S.</a:t>
            </a:r>
          </a:p>
          <a:p>
            <a:pPr lvl="1"/>
            <a:r>
              <a:rPr lang="en-US" altLang="en-US" dirty="0"/>
              <a:t>For each unexplored node v, maintain attachment cost a[v] = cost of cheapest edge v to a node in S.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O(m log n) with a binary heap.</a:t>
            </a:r>
          </a:p>
          <a:p>
            <a:pPr lvl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19845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8267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411" name="Rectangle 59">
            <a:extLst>
              <a:ext uri="{FF2B5EF4-FFF2-40B4-BE49-F238E27FC236}">
                <a16:creationId xmlns:a16="http://schemas.microsoft.com/office/drawing/2014/main" id="{75B81713-7D36-4856-BBF5-CE45378E78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4454" y="3429000"/>
            <a:ext cx="3505200" cy="28194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endParaRPr lang="en-US"/>
          </a:p>
        </p:txBody>
      </p:sp>
      <p:sp>
        <p:nvSpPr>
          <p:cNvPr id="612410" name="Rectangle 58">
            <a:extLst>
              <a:ext uri="{FF2B5EF4-FFF2-40B4-BE49-F238E27FC236}">
                <a16:creationId xmlns:a16="http://schemas.microsoft.com/office/drawing/2014/main" id="{1F75DACE-0C83-4823-9D6B-7716FA473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454" y="3429000"/>
            <a:ext cx="3505200" cy="28194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endParaRPr lang="en-US"/>
          </a:p>
        </p:txBody>
      </p:sp>
      <p:sp>
        <p:nvSpPr>
          <p:cNvPr id="612354" name="Rectangle 2">
            <a:extLst>
              <a:ext uri="{FF2B5EF4-FFF2-40B4-BE49-F238E27FC236}">
                <a16:creationId xmlns:a16="http://schemas.microsoft.com/office/drawing/2014/main" id="{32B436AB-B22F-4FFD-8C91-683900BFF3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" y="0"/>
            <a:ext cx="10515600" cy="1325563"/>
          </a:xfrm>
        </p:spPr>
        <p:txBody>
          <a:bodyPr/>
          <a:lstStyle/>
          <a:p>
            <a:r>
              <a:rPr lang="en-US" altLang="en-US" dirty="0"/>
              <a:t>Kruskal's Algorithm:  Proof of Correctness</a:t>
            </a:r>
          </a:p>
        </p:txBody>
      </p:sp>
      <p:sp>
        <p:nvSpPr>
          <p:cNvPr id="612355" name="Rectangle 3">
            <a:extLst>
              <a:ext uri="{FF2B5EF4-FFF2-40B4-BE49-F238E27FC236}">
                <a16:creationId xmlns:a16="http://schemas.microsoft.com/office/drawing/2014/main" id="{6D0AA8F6-2E0C-41E6-AA6C-59525FA87D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5582" y="1376363"/>
            <a:ext cx="10515600" cy="4351338"/>
          </a:xfrm>
        </p:spPr>
        <p:txBody>
          <a:bodyPr/>
          <a:lstStyle/>
          <a:p>
            <a:pPr marL="342900" indent="-342900"/>
            <a:r>
              <a:rPr lang="en-US" altLang="en-US" dirty="0"/>
              <a:t>Kruskal's algorithm.  </a:t>
            </a:r>
            <a:r>
              <a:rPr lang="en-US" altLang="en-US" dirty="0">
                <a:solidFill>
                  <a:schemeClr val="hlink"/>
                </a:solidFill>
              </a:rPr>
              <a:t>[Kruskal, 1956]</a:t>
            </a:r>
            <a:endParaRPr lang="en-US" altLang="en-US" dirty="0"/>
          </a:p>
          <a:p>
            <a:pPr marL="457200" lvl="1" indent="-342900"/>
            <a:r>
              <a:rPr lang="en-US" altLang="en-US" dirty="0"/>
              <a:t>Consider edges in ascending order of weight.</a:t>
            </a:r>
          </a:p>
          <a:p>
            <a:pPr marL="457200" lvl="1" indent="-342900"/>
            <a:r>
              <a:rPr lang="en-US" altLang="en-US" dirty="0"/>
              <a:t>Case 1:  If adding e to T creates a cycle, discard e according </a:t>
            </a:r>
            <a:r>
              <a:rPr lang="en-US" altLang="en-US"/>
              <a:t>to cycle </a:t>
            </a:r>
            <a:r>
              <a:rPr lang="en-US" altLang="en-US" dirty="0"/>
              <a:t>property</a:t>
            </a:r>
          </a:p>
          <a:p>
            <a:pPr marL="457200" lvl="1" indent="-342900"/>
            <a:r>
              <a:rPr lang="en-US" altLang="en-US" dirty="0"/>
              <a:t>Case 2:  Otherwise, insert e = (u, v) into T according to cut property where S = set of nodes in u's connected component. </a:t>
            </a:r>
          </a:p>
        </p:txBody>
      </p:sp>
      <p:sp>
        <p:nvSpPr>
          <p:cNvPr id="612357" name="Oval 5">
            <a:extLst>
              <a:ext uri="{FF2B5EF4-FFF2-40B4-BE49-F238E27FC236}">
                <a16:creationId xmlns:a16="http://schemas.microsoft.com/office/drawing/2014/main" id="{F7F94451-50EC-4911-AB03-7AF11FF9E00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17154" y="3998914"/>
            <a:ext cx="179388" cy="179387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200"/>
          </a:p>
        </p:txBody>
      </p:sp>
      <p:sp>
        <p:nvSpPr>
          <p:cNvPr id="612358" name="Oval 6">
            <a:extLst>
              <a:ext uri="{FF2B5EF4-FFF2-40B4-BE49-F238E27FC236}">
                <a16:creationId xmlns:a16="http://schemas.microsoft.com/office/drawing/2014/main" id="{5F3B248C-CA1E-4165-894E-E7DCCDAC10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77804" y="3733800"/>
            <a:ext cx="179388" cy="17938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200"/>
          </a:p>
        </p:txBody>
      </p:sp>
      <p:sp>
        <p:nvSpPr>
          <p:cNvPr id="612359" name="Oval 7">
            <a:extLst>
              <a:ext uri="{FF2B5EF4-FFF2-40B4-BE49-F238E27FC236}">
                <a16:creationId xmlns:a16="http://schemas.microsoft.com/office/drawing/2014/main" id="{1658C6AA-0020-4B58-A388-0DDE5B064B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77792" y="5529264"/>
            <a:ext cx="177800" cy="179387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200"/>
          </a:p>
        </p:txBody>
      </p:sp>
      <p:sp>
        <p:nvSpPr>
          <p:cNvPr id="612360" name="Oval 8">
            <a:extLst>
              <a:ext uri="{FF2B5EF4-FFF2-40B4-BE49-F238E27FC236}">
                <a16:creationId xmlns:a16="http://schemas.microsoft.com/office/drawing/2014/main" id="{34921BAA-7D4C-4732-BBFC-ACCA848708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83892" y="3767138"/>
            <a:ext cx="177800" cy="177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200"/>
          </a:p>
        </p:txBody>
      </p:sp>
      <p:sp>
        <p:nvSpPr>
          <p:cNvPr id="612361" name="Oval 9">
            <a:extLst>
              <a:ext uri="{FF2B5EF4-FFF2-40B4-BE49-F238E27FC236}">
                <a16:creationId xmlns:a16="http://schemas.microsoft.com/office/drawing/2014/main" id="{B3B03129-FC76-4267-9600-39491E8964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83868" y="4530726"/>
            <a:ext cx="179387" cy="180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200"/>
          </a:p>
        </p:txBody>
      </p:sp>
      <p:sp>
        <p:nvSpPr>
          <p:cNvPr id="612362" name="Oval 10">
            <a:extLst>
              <a:ext uri="{FF2B5EF4-FFF2-40B4-BE49-F238E27FC236}">
                <a16:creationId xmlns:a16="http://schemas.microsoft.com/office/drawing/2014/main" id="{EDC5C4C0-D1BF-4F78-81F2-EFFFF3197C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52054" y="5761039"/>
            <a:ext cx="179388" cy="179387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200"/>
          </a:p>
        </p:txBody>
      </p:sp>
      <p:sp>
        <p:nvSpPr>
          <p:cNvPr id="612363" name="Oval 11">
            <a:extLst>
              <a:ext uri="{FF2B5EF4-FFF2-40B4-BE49-F238E27FC236}">
                <a16:creationId xmlns:a16="http://schemas.microsoft.com/office/drawing/2014/main" id="{6BBB6AF1-544F-47B1-BCA6-015512DFAD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12668" y="4630739"/>
            <a:ext cx="179387" cy="180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200"/>
          </a:p>
        </p:txBody>
      </p:sp>
      <p:sp>
        <p:nvSpPr>
          <p:cNvPr id="612364" name="Oval 12">
            <a:extLst>
              <a:ext uri="{FF2B5EF4-FFF2-40B4-BE49-F238E27FC236}">
                <a16:creationId xmlns:a16="http://schemas.microsoft.com/office/drawing/2014/main" id="{97F03CD9-FB01-4B2D-B1BA-7788762B56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387168" y="5202239"/>
            <a:ext cx="179387" cy="179387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200"/>
          </a:p>
        </p:txBody>
      </p:sp>
      <p:cxnSp>
        <p:nvCxnSpPr>
          <p:cNvPr id="612365" name="AutoShape 13">
            <a:extLst>
              <a:ext uri="{FF2B5EF4-FFF2-40B4-BE49-F238E27FC236}">
                <a16:creationId xmlns:a16="http://schemas.microsoft.com/office/drawing/2014/main" id="{C93F0C7D-0E86-4AF9-A76B-396D76C0A891}"/>
              </a:ext>
            </a:extLst>
          </p:cNvPr>
          <p:cNvCxnSpPr>
            <a:cxnSpLocks noChangeShapeType="1"/>
            <a:stCxn id="612357" idx="6"/>
            <a:endCxn id="612360" idx="3"/>
          </p:cNvCxnSpPr>
          <p:nvPr/>
        </p:nvCxnSpPr>
        <p:spPr bwMode="auto">
          <a:xfrm flipV="1">
            <a:off x="1204479" y="3925888"/>
            <a:ext cx="406400" cy="163512"/>
          </a:xfrm>
          <a:prstGeom prst="straightConnector1">
            <a:avLst/>
          </a:prstGeom>
          <a:noFill/>
          <a:ln w="254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2366" name="AutoShape 14">
            <a:extLst>
              <a:ext uri="{FF2B5EF4-FFF2-40B4-BE49-F238E27FC236}">
                <a16:creationId xmlns:a16="http://schemas.microsoft.com/office/drawing/2014/main" id="{93ECBED9-FE74-43E7-B7D8-7BCA70DE9772}"/>
              </a:ext>
            </a:extLst>
          </p:cNvPr>
          <p:cNvCxnSpPr>
            <a:cxnSpLocks noChangeShapeType="1"/>
            <a:stCxn id="612357" idx="5"/>
            <a:endCxn id="612361" idx="0"/>
          </p:cNvCxnSpPr>
          <p:nvPr/>
        </p:nvCxnSpPr>
        <p:spPr bwMode="auto">
          <a:xfrm>
            <a:off x="1171142" y="4159251"/>
            <a:ext cx="303212" cy="365125"/>
          </a:xfrm>
          <a:prstGeom prst="straightConnector1">
            <a:avLst/>
          </a:prstGeom>
          <a:noFill/>
          <a:ln w="254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2367" name="AutoShape 15">
            <a:extLst>
              <a:ext uri="{FF2B5EF4-FFF2-40B4-BE49-F238E27FC236}">
                <a16:creationId xmlns:a16="http://schemas.microsoft.com/office/drawing/2014/main" id="{E0FFD5FE-D3D5-4139-80C9-86BD20A19625}"/>
              </a:ext>
            </a:extLst>
          </p:cNvPr>
          <p:cNvCxnSpPr>
            <a:cxnSpLocks noChangeShapeType="1"/>
            <a:stCxn id="612357" idx="4"/>
            <a:endCxn id="612362" idx="0"/>
          </p:cNvCxnSpPr>
          <p:nvPr/>
        </p:nvCxnSpPr>
        <p:spPr bwMode="auto">
          <a:xfrm flipH="1">
            <a:off x="942542" y="4186238"/>
            <a:ext cx="165100" cy="1568450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2368" name="AutoShape 16">
            <a:extLst>
              <a:ext uri="{FF2B5EF4-FFF2-40B4-BE49-F238E27FC236}">
                <a16:creationId xmlns:a16="http://schemas.microsoft.com/office/drawing/2014/main" id="{41D5E054-2AC6-454B-A5A1-5C2C3AE89775}"/>
              </a:ext>
            </a:extLst>
          </p:cNvPr>
          <p:cNvCxnSpPr>
            <a:cxnSpLocks noChangeShapeType="1"/>
            <a:stCxn id="612361" idx="7"/>
            <a:endCxn id="612358" idx="2"/>
          </p:cNvCxnSpPr>
          <p:nvPr/>
        </p:nvCxnSpPr>
        <p:spPr bwMode="auto">
          <a:xfrm flipV="1">
            <a:off x="1536267" y="3824289"/>
            <a:ext cx="2133600" cy="727075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12414" name="Freeform 62">
            <a:extLst>
              <a:ext uri="{FF2B5EF4-FFF2-40B4-BE49-F238E27FC236}">
                <a16:creationId xmlns:a16="http://schemas.microsoft.com/office/drawing/2014/main" id="{35C6068B-C297-4E68-9B2B-9281206A74BB}"/>
              </a:ext>
            </a:extLst>
          </p:cNvPr>
          <p:cNvSpPr>
            <a:spLocks/>
          </p:cNvSpPr>
          <p:nvPr/>
        </p:nvSpPr>
        <p:spPr bwMode="auto">
          <a:xfrm>
            <a:off x="6181293" y="3584576"/>
            <a:ext cx="2001837" cy="2422525"/>
          </a:xfrm>
          <a:custGeom>
            <a:avLst/>
            <a:gdLst>
              <a:gd name="T0" fmla="*/ 82 w 1261"/>
              <a:gd name="T1" fmla="*/ 830 h 1526"/>
              <a:gd name="T2" fmla="*/ 145 w 1261"/>
              <a:gd name="T3" fmla="*/ 660 h 1526"/>
              <a:gd name="T4" fmla="*/ 257 w 1261"/>
              <a:gd name="T5" fmla="*/ 525 h 1526"/>
              <a:gd name="T6" fmla="*/ 349 w 1261"/>
              <a:gd name="T7" fmla="*/ 413 h 1526"/>
              <a:gd name="T8" fmla="*/ 441 w 1261"/>
              <a:gd name="T9" fmla="*/ 287 h 1526"/>
              <a:gd name="T10" fmla="*/ 509 w 1261"/>
              <a:gd name="T11" fmla="*/ 205 h 1526"/>
              <a:gd name="T12" fmla="*/ 601 w 1261"/>
              <a:gd name="T13" fmla="*/ 127 h 1526"/>
              <a:gd name="T14" fmla="*/ 683 w 1261"/>
              <a:gd name="T15" fmla="*/ 74 h 1526"/>
              <a:gd name="T16" fmla="*/ 746 w 1261"/>
              <a:gd name="T17" fmla="*/ 45 h 1526"/>
              <a:gd name="T18" fmla="*/ 838 w 1261"/>
              <a:gd name="T19" fmla="*/ 20 h 1526"/>
              <a:gd name="T20" fmla="*/ 1120 w 1261"/>
              <a:gd name="T21" fmla="*/ 49 h 1526"/>
              <a:gd name="T22" fmla="*/ 1144 w 1261"/>
              <a:gd name="T23" fmla="*/ 74 h 1526"/>
              <a:gd name="T24" fmla="*/ 1149 w 1261"/>
              <a:gd name="T25" fmla="*/ 88 h 1526"/>
              <a:gd name="T26" fmla="*/ 1207 w 1261"/>
              <a:gd name="T27" fmla="*/ 171 h 1526"/>
              <a:gd name="T28" fmla="*/ 1221 w 1261"/>
              <a:gd name="T29" fmla="*/ 200 h 1526"/>
              <a:gd name="T30" fmla="*/ 1241 w 1261"/>
              <a:gd name="T31" fmla="*/ 238 h 1526"/>
              <a:gd name="T32" fmla="*/ 1212 w 1261"/>
              <a:gd name="T33" fmla="*/ 578 h 1526"/>
              <a:gd name="T34" fmla="*/ 1168 w 1261"/>
              <a:gd name="T35" fmla="*/ 898 h 1526"/>
              <a:gd name="T36" fmla="*/ 1086 w 1261"/>
              <a:gd name="T37" fmla="*/ 1291 h 1526"/>
              <a:gd name="T38" fmla="*/ 1061 w 1261"/>
              <a:gd name="T39" fmla="*/ 1354 h 1526"/>
              <a:gd name="T40" fmla="*/ 1013 w 1261"/>
              <a:gd name="T41" fmla="*/ 1436 h 1526"/>
              <a:gd name="T42" fmla="*/ 586 w 1261"/>
              <a:gd name="T43" fmla="*/ 1499 h 1526"/>
              <a:gd name="T44" fmla="*/ 455 w 1261"/>
              <a:gd name="T45" fmla="*/ 1465 h 1526"/>
              <a:gd name="T46" fmla="*/ 373 w 1261"/>
              <a:gd name="T47" fmla="*/ 1412 h 1526"/>
              <a:gd name="T48" fmla="*/ 140 w 1261"/>
              <a:gd name="T49" fmla="*/ 1257 h 1526"/>
              <a:gd name="T50" fmla="*/ 53 w 1261"/>
              <a:gd name="T51" fmla="*/ 1189 h 1526"/>
              <a:gd name="T52" fmla="*/ 9 w 1261"/>
              <a:gd name="T53" fmla="*/ 1121 h 1526"/>
              <a:gd name="T54" fmla="*/ 0 w 1261"/>
              <a:gd name="T55" fmla="*/ 995 h 1526"/>
              <a:gd name="T56" fmla="*/ 82 w 1261"/>
              <a:gd name="T57" fmla="*/ 830 h 15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261" h="1526">
                <a:moveTo>
                  <a:pt x="82" y="830"/>
                </a:moveTo>
                <a:cubicBezTo>
                  <a:pt x="98" y="779"/>
                  <a:pt x="111" y="702"/>
                  <a:pt x="145" y="660"/>
                </a:cubicBezTo>
                <a:cubicBezTo>
                  <a:pt x="181" y="613"/>
                  <a:pt x="219" y="569"/>
                  <a:pt x="257" y="525"/>
                </a:cubicBezTo>
                <a:cubicBezTo>
                  <a:pt x="290" y="485"/>
                  <a:pt x="306" y="444"/>
                  <a:pt x="349" y="413"/>
                </a:cubicBezTo>
                <a:cubicBezTo>
                  <a:pt x="362" y="373"/>
                  <a:pt x="412" y="323"/>
                  <a:pt x="441" y="287"/>
                </a:cubicBezTo>
                <a:cubicBezTo>
                  <a:pt x="450" y="259"/>
                  <a:pt x="484" y="219"/>
                  <a:pt x="509" y="205"/>
                </a:cubicBezTo>
                <a:cubicBezTo>
                  <a:pt x="527" y="174"/>
                  <a:pt x="570" y="147"/>
                  <a:pt x="601" y="127"/>
                </a:cubicBezTo>
                <a:cubicBezTo>
                  <a:pt x="617" y="101"/>
                  <a:pt x="653" y="82"/>
                  <a:pt x="683" y="74"/>
                </a:cubicBezTo>
                <a:cubicBezTo>
                  <a:pt x="705" y="57"/>
                  <a:pt x="718" y="49"/>
                  <a:pt x="746" y="45"/>
                </a:cubicBezTo>
                <a:cubicBezTo>
                  <a:pt x="774" y="25"/>
                  <a:pt x="803" y="23"/>
                  <a:pt x="838" y="20"/>
                </a:cubicBezTo>
                <a:cubicBezTo>
                  <a:pt x="938" y="22"/>
                  <a:pt x="1033" y="0"/>
                  <a:pt x="1120" y="49"/>
                </a:cubicBezTo>
                <a:cubicBezTo>
                  <a:pt x="1154" y="105"/>
                  <a:pt x="1101" y="22"/>
                  <a:pt x="1144" y="74"/>
                </a:cubicBezTo>
                <a:cubicBezTo>
                  <a:pt x="1147" y="77"/>
                  <a:pt x="1146" y="83"/>
                  <a:pt x="1149" y="88"/>
                </a:cubicBezTo>
                <a:cubicBezTo>
                  <a:pt x="1168" y="119"/>
                  <a:pt x="1189" y="136"/>
                  <a:pt x="1207" y="171"/>
                </a:cubicBezTo>
                <a:cubicBezTo>
                  <a:pt x="1211" y="180"/>
                  <a:pt x="1216" y="190"/>
                  <a:pt x="1221" y="200"/>
                </a:cubicBezTo>
                <a:cubicBezTo>
                  <a:pt x="1227" y="212"/>
                  <a:pt x="1241" y="238"/>
                  <a:pt x="1241" y="238"/>
                </a:cubicBezTo>
                <a:cubicBezTo>
                  <a:pt x="1247" y="359"/>
                  <a:pt x="1261" y="468"/>
                  <a:pt x="1212" y="578"/>
                </a:cubicBezTo>
                <a:cubicBezTo>
                  <a:pt x="1192" y="682"/>
                  <a:pt x="1193" y="795"/>
                  <a:pt x="1168" y="898"/>
                </a:cubicBezTo>
                <a:cubicBezTo>
                  <a:pt x="1163" y="1027"/>
                  <a:pt x="1164" y="1180"/>
                  <a:pt x="1086" y="1291"/>
                </a:cubicBezTo>
                <a:cubicBezTo>
                  <a:pt x="1078" y="1313"/>
                  <a:pt x="1074" y="1334"/>
                  <a:pt x="1061" y="1354"/>
                </a:cubicBezTo>
                <a:cubicBezTo>
                  <a:pt x="1055" y="1387"/>
                  <a:pt x="1041" y="1415"/>
                  <a:pt x="1013" y="1436"/>
                </a:cubicBezTo>
                <a:cubicBezTo>
                  <a:pt x="952" y="1526"/>
                  <a:pt x="604" y="1498"/>
                  <a:pt x="586" y="1499"/>
                </a:cubicBezTo>
                <a:cubicBezTo>
                  <a:pt x="538" y="1490"/>
                  <a:pt x="500" y="1480"/>
                  <a:pt x="455" y="1465"/>
                </a:cubicBezTo>
                <a:cubicBezTo>
                  <a:pt x="428" y="1446"/>
                  <a:pt x="398" y="1431"/>
                  <a:pt x="373" y="1412"/>
                </a:cubicBezTo>
                <a:cubicBezTo>
                  <a:pt x="298" y="1353"/>
                  <a:pt x="228" y="1296"/>
                  <a:pt x="140" y="1257"/>
                </a:cubicBezTo>
                <a:cubicBezTo>
                  <a:pt x="117" y="1232"/>
                  <a:pt x="70" y="1215"/>
                  <a:pt x="53" y="1189"/>
                </a:cubicBezTo>
                <a:cubicBezTo>
                  <a:pt x="38" y="1166"/>
                  <a:pt x="25" y="1142"/>
                  <a:pt x="9" y="1121"/>
                </a:cubicBezTo>
                <a:cubicBezTo>
                  <a:pt x="6" y="1079"/>
                  <a:pt x="5" y="1036"/>
                  <a:pt x="0" y="995"/>
                </a:cubicBezTo>
                <a:cubicBezTo>
                  <a:pt x="12" y="947"/>
                  <a:pt x="58" y="886"/>
                  <a:pt x="82" y="83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endParaRPr lang="en-US"/>
          </a:p>
        </p:txBody>
      </p:sp>
      <p:cxnSp>
        <p:nvCxnSpPr>
          <p:cNvPr id="612369" name="AutoShape 17">
            <a:extLst>
              <a:ext uri="{FF2B5EF4-FFF2-40B4-BE49-F238E27FC236}">
                <a16:creationId xmlns:a16="http://schemas.microsoft.com/office/drawing/2014/main" id="{44001968-55D8-40E8-B3E1-10BCD17A01C9}"/>
              </a:ext>
            </a:extLst>
          </p:cNvPr>
          <p:cNvCxnSpPr>
            <a:cxnSpLocks noChangeShapeType="1"/>
            <a:stCxn id="612363" idx="0"/>
            <a:endCxn id="612358" idx="4"/>
          </p:cNvCxnSpPr>
          <p:nvPr/>
        </p:nvCxnSpPr>
        <p:spPr bwMode="auto">
          <a:xfrm flipV="1">
            <a:off x="3301568" y="3919539"/>
            <a:ext cx="465137" cy="706437"/>
          </a:xfrm>
          <a:prstGeom prst="straightConnector1">
            <a:avLst/>
          </a:prstGeom>
          <a:noFill/>
          <a:ln w="254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2370" name="AutoShape 18">
            <a:extLst>
              <a:ext uri="{FF2B5EF4-FFF2-40B4-BE49-F238E27FC236}">
                <a16:creationId xmlns:a16="http://schemas.microsoft.com/office/drawing/2014/main" id="{690FA2CC-D6E6-4ACB-B0BA-74E2E2C038A0}"/>
              </a:ext>
            </a:extLst>
          </p:cNvPr>
          <p:cNvCxnSpPr>
            <a:cxnSpLocks noChangeShapeType="1"/>
            <a:stCxn id="612361" idx="5"/>
            <a:endCxn id="612364" idx="1"/>
          </p:cNvCxnSpPr>
          <p:nvPr/>
        </p:nvCxnSpPr>
        <p:spPr bwMode="auto">
          <a:xfrm>
            <a:off x="1536268" y="4692650"/>
            <a:ext cx="877887" cy="528638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2371" name="AutoShape 19">
            <a:extLst>
              <a:ext uri="{FF2B5EF4-FFF2-40B4-BE49-F238E27FC236}">
                <a16:creationId xmlns:a16="http://schemas.microsoft.com/office/drawing/2014/main" id="{A437DB2D-F113-426E-BF80-4E1D823118CE}"/>
              </a:ext>
            </a:extLst>
          </p:cNvPr>
          <p:cNvCxnSpPr>
            <a:cxnSpLocks noChangeShapeType="1"/>
            <a:stCxn id="612364" idx="5"/>
            <a:endCxn id="612359" idx="2"/>
          </p:cNvCxnSpPr>
          <p:nvPr/>
        </p:nvCxnSpPr>
        <p:spPr bwMode="auto">
          <a:xfrm>
            <a:off x="2541154" y="5362576"/>
            <a:ext cx="1030288" cy="257175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2372" name="AutoShape 20">
            <a:extLst>
              <a:ext uri="{FF2B5EF4-FFF2-40B4-BE49-F238E27FC236}">
                <a16:creationId xmlns:a16="http://schemas.microsoft.com/office/drawing/2014/main" id="{C8262206-0CE6-4CD2-9A74-FAD43D5DDDAD}"/>
              </a:ext>
            </a:extLst>
          </p:cNvPr>
          <p:cNvCxnSpPr>
            <a:cxnSpLocks noChangeShapeType="1"/>
            <a:stCxn id="612364" idx="7"/>
            <a:endCxn id="612363" idx="3"/>
          </p:cNvCxnSpPr>
          <p:nvPr/>
        </p:nvCxnSpPr>
        <p:spPr bwMode="auto">
          <a:xfrm flipV="1">
            <a:off x="2541154" y="4792664"/>
            <a:ext cx="698500" cy="428625"/>
          </a:xfrm>
          <a:prstGeom prst="straightConnector1">
            <a:avLst/>
          </a:prstGeom>
          <a:noFill/>
          <a:ln w="254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2373" name="AutoShape 21">
            <a:extLst>
              <a:ext uri="{FF2B5EF4-FFF2-40B4-BE49-F238E27FC236}">
                <a16:creationId xmlns:a16="http://schemas.microsoft.com/office/drawing/2014/main" id="{612A425E-C26A-4574-A107-58ED8E5E9849}"/>
              </a:ext>
            </a:extLst>
          </p:cNvPr>
          <p:cNvCxnSpPr>
            <a:cxnSpLocks noChangeShapeType="1"/>
            <a:stCxn id="612363" idx="4"/>
            <a:endCxn id="612359" idx="0"/>
          </p:cNvCxnSpPr>
          <p:nvPr/>
        </p:nvCxnSpPr>
        <p:spPr bwMode="auto">
          <a:xfrm>
            <a:off x="3301568" y="4816475"/>
            <a:ext cx="365125" cy="706438"/>
          </a:xfrm>
          <a:prstGeom prst="straightConnector1">
            <a:avLst/>
          </a:prstGeom>
          <a:noFill/>
          <a:ln w="254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2374" name="AutoShape 22">
            <a:extLst>
              <a:ext uri="{FF2B5EF4-FFF2-40B4-BE49-F238E27FC236}">
                <a16:creationId xmlns:a16="http://schemas.microsoft.com/office/drawing/2014/main" id="{A698985C-EA0D-462B-9936-86516E93CE8E}"/>
              </a:ext>
            </a:extLst>
          </p:cNvPr>
          <p:cNvCxnSpPr>
            <a:cxnSpLocks noChangeShapeType="1"/>
            <a:stCxn id="612358" idx="3"/>
            <a:endCxn id="612364" idx="0"/>
          </p:cNvCxnSpPr>
          <p:nvPr/>
        </p:nvCxnSpPr>
        <p:spPr bwMode="auto">
          <a:xfrm flipH="1">
            <a:off x="2477654" y="3894138"/>
            <a:ext cx="1225550" cy="1301750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2375" name="AutoShape 23">
            <a:extLst>
              <a:ext uri="{FF2B5EF4-FFF2-40B4-BE49-F238E27FC236}">
                <a16:creationId xmlns:a16="http://schemas.microsoft.com/office/drawing/2014/main" id="{527A64E3-6C47-4A6F-B4D9-8CC8F4053776}"/>
              </a:ext>
            </a:extLst>
          </p:cNvPr>
          <p:cNvCxnSpPr>
            <a:cxnSpLocks noChangeShapeType="1"/>
            <a:stCxn id="612361" idx="4"/>
            <a:endCxn id="612362" idx="7"/>
          </p:cNvCxnSpPr>
          <p:nvPr/>
        </p:nvCxnSpPr>
        <p:spPr bwMode="auto">
          <a:xfrm flipH="1">
            <a:off x="1004454" y="4716463"/>
            <a:ext cx="469900" cy="1065212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2376" name="AutoShape 24">
            <a:extLst>
              <a:ext uri="{FF2B5EF4-FFF2-40B4-BE49-F238E27FC236}">
                <a16:creationId xmlns:a16="http://schemas.microsoft.com/office/drawing/2014/main" id="{4389E829-9AD5-41D4-87F6-BCB3B3D6BDD3}"/>
              </a:ext>
            </a:extLst>
          </p:cNvPr>
          <p:cNvCxnSpPr>
            <a:cxnSpLocks noChangeShapeType="1"/>
            <a:stCxn id="612362" idx="6"/>
            <a:endCxn id="612364" idx="2"/>
          </p:cNvCxnSpPr>
          <p:nvPr/>
        </p:nvCxnSpPr>
        <p:spPr bwMode="auto">
          <a:xfrm flipV="1">
            <a:off x="1037793" y="5292725"/>
            <a:ext cx="1343025" cy="558800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2377" name="AutoShape 25">
            <a:extLst>
              <a:ext uri="{FF2B5EF4-FFF2-40B4-BE49-F238E27FC236}">
                <a16:creationId xmlns:a16="http://schemas.microsoft.com/office/drawing/2014/main" id="{305F95C3-93DD-460B-96A2-284874B40D14}"/>
              </a:ext>
            </a:extLst>
          </p:cNvPr>
          <p:cNvCxnSpPr>
            <a:cxnSpLocks noChangeShapeType="1"/>
            <a:stCxn id="612360" idx="6"/>
            <a:endCxn id="612358" idx="1"/>
          </p:cNvCxnSpPr>
          <p:nvPr/>
        </p:nvCxnSpPr>
        <p:spPr bwMode="auto">
          <a:xfrm flipV="1">
            <a:off x="1768042" y="3754439"/>
            <a:ext cx="1935162" cy="103187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2378" name="AutoShape 26">
            <a:extLst>
              <a:ext uri="{FF2B5EF4-FFF2-40B4-BE49-F238E27FC236}">
                <a16:creationId xmlns:a16="http://schemas.microsoft.com/office/drawing/2014/main" id="{3B538CD2-A5B5-4802-A0F8-925065BD1CB8}"/>
              </a:ext>
            </a:extLst>
          </p:cNvPr>
          <p:cNvCxnSpPr>
            <a:cxnSpLocks noChangeShapeType="1"/>
            <a:stCxn id="612362" idx="5"/>
            <a:endCxn id="612359" idx="3"/>
          </p:cNvCxnSpPr>
          <p:nvPr/>
        </p:nvCxnSpPr>
        <p:spPr bwMode="auto">
          <a:xfrm flipV="1">
            <a:off x="1004454" y="5688014"/>
            <a:ext cx="2598738" cy="231775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12379" name="AutoShape 27">
            <a:extLst>
              <a:ext uri="{FF2B5EF4-FFF2-40B4-BE49-F238E27FC236}">
                <a16:creationId xmlns:a16="http://schemas.microsoft.com/office/drawing/2014/main" id="{801702CA-D1FE-43FA-B05C-89537EC130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5480" y="5535613"/>
            <a:ext cx="200025" cy="334962"/>
          </a:xfrm>
          <a:prstGeom prst="upArrow">
            <a:avLst>
              <a:gd name="adj1" fmla="val 50000"/>
              <a:gd name="adj2" fmla="val 4186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endParaRPr lang="en-US"/>
          </a:p>
        </p:txBody>
      </p:sp>
      <p:sp>
        <p:nvSpPr>
          <p:cNvPr id="612380" name="Rectangle 28">
            <a:extLst>
              <a:ext uri="{FF2B5EF4-FFF2-40B4-BE49-F238E27FC236}">
                <a16:creationId xmlns:a16="http://schemas.microsoft.com/office/drawing/2014/main" id="{699CEF9F-1B99-4944-85AD-859DA11694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067" y="6324601"/>
            <a:ext cx="16684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Case 1</a:t>
            </a:r>
          </a:p>
        </p:txBody>
      </p:sp>
      <p:sp>
        <p:nvSpPr>
          <p:cNvPr id="612382" name="AutoShape 30">
            <a:extLst>
              <a:ext uri="{FF2B5EF4-FFF2-40B4-BE49-F238E27FC236}">
                <a16:creationId xmlns:a16="http://schemas.microsoft.com/office/drawing/2014/main" id="{31C756E5-08E5-4AC5-94AA-7079D0EB4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3630" y="5002214"/>
            <a:ext cx="200025" cy="333375"/>
          </a:xfrm>
          <a:prstGeom prst="upArrow">
            <a:avLst>
              <a:gd name="adj1" fmla="val 50000"/>
              <a:gd name="adj2" fmla="val 41667"/>
            </a:avLst>
          </a:prstGeom>
          <a:solidFill>
            <a:srgbClr val="0033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endParaRPr lang="en-US"/>
          </a:p>
        </p:txBody>
      </p:sp>
      <p:sp>
        <p:nvSpPr>
          <p:cNvPr id="612384" name="Oval 32">
            <a:extLst>
              <a:ext uri="{FF2B5EF4-FFF2-40B4-BE49-F238E27FC236}">
                <a16:creationId xmlns:a16="http://schemas.microsoft.com/office/drawing/2014/main" id="{9B32FA04-4584-4B89-AEA7-B4993CDBD21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24004" y="3998914"/>
            <a:ext cx="179388" cy="179387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200"/>
          </a:p>
        </p:txBody>
      </p:sp>
      <p:sp>
        <p:nvSpPr>
          <p:cNvPr id="612385" name="Oval 33">
            <a:extLst>
              <a:ext uri="{FF2B5EF4-FFF2-40B4-BE49-F238E27FC236}">
                <a16:creationId xmlns:a16="http://schemas.microsoft.com/office/drawing/2014/main" id="{13FAFE69-618C-4C6F-93AA-F6D3FC6E38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83068" y="3733800"/>
            <a:ext cx="179387" cy="17938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200"/>
          </a:p>
        </p:txBody>
      </p:sp>
      <p:sp>
        <p:nvSpPr>
          <p:cNvPr id="612386" name="Oval 34">
            <a:extLst>
              <a:ext uri="{FF2B5EF4-FFF2-40B4-BE49-F238E27FC236}">
                <a16:creationId xmlns:a16="http://schemas.microsoft.com/office/drawing/2014/main" id="{64B2104D-6F99-4C49-A10C-490AE41FDE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84642" y="5529264"/>
            <a:ext cx="177800" cy="179387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200"/>
          </a:p>
        </p:txBody>
      </p:sp>
      <p:sp>
        <p:nvSpPr>
          <p:cNvPr id="612387" name="Oval 35">
            <a:extLst>
              <a:ext uri="{FF2B5EF4-FFF2-40B4-BE49-F238E27FC236}">
                <a16:creationId xmlns:a16="http://schemas.microsoft.com/office/drawing/2014/main" id="{C7D4B4D7-C063-499D-8BAB-B8ADC1E9D21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89154" y="3767138"/>
            <a:ext cx="177800" cy="177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200"/>
          </a:p>
        </p:txBody>
      </p:sp>
      <p:sp>
        <p:nvSpPr>
          <p:cNvPr id="612388" name="Oval 36">
            <a:extLst>
              <a:ext uri="{FF2B5EF4-FFF2-40B4-BE49-F238E27FC236}">
                <a16:creationId xmlns:a16="http://schemas.microsoft.com/office/drawing/2014/main" id="{B03F9523-AA46-4927-BF59-4FED906706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89129" y="4530726"/>
            <a:ext cx="179388" cy="180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/>
              <a:t>v</a:t>
            </a:r>
          </a:p>
        </p:txBody>
      </p:sp>
      <p:sp>
        <p:nvSpPr>
          <p:cNvPr id="612389" name="Oval 37">
            <a:extLst>
              <a:ext uri="{FF2B5EF4-FFF2-40B4-BE49-F238E27FC236}">
                <a16:creationId xmlns:a16="http://schemas.microsoft.com/office/drawing/2014/main" id="{84FEF43D-176B-4215-9285-027C06CD52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57318" y="5761039"/>
            <a:ext cx="179387" cy="179387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200"/>
          </a:p>
        </p:txBody>
      </p:sp>
      <p:sp>
        <p:nvSpPr>
          <p:cNvPr id="612390" name="Oval 38">
            <a:extLst>
              <a:ext uri="{FF2B5EF4-FFF2-40B4-BE49-F238E27FC236}">
                <a16:creationId xmlns:a16="http://schemas.microsoft.com/office/drawing/2014/main" id="{CE349594-4F1F-4D1A-AE32-19E64A6C26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17929" y="4630739"/>
            <a:ext cx="179388" cy="180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200"/>
          </a:p>
        </p:txBody>
      </p:sp>
      <p:sp>
        <p:nvSpPr>
          <p:cNvPr id="612391" name="Oval 39">
            <a:extLst>
              <a:ext uri="{FF2B5EF4-FFF2-40B4-BE49-F238E27FC236}">
                <a16:creationId xmlns:a16="http://schemas.microsoft.com/office/drawing/2014/main" id="{149943A2-995D-4138-8945-D8122A6922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94018" y="5202239"/>
            <a:ext cx="179387" cy="179387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/>
              <a:t>u</a:t>
            </a:r>
          </a:p>
        </p:txBody>
      </p:sp>
      <p:cxnSp>
        <p:nvCxnSpPr>
          <p:cNvPr id="612392" name="AutoShape 40">
            <a:extLst>
              <a:ext uri="{FF2B5EF4-FFF2-40B4-BE49-F238E27FC236}">
                <a16:creationId xmlns:a16="http://schemas.microsoft.com/office/drawing/2014/main" id="{A2A88ACD-D5E1-41C5-94A9-1A6E1AE37D2D}"/>
              </a:ext>
            </a:extLst>
          </p:cNvPr>
          <p:cNvCxnSpPr>
            <a:cxnSpLocks noChangeShapeType="1"/>
            <a:stCxn id="612384" idx="6"/>
            <a:endCxn id="612387" idx="3"/>
          </p:cNvCxnSpPr>
          <p:nvPr/>
        </p:nvCxnSpPr>
        <p:spPr bwMode="auto">
          <a:xfrm flipV="1">
            <a:off x="5209742" y="3925888"/>
            <a:ext cx="406400" cy="163512"/>
          </a:xfrm>
          <a:prstGeom prst="straightConnector1">
            <a:avLst/>
          </a:prstGeom>
          <a:noFill/>
          <a:ln w="254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2393" name="AutoShape 41">
            <a:extLst>
              <a:ext uri="{FF2B5EF4-FFF2-40B4-BE49-F238E27FC236}">
                <a16:creationId xmlns:a16="http://schemas.microsoft.com/office/drawing/2014/main" id="{FEA866BE-262E-4EDE-852F-6BA71B979D51}"/>
              </a:ext>
            </a:extLst>
          </p:cNvPr>
          <p:cNvCxnSpPr>
            <a:cxnSpLocks noChangeShapeType="1"/>
            <a:stCxn id="612384" idx="5"/>
            <a:endCxn id="612388" idx="0"/>
          </p:cNvCxnSpPr>
          <p:nvPr/>
        </p:nvCxnSpPr>
        <p:spPr bwMode="auto">
          <a:xfrm>
            <a:off x="5176405" y="4159251"/>
            <a:ext cx="303213" cy="365125"/>
          </a:xfrm>
          <a:prstGeom prst="straightConnector1">
            <a:avLst/>
          </a:prstGeom>
          <a:noFill/>
          <a:ln w="254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2394" name="AutoShape 42">
            <a:extLst>
              <a:ext uri="{FF2B5EF4-FFF2-40B4-BE49-F238E27FC236}">
                <a16:creationId xmlns:a16="http://schemas.microsoft.com/office/drawing/2014/main" id="{41F7C9B4-8C6E-4F14-86A1-BFFD8690AE1D}"/>
              </a:ext>
            </a:extLst>
          </p:cNvPr>
          <p:cNvCxnSpPr>
            <a:cxnSpLocks noChangeShapeType="1"/>
            <a:stCxn id="612384" idx="4"/>
            <a:endCxn id="612389" idx="0"/>
          </p:cNvCxnSpPr>
          <p:nvPr/>
        </p:nvCxnSpPr>
        <p:spPr bwMode="auto">
          <a:xfrm flipH="1">
            <a:off x="4947804" y="4186238"/>
            <a:ext cx="166688" cy="1568450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2395" name="AutoShape 43">
            <a:extLst>
              <a:ext uri="{FF2B5EF4-FFF2-40B4-BE49-F238E27FC236}">
                <a16:creationId xmlns:a16="http://schemas.microsoft.com/office/drawing/2014/main" id="{7CB92E94-690C-41A9-986B-5BA6648B98A0}"/>
              </a:ext>
            </a:extLst>
          </p:cNvPr>
          <p:cNvCxnSpPr>
            <a:cxnSpLocks noChangeShapeType="1"/>
            <a:stCxn id="612388" idx="7"/>
            <a:endCxn id="612385" idx="2"/>
          </p:cNvCxnSpPr>
          <p:nvPr/>
        </p:nvCxnSpPr>
        <p:spPr bwMode="auto">
          <a:xfrm flipV="1">
            <a:off x="5543117" y="3824289"/>
            <a:ext cx="2133600" cy="727075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2396" name="AutoShape 44">
            <a:extLst>
              <a:ext uri="{FF2B5EF4-FFF2-40B4-BE49-F238E27FC236}">
                <a16:creationId xmlns:a16="http://schemas.microsoft.com/office/drawing/2014/main" id="{A225B77C-0A81-4A72-A24A-FB317A3534D4}"/>
              </a:ext>
            </a:extLst>
          </p:cNvPr>
          <p:cNvCxnSpPr>
            <a:cxnSpLocks noChangeShapeType="1"/>
            <a:stCxn id="612390" idx="0"/>
            <a:endCxn id="612385" idx="4"/>
          </p:cNvCxnSpPr>
          <p:nvPr/>
        </p:nvCxnSpPr>
        <p:spPr bwMode="auto">
          <a:xfrm flipV="1">
            <a:off x="7306829" y="3919539"/>
            <a:ext cx="465138" cy="706437"/>
          </a:xfrm>
          <a:prstGeom prst="straightConnector1">
            <a:avLst/>
          </a:prstGeom>
          <a:noFill/>
          <a:ln w="254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2397" name="AutoShape 45">
            <a:extLst>
              <a:ext uri="{FF2B5EF4-FFF2-40B4-BE49-F238E27FC236}">
                <a16:creationId xmlns:a16="http://schemas.microsoft.com/office/drawing/2014/main" id="{5CA92D41-D054-422D-A765-77DBF796573D}"/>
              </a:ext>
            </a:extLst>
          </p:cNvPr>
          <p:cNvCxnSpPr>
            <a:cxnSpLocks noChangeShapeType="1"/>
            <a:stCxn id="612388" idx="5"/>
            <a:endCxn id="612391" idx="1"/>
          </p:cNvCxnSpPr>
          <p:nvPr/>
        </p:nvCxnSpPr>
        <p:spPr bwMode="auto">
          <a:xfrm>
            <a:off x="5543117" y="4692650"/>
            <a:ext cx="876300" cy="528638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2398" name="AutoShape 46">
            <a:extLst>
              <a:ext uri="{FF2B5EF4-FFF2-40B4-BE49-F238E27FC236}">
                <a16:creationId xmlns:a16="http://schemas.microsoft.com/office/drawing/2014/main" id="{888ED666-51F3-479A-900A-9194F54F5758}"/>
              </a:ext>
            </a:extLst>
          </p:cNvPr>
          <p:cNvCxnSpPr>
            <a:cxnSpLocks noChangeShapeType="1"/>
            <a:stCxn id="612391" idx="5"/>
            <a:endCxn id="612386" idx="2"/>
          </p:cNvCxnSpPr>
          <p:nvPr/>
        </p:nvCxnSpPr>
        <p:spPr bwMode="auto">
          <a:xfrm>
            <a:off x="6546418" y="5362576"/>
            <a:ext cx="1030287" cy="257175"/>
          </a:xfrm>
          <a:prstGeom prst="straightConnector1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2399" name="AutoShape 47">
            <a:extLst>
              <a:ext uri="{FF2B5EF4-FFF2-40B4-BE49-F238E27FC236}">
                <a16:creationId xmlns:a16="http://schemas.microsoft.com/office/drawing/2014/main" id="{0F7814F7-3F82-43EA-BA19-CCCA31C47C4B}"/>
              </a:ext>
            </a:extLst>
          </p:cNvPr>
          <p:cNvCxnSpPr>
            <a:cxnSpLocks noChangeShapeType="1"/>
            <a:stCxn id="612391" idx="7"/>
            <a:endCxn id="612390" idx="3"/>
          </p:cNvCxnSpPr>
          <p:nvPr/>
        </p:nvCxnSpPr>
        <p:spPr bwMode="auto">
          <a:xfrm flipV="1">
            <a:off x="6546417" y="4792664"/>
            <a:ext cx="698500" cy="428625"/>
          </a:xfrm>
          <a:prstGeom prst="straightConnector1">
            <a:avLst/>
          </a:prstGeom>
          <a:noFill/>
          <a:ln w="254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2400" name="AutoShape 48">
            <a:extLst>
              <a:ext uri="{FF2B5EF4-FFF2-40B4-BE49-F238E27FC236}">
                <a16:creationId xmlns:a16="http://schemas.microsoft.com/office/drawing/2014/main" id="{E0CC85C6-C13C-4F1E-92E3-876446EF2CD5}"/>
              </a:ext>
            </a:extLst>
          </p:cNvPr>
          <p:cNvCxnSpPr>
            <a:cxnSpLocks noChangeShapeType="1"/>
            <a:stCxn id="612390" idx="4"/>
            <a:endCxn id="612386" idx="0"/>
          </p:cNvCxnSpPr>
          <p:nvPr/>
        </p:nvCxnSpPr>
        <p:spPr bwMode="auto">
          <a:xfrm>
            <a:off x="7306830" y="4816475"/>
            <a:ext cx="366713" cy="706438"/>
          </a:xfrm>
          <a:prstGeom prst="straightConnector1">
            <a:avLst/>
          </a:prstGeom>
          <a:noFill/>
          <a:ln w="254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2401" name="AutoShape 49">
            <a:extLst>
              <a:ext uri="{FF2B5EF4-FFF2-40B4-BE49-F238E27FC236}">
                <a16:creationId xmlns:a16="http://schemas.microsoft.com/office/drawing/2014/main" id="{91B8C5D0-00E9-4E1E-B0AF-FDB82A594A38}"/>
              </a:ext>
            </a:extLst>
          </p:cNvPr>
          <p:cNvCxnSpPr>
            <a:cxnSpLocks noChangeShapeType="1"/>
            <a:stCxn id="612385" idx="3"/>
            <a:endCxn id="612391" idx="0"/>
          </p:cNvCxnSpPr>
          <p:nvPr/>
        </p:nvCxnSpPr>
        <p:spPr bwMode="auto">
          <a:xfrm flipH="1">
            <a:off x="6484504" y="3894138"/>
            <a:ext cx="1225550" cy="1301750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2402" name="AutoShape 50">
            <a:extLst>
              <a:ext uri="{FF2B5EF4-FFF2-40B4-BE49-F238E27FC236}">
                <a16:creationId xmlns:a16="http://schemas.microsoft.com/office/drawing/2014/main" id="{01279B80-5E74-47E3-B7DF-EFC23DC0B01A}"/>
              </a:ext>
            </a:extLst>
          </p:cNvPr>
          <p:cNvCxnSpPr>
            <a:cxnSpLocks noChangeShapeType="1"/>
            <a:stCxn id="612388" idx="4"/>
            <a:endCxn id="612389" idx="7"/>
          </p:cNvCxnSpPr>
          <p:nvPr/>
        </p:nvCxnSpPr>
        <p:spPr bwMode="auto">
          <a:xfrm flipH="1">
            <a:off x="5011305" y="4716463"/>
            <a:ext cx="468313" cy="1065212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2403" name="AutoShape 51">
            <a:extLst>
              <a:ext uri="{FF2B5EF4-FFF2-40B4-BE49-F238E27FC236}">
                <a16:creationId xmlns:a16="http://schemas.microsoft.com/office/drawing/2014/main" id="{C3F613C8-B120-4922-98B6-17074D12194A}"/>
              </a:ext>
            </a:extLst>
          </p:cNvPr>
          <p:cNvCxnSpPr>
            <a:cxnSpLocks noChangeShapeType="1"/>
            <a:stCxn id="612389" idx="6"/>
            <a:endCxn id="612391" idx="2"/>
          </p:cNvCxnSpPr>
          <p:nvPr/>
        </p:nvCxnSpPr>
        <p:spPr bwMode="auto">
          <a:xfrm flipV="1">
            <a:off x="5044643" y="5292725"/>
            <a:ext cx="1341437" cy="558800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2404" name="AutoShape 52">
            <a:extLst>
              <a:ext uri="{FF2B5EF4-FFF2-40B4-BE49-F238E27FC236}">
                <a16:creationId xmlns:a16="http://schemas.microsoft.com/office/drawing/2014/main" id="{68371AB2-CDD2-4BBC-A071-EB352614F473}"/>
              </a:ext>
            </a:extLst>
          </p:cNvPr>
          <p:cNvCxnSpPr>
            <a:cxnSpLocks noChangeShapeType="1"/>
            <a:stCxn id="612387" idx="6"/>
            <a:endCxn id="612385" idx="1"/>
          </p:cNvCxnSpPr>
          <p:nvPr/>
        </p:nvCxnSpPr>
        <p:spPr bwMode="auto">
          <a:xfrm flipV="1">
            <a:off x="5774892" y="3754439"/>
            <a:ext cx="1935162" cy="103187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2405" name="AutoShape 53">
            <a:extLst>
              <a:ext uri="{FF2B5EF4-FFF2-40B4-BE49-F238E27FC236}">
                <a16:creationId xmlns:a16="http://schemas.microsoft.com/office/drawing/2014/main" id="{544271EA-32CD-437B-A347-C11D2595F289}"/>
              </a:ext>
            </a:extLst>
          </p:cNvPr>
          <p:cNvCxnSpPr>
            <a:cxnSpLocks noChangeShapeType="1"/>
            <a:stCxn id="612389" idx="5"/>
            <a:endCxn id="612386" idx="3"/>
          </p:cNvCxnSpPr>
          <p:nvPr/>
        </p:nvCxnSpPr>
        <p:spPr bwMode="auto">
          <a:xfrm flipV="1">
            <a:off x="5011304" y="5688014"/>
            <a:ext cx="2598738" cy="231775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12406" name="Rectangle 54">
            <a:extLst>
              <a:ext uri="{FF2B5EF4-FFF2-40B4-BE49-F238E27FC236}">
                <a16:creationId xmlns:a16="http://schemas.microsoft.com/office/drawing/2014/main" id="{BCFDD347-DE1D-49A3-8492-9390F058CB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5392" y="6296026"/>
            <a:ext cx="16684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Case 2</a:t>
            </a:r>
          </a:p>
        </p:txBody>
      </p:sp>
      <p:sp>
        <p:nvSpPr>
          <p:cNvPr id="612412" name="Text Box 60">
            <a:extLst>
              <a:ext uri="{FF2B5EF4-FFF2-40B4-BE49-F238E27FC236}">
                <a16:creationId xmlns:a16="http://schemas.microsoft.com/office/drawing/2014/main" id="{1C79F42A-5480-4387-B540-ABD364D113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3255" y="5149850"/>
            <a:ext cx="301365" cy="369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612413" name="Text Box 61">
            <a:extLst>
              <a:ext uri="{FF2B5EF4-FFF2-40B4-BE49-F238E27FC236}">
                <a16:creationId xmlns:a16="http://schemas.microsoft.com/office/drawing/2014/main" id="{DF4B633C-7931-42AE-AA0D-EE877F346A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5055" y="4616450"/>
            <a:ext cx="301365" cy="369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612415" name="Rectangle 63">
            <a:extLst>
              <a:ext uri="{FF2B5EF4-FFF2-40B4-BE49-F238E27FC236}">
                <a16:creationId xmlns:a16="http://schemas.microsoft.com/office/drawing/2014/main" id="{EBB86A4C-4C8E-4E32-8C4B-A7295B200F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1317" y="4498976"/>
            <a:ext cx="267702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/>
              <a:t>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4" name="Rectangle 2">
            <a:extLst>
              <a:ext uri="{FF2B5EF4-FFF2-40B4-BE49-F238E27FC236}">
                <a16:creationId xmlns:a16="http://schemas.microsoft.com/office/drawing/2014/main" id="{0EA428EF-900D-48A1-9E5E-01C892EB9C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338" y="65086"/>
            <a:ext cx="10515600" cy="1325563"/>
          </a:xfrm>
        </p:spPr>
        <p:txBody>
          <a:bodyPr/>
          <a:lstStyle/>
          <a:p>
            <a:r>
              <a:rPr lang="en-US" altLang="en-US" dirty="0"/>
              <a:t>Kruskal's Algorithm: Implementation:</a:t>
            </a:r>
          </a:p>
        </p:txBody>
      </p:sp>
      <p:sp>
        <p:nvSpPr>
          <p:cNvPr id="648195" name="Text Box 3">
            <a:extLst>
              <a:ext uri="{FF2B5EF4-FFF2-40B4-BE49-F238E27FC236}">
                <a16:creationId xmlns:a16="http://schemas.microsoft.com/office/drawing/2014/main" id="{40C60C56-03B4-4B7A-B128-AEB4024CB9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902" y="1319067"/>
            <a:ext cx="7010400" cy="461664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lIns="182880" tIns="91440" rIns="137160" bIns="91440">
            <a:spAutoFit/>
          </a:bodyPr>
          <a:lstStyle/>
          <a:p>
            <a:r>
              <a:rPr lang="en-US" altLang="en-US" b="1" dirty="0">
                <a:latin typeface="Courier New" panose="02070309020205020404" pitchFamily="49" charset="0"/>
              </a:rPr>
              <a:t>Kruskal(G, c) {</a:t>
            </a:r>
            <a:endParaRPr lang="en-US" altLang="en-US" b="1" dirty="0">
              <a:solidFill>
                <a:srgbClr val="003399"/>
              </a:solidFill>
              <a:latin typeface="Courier New" panose="02070309020205020404" pitchFamily="49" charset="0"/>
            </a:endParaRPr>
          </a:p>
          <a:p>
            <a:r>
              <a:rPr lang="en-US" altLang="en-US" b="1">
                <a:solidFill>
                  <a:srgbClr val="003399"/>
                </a:solidFill>
                <a:latin typeface="Courier New" panose="02070309020205020404" pitchFamily="49" charset="0"/>
              </a:rPr>
              <a:t>   Sort</a:t>
            </a:r>
            <a:r>
              <a:rPr lang="en-US" altLang="en-US" b="1">
                <a:latin typeface="Courier New" panose="02070309020205020404" pitchFamily="49" charset="0"/>
              </a:rPr>
              <a:t> edges by weights so that c</a:t>
            </a:r>
            <a:r>
              <a:rPr lang="en-US" altLang="en-US" b="1" baseline="-25000">
                <a:latin typeface="Courier New" panose="02070309020205020404" pitchFamily="49" charset="0"/>
              </a:rPr>
              <a:t>1</a:t>
            </a:r>
            <a:r>
              <a:rPr lang="en-US" altLang="en-US" b="1">
                <a:latin typeface="Courier New" panose="02070309020205020404" pitchFamily="49" charset="0"/>
              </a:rPr>
              <a:t> </a:t>
            </a:r>
            <a:r>
              <a:rPr lang="en-US" altLang="en-US" b="1">
                <a:latin typeface="Courier New" panose="02070309020205020404" pitchFamily="49" charset="0"/>
                <a:sym typeface="Symbol" panose="05050102010706020507" pitchFamily="18" charset="2"/>
              </a:rPr>
              <a:t></a:t>
            </a:r>
            <a:r>
              <a:rPr lang="en-US" altLang="en-US" b="1">
                <a:latin typeface="Courier New" panose="02070309020205020404" pitchFamily="49" charset="0"/>
              </a:rPr>
              <a:t> c</a:t>
            </a:r>
            <a:r>
              <a:rPr lang="en-US" altLang="en-US" b="1" baseline="-25000">
                <a:latin typeface="Courier New" panose="02070309020205020404" pitchFamily="49" charset="0"/>
              </a:rPr>
              <a:t>2</a:t>
            </a:r>
            <a:r>
              <a:rPr lang="en-US" altLang="en-US" b="1">
                <a:latin typeface="Courier New" panose="02070309020205020404" pitchFamily="49" charset="0"/>
              </a:rPr>
              <a:t> </a:t>
            </a:r>
            <a:r>
              <a:rPr lang="en-US" altLang="en-US" b="1">
                <a:latin typeface="Courier New" panose="02070309020205020404" pitchFamily="49" charset="0"/>
                <a:sym typeface="Symbol" panose="05050102010706020507" pitchFamily="18" charset="2"/>
              </a:rPr>
              <a:t></a:t>
            </a:r>
            <a:r>
              <a:rPr lang="en-US" altLang="en-US" b="1">
                <a:latin typeface="Courier New" panose="02070309020205020404" pitchFamily="49" charset="0"/>
              </a:rPr>
              <a:t> ... 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</a:t>
            </a:r>
            <a:r>
              <a:rPr lang="en-US" altLang="en-US" b="1" dirty="0">
                <a:latin typeface="Courier New" panose="02070309020205020404" pitchFamily="49" charset="0"/>
              </a:rPr>
              <a:t> c</a:t>
            </a:r>
            <a:r>
              <a:rPr lang="en-US" altLang="en-US" b="1" baseline="-25000" dirty="0">
                <a:latin typeface="Courier New" panose="02070309020205020404" pitchFamily="49" charset="0"/>
              </a:rPr>
              <a:t>m</a:t>
            </a:r>
            <a:r>
              <a:rPr lang="en-US" altLang="en-US" b="1" dirty="0">
                <a:latin typeface="Courier New" panose="02070309020205020404" pitchFamily="49" charset="0"/>
              </a:rPr>
              <a:t>.</a:t>
            </a:r>
          </a:p>
          <a:p>
            <a:r>
              <a:rPr lang="en-US" altLang="en-US" b="1" dirty="0">
                <a:latin typeface="Courier New" panose="02070309020205020404" pitchFamily="49" charset="0"/>
              </a:rPr>
              <a:t>   T 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</a:t>
            </a:r>
            <a:r>
              <a:rPr lang="en-US" altLang="en-US" b="1" dirty="0">
                <a:latin typeface="Courier New" panose="02070309020205020404" pitchFamily="49" charset="0"/>
              </a:rPr>
              <a:t> 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</a:t>
            </a:r>
            <a:endParaRPr lang="en-US" altLang="en-US" b="1" dirty="0">
              <a:latin typeface="Courier New" panose="02070309020205020404" pitchFamily="49" charset="0"/>
            </a:endParaRPr>
          </a:p>
          <a:p>
            <a:endParaRPr lang="en-US" altLang="en-US" b="1" dirty="0">
              <a:solidFill>
                <a:srgbClr val="003399"/>
              </a:solidFill>
              <a:latin typeface="Courier New" panose="02070309020205020404" pitchFamily="49" charset="0"/>
            </a:endParaRPr>
          </a:p>
          <a:p>
            <a:r>
              <a:rPr lang="en-US" altLang="en-US" b="1" dirty="0">
                <a:solidFill>
                  <a:srgbClr val="003399"/>
                </a:solidFill>
                <a:latin typeface="Courier New" panose="02070309020205020404" pitchFamily="49" charset="0"/>
              </a:rPr>
              <a:t>   foreach</a:t>
            </a:r>
            <a:r>
              <a:rPr lang="en-US" altLang="en-US" b="1" dirty="0">
                <a:latin typeface="Courier New" panose="02070309020205020404" pitchFamily="49" charset="0"/>
              </a:rPr>
              <a:t> (u 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 </a:t>
            </a:r>
            <a:r>
              <a:rPr lang="en-US" altLang="en-US" b="1" dirty="0">
                <a:latin typeface="Courier New" panose="02070309020205020404" pitchFamily="49" charset="0"/>
              </a:rPr>
              <a:t>V) make a set containing singleton u</a:t>
            </a:r>
          </a:p>
          <a:p>
            <a:endParaRPr lang="en-US" altLang="en-US" b="1" dirty="0">
              <a:latin typeface="Courier New" panose="02070309020205020404" pitchFamily="49" charset="0"/>
            </a:endParaRPr>
          </a:p>
          <a:p>
            <a:r>
              <a:rPr lang="en-US" altLang="en-US" b="1" dirty="0">
                <a:solidFill>
                  <a:srgbClr val="003399"/>
                </a:solidFill>
                <a:latin typeface="Courier New" panose="02070309020205020404" pitchFamily="49" charset="0"/>
              </a:rPr>
              <a:t>   for</a:t>
            </a:r>
            <a:r>
              <a:rPr lang="en-US" altLang="en-US" b="1" dirty="0">
                <a:latin typeface="Courier New" panose="02070309020205020404" pitchFamily="49" charset="0"/>
              </a:rPr>
              <a:t> </a:t>
            </a:r>
            <a:r>
              <a:rPr lang="en-US" altLang="en-US" b="1" dirty="0" err="1">
                <a:latin typeface="Courier New" panose="02070309020205020404" pitchFamily="49" charset="0"/>
              </a:rPr>
              <a:t>i</a:t>
            </a:r>
            <a:r>
              <a:rPr lang="en-US" altLang="en-US" b="1" dirty="0">
                <a:latin typeface="Courier New" panose="02070309020205020404" pitchFamily="49" charset="0"/>
              </a:rPr>
              <a:t> = 1 to m</a:t>
            </a:r>
          </a:p>
          <a:p>
            <a:r>
              <a:rPr lang="en-US" altLang="en-US" b="1" dirty="0">
                <a:latin typeface="Courier New" panose="02070309020205020404" pitchFamily="49" charset="0"/>
              </a:rPr>
              <a:t>      (</a:t>
            </a:r>
            <a:r>
              <a:rPr lang="en-US" altLang="en-US" b="1" dirty="0" err="1">
                <a:latin typeface="Courier New" panose="02070309020205020404" pitchFamily="49" charset="0"/>
              </a:rPr>
              <a:t>u,v</a:t>
            </a:r>
            <a:r>
              <a:rPr lang="en-US" altLang="en-US" b="1" dirty="0">
                <a:latin typeface="Courier New" panose="02070309020205020404" pitchFamily="49" charset="0"/>
              </a:rPr>
              <a:t>) = </a:t>
            </a:r>
            <a:r>
              <a:rPr lang="en-US" altLang="en-US" b="1" dirty="0" err="1">
                <a:latin typeface="Courier New" panose="02070309020205020404" pitchFamily="49" charset="0"/>
              </a:rPr>
              <a:t>e</a:t>
            </a:r>
            <a:r>
              <a:rPr lang="en-US" altLang="en-US" b="1" baseline="-25000" dirty="0" err="1">
                <a:latin typeface="Courier New" panose="02070309020205020404" pitchFamily="49" charset="0"/>
              </a:rPr>
              <a:t>i</a:t>
            </a:r>
            <a:endParaRPr lang="en-US" altLang="en-US" b="1" dirty="0">
              <a:latin typeface="Courier New" panose="02070309020205020404" pitchFamily="49" charset="0"/>
            </a:endParaRPr>
          </a:p>
          <a:p>
            <a:r>
              <a:rPr lang="en-US" altLang="en-US" b="1" dirty="0">
                <a:latin typeface="Courier New" panose="02070309020205020404" pitchFamily="49" charset="0"/>
              </a:rPr>
              <a:t>      if (u and v are in different sets) {</a:t>
            </a:r>
          </a:p>
          <a:p>
            <a:r>
              <a:rPr lang="en-US" altLang="en-US" b="1" dirty="0">
                <a:latin typeface="Courier New" panose="02070309020205020404" pitchFamily="49" charset="0"/>
              </a:rPr>
              <a:t>         T 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 T</a:t>
            </a:r>
            <a:r>
              <a:rPr lang="en-US" altLang="en-US" b="1" dirty="0">
                <a:latin typeface="Courier New" panose="02070309020205020404" pitchFamily="49" charset="0"/>
              </a:rPr>
              <a:t> 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</a:t>
            </a:r>
            <a:r>
              <a:rPr lang="en-US" altLang="en-US" b="1" dirty="0">
                <a:latin typeface="Courier New" panose="02070309020205020404" pitchFamily="49" charset="0"/>
              </a:rPr>
              <a:t> {</a:t>
            </a:r>
            <a:r>
              <a:rPr lang="en-US" altLang="en-US" b="1" dirty="0" err="1">
                <a:latin typeface="Courier New" panose="02070309020205020404" pitchFamily="49" charset="0"/>
              </a:rPr>
              <a:t>e</a:t>
            </a:r>
            <a:r>
              <a:rPr lang="en-US" altLang="en-US" b="1" baseline="-25000" dirty="0" err="1">
                <a:latin typeface="Courier New" panose="02070309020205020404" pitchFamily="49" charset="0"/>
              </a:rPr>
              <a:t>i</a:t>
            </a:r>
            <a:r>
              <a:rPr lang="en-US" altLang="en-US" b="1" dirty="0">
                <a:latin typeface="Courier New" panose="02070309020205020404" pitchFamily="49" charset="0"/>
              </a:rPr>
              <a:t>}</a:t>
            </a:r>
          </a:p>
          <a:p>
            <a:r>
              <a:rPr lang="en-US" altLang="en-US" b="1" dirty="0">
                <a:latin typeface="Courier New" panose="02070309020205020404" pitchFamily="49" charset="0"/>
              </a:rPr>
              <a:t>         merge the sets containing u and v</a:t>
            </a:r>
          </a:p>
          <a:p>
            <a:r>
              <a:rPr lang="en-US" altLang="en-US" b="1" dirty="0">
                <a:latin typeface="Courier New" panose="02070309020205020404" pitchFamily="49" charset="0"/>
              </a:rPr>
              <a:t>      }</a:t>
            </a:r>
          </a:p>
          <a:p>
            <a:r>
              <a:rPr lang="en-US" altLang="en-US" b="1" dirty="0">
                <a:solidFill>
                  <a:srgbClr val="003399"/>
                </a:solidFill>
                <a:latin typeface="Courier New" panose="02070309020205020404" pitchFamily="49" charset="0"/>
              </a:rPr>
              <a:t>   return </a:t>
            </a:r>
            <a:r>
              <a:rPr lang="en-US" altLang="en-US" b="1" dirty="0">
                <a:latin typeface="Courier New" panose="02070309020205020404" pitchFamily="49" charset="0"/>
              </a:rPr>
              <a:t>T</a:t>
            </a:r>
          </a:p>
          <a:p>
            <a:r>
              <a:rPr lang="en-US" altLang="en-US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648197" name="Line 5">
            <a:extLst>
              <a:ext uri="{FF2B5EF4-FFF2-40B4-BE49-F238E27FC236}">
                <a16:creationId xmlns:a16="http://schemas.microsoft.com/office/drawing/2014/main" id="{47C40CC8-6F86-44F8-A3FB-87A7BF3C37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91138" y="3609817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648198" name="Text Box 6">
            <a:extLst>
              <a:ext uri="{FF2B5EF4-FFF2-40B4-BE49-F238E27FC236}">
                <a16:creationId xmlns:a16="http://schemas.microsoft.com/office/drawing/2014/main" id="{F35BF002-013E-4F2C-ABD1-6EE08FB921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9193" y="3290179"/>
            <a:ext cx="3176703" cy="277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200" dirty="0"/>
              <a:t>are u and v in different connected components?</a:t>
            </a:r>
          </a:p>
        </p:txBody>
      </p:sp>
      <p:sp>
        <p:nvSpPr>
          <p:cNvPr id="648199" name="Line 7">
            <a:extLst>
              <a:ext uri="{FF2B5EF4-FFF2-40B4-BE49-F238E27FC236}">
                <a16:creationId xmlns:a16="http://schemas.microsoft.com/office/drawing/2014/main" id="{07E4D1A7-A2D7-4A87-8175-28727D33382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423936" y="4863798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648200" name="Text Box 8">
            <a:extLst>
              <a:ext uri="{FF2B5EF4-FFF2-40B4-BE49-F238E27FC236}">
                <a16:creationId xmlns:a16="http://schemas.microsoft.com/office/drawing/2014/main" id="{E837A914-D55D-415A-AC99-21F092F299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3936" y="5016198"/>
            <a:ext cx="1677254" cy="277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200"/>
              <a:t>merge two components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D0E4B8B-4776-4A40-98BD-6AA05D982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3344" y="1359586"/>
            <a:ext cx="2971801" cy="4138825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Sort m edges</a:t>
            </a:r>
          </a:p>
          <a:p>
            <a:r>
              <a:rPr lang="en-US" dirty="0"/>
              <a:t>n x </a:t>
            </a:r>
            <a:r>
              <a:rPr lang="en-US" dirty="0" err="1"/>
              <a:t>makeset</a:t>
            </a:r>
            <a:endParaRPr lang="en-US" dirty="0"/>
          </a:p>
          <a:p>
            <a:endParaRPr lang="en-US" dirty="0"/>
          </a:p>
          <a:p>
            <a:r>
              <a:rPr lang="en-US" dirty="0"/>
              <a:t>m x find &amp; unions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4" name="Rectangle 2">
            <a:extLst>
              <a:ext uri="{FF2B5EF4-FFF2-40B4-BE49-F238E27FC236}">
                <a16:creationId xmlns:a16="http://schemas.microsoft.com/office/drawing/2014/main" id="{0EA428EF-900D-48A1-9E5E-01C892EB9C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Kruskal's Algorithm: Complexity</a:t>
            </a:r>
          </a:p>
        </p:txBody>
      </p:sp>
      <p:sp>
        <p:nvSpPr>
          <p:cNvPr id="648196" name="Rectangle 4">
            <a:extLst>
              <a:ext uri="{FF2B5EF4-FFF2-40B4-BE49-F238E27FC236}">
                <a16:creationId xmlns:a16="http://schemas.microsoft.com/office/drawing/2014/main" id="{5859BE21-3F45-40CF-A425-7C6C08CD73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Implementation.  </a:t>
            </a:r>
            <a:r>
              <a:rPr lang="en-US" altLang="en-US" dirty="0">
                <a:solidFill>
                  <a:schemeClr val="tx1"/>
                </a:solidFill>
              </a:rPr>
              <a:t>Use the </a:t>
            </a:r>
            <a:r>
              <a:rPr lang="en-US" altLang="en-US" dirty="0">
                <a:solidFill>
                  <a:schemeClr val="accent1"/>
                </a:solidFill>
              </a:rPr>
              <a:t>union-find</a:t>
            </a:r>
            <a:r>
              <a:rPr lang="en-US" altLang="en-US" dirty="0">
                <a:solidFill>
                  <a:schemeClr val="tx1"/>
                </a:solidFill>
              </a:rPr>
              <a:t> data structure.</a:t>
            </a:r>
          </a:p>
          <a:p>
            <a:pPr lvl="1"/>
            <a:r>
              <a:rPr lang="en-US" altLang="en-US" dirty="0"/>
              <a:t>Build set T of edges in the MST.</a:t>
            </a:r>
          </a:p>
          <a:p>
            <a:pPr lvl="1"/>
            <a:r>
              <a:rPr lang="en-US" altLang="en-US" dirty="0"/>
              <a:t>Maintain set for each connected component.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O(m log n) for sorting and  O(m </a:t>
            </a:r>
            <a:r>
              <a:rPr lang="en-US" altLang="en-US" dirty="0">
                <a:sym typeface="Symbol" panose="05050102010706020507" pitchFamily="18" charset="2"/>
              </a:rPr>
              <a:t></a:t>
            </a:r>
            <a:r>
              <a:rPr lang="en-US" altLang="en-US" dirty="0"/>
              <a:t> (m, n)) for union-find.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</p:txBody>
      </p:sp>
      <p:sp>
        <p:nvSpPr>
          <p:cNvPr id="648201" name="Rectangle 9">
            <a:extLst>
              <a:ext uri="{FF2B5EF4-FFF2-40B4-BE49-F238E27FC236}">
                <a16:creationId xmlns:a16="http://schemas.microsoft.com/office/drawing/2014/main" id="{4A9823AA-4024-41BC-BE90-3237045325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0864" y="4242332"/>
            <a:ext cx="2923877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2000" dirty="0"/>
              <a:t>m </a:t>
            </a:r>
            <a:r>
              <a:rPr lang="en-US" altLang="en-US" sz="2000" dirty="0">
                <a:sym typeface="Symbol" panose="05050102010706020507" pitchFamily="18" charset="2"/>
              </a:rPr>
              <a:t> n</a:t>
            </a:r>
            <a:r>
              <a:rPr lang="en-US" altLang="en-US" sz="2000" baseline="30000" dirty="0">
                <a:sym typeface="Symbol" panose="05050102010706020507" pitchFamily="18" charset="2"/>
              </a:rPr>
              <a:t>2</a:t>
            </a:r>
            <a:r>
              <a:rPr lang="en-US" altLang="en-US" sz="2000" dirty="0">
                <a:sym typeface="Symbol" panose="05050102010706020507" pitchFamily="18" charset="2"/>
              </a:rPr>
              <a:t>  log m is O(log n)</a:t>
            </a:r>
            <a:endParaRPr lang="en-US" altLang="en-US" sz="2000" dirty="0"/>
          </a:p>
        </p:txBody>
      </p:sp>
      <p:sp>
        <p:nvSpPr>
          <p:cNvPr id="648202" name="Line 10">
            <a:extLst>
              <a:ext uri="{FF2B5EF4-FFF2-40B4-BE49-F238E27FC236}">
                <a16:creationId xmlns:a16="http://schemas.microsoft.com/office/drawing/2014/main" id="{71282A6F-AF5E-401D-A0E5-B15B5E5C370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62321" y="4042307"/>
            <a:ext cx="130175" cy="200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endParaRPr lang="en-US"/>
          </a:p>
        </p:txBody>
      </p:sp>
      <p:sp>
        <p:nvSpPr>
          <p:cNvPr id="648203" name="Rectangle 11">
            <a:extLst>
              <a:ext uri="{FF2B5EF4-FFF2-40B4-BE49-F238E27FC236}">
                <a16:creationId xmlns:a16="http://schemas.microsoft.com/office/drawing/2014/main" id="{B1223A8B-823B-4168-923C-2C2DAAD398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9923" y="4142319"/>
            <a:ext cx="2418867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2000" dirty="0"/>
              <a:t>essentially a constant</a:t>
            </a:r>
          </a:p>
        </p:txBody>
      </p:sp>
      <p:sp>
        <p:nvSpPr>
          <p:cNvPr id="648205" name="AutoShape 13">
            <a:extLst>
              <a:ext uri="{FF2B5EF4-FFF2-40B4-BE49-F238E27FC236}">
                <a16:creationId xmlns:a16="http://schemas.microsoft.com/office/drawing/2014/main" id="{42B269C7-5618-455B-A990-BD089EAF577D}"/>
              </a:ext>
            </a:extLst>
          </p:cNvPr>
          <p:cNvSpPr>
            <a:spLocks/>
          </p:cNvSpPr>
          <p:nvPr/>
        </p:nvSpPr>
        <p:spPr bwMode="auto">
          <a:xfrm rot="5400000">
            <a:off x="6295666" y="3687501"/>
            <a:ext cx="141288" cy="692150"/>
          </a:xfrm>
          <a:prstGeom prst="rightBrace">
            <a:avLst>
              <a:gd name="adj1" fmla="val 4082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55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8196" grpId="0" uiExpand="1" build="p"/>
      <p:bldP spid="648201" grpId="0"/>
      <p:bldP spid="648202" grpId="0" animBg="1"/>
      <p:bldP spid="648203" grpId="0"/>
      <p:bldP spid="64820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258" name="Rectangle 2">
            <a:extLst>
              <a:ext uri="{FF2B5EF4-FFF2-40B4-BE49-F238E27FC236}">
                <a16:creationId xmlns:a16="http://schemas.microsoft.com/office/drawing/2014/main" id="{4CCC4BB1-0FB3-4BD9-99A3-880D37854C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199" y="18255"/>
            <a:ext cx="11998037" cy="1325563"/>
          </a:xfrm>
        </p:spPr>
        <p:txBody>
          <a:bodyPr/>
          <a:lstStyle/>
          <a:p>
            <a:r>
              <a:rPr lang="en-US" altLang="en-US" dirty="0"/>
              <a:t>Reverse-delete Algorithm: Correctness &amp; Complexity</a:t>
            </a:r>
          </a:p>
        </p:txBody>
      </p:sp>
      <p:sp>
        <p:nvSpPr>
          <p:cNvPr id="608267" name="Rectangle 11">
            <a:extLst>
              <a:ext uri="{FF2B5EF4-FFF2-40B4-BE49-F238E27FC236}">
                <a16:creationId xmlns:a16="http://schemas.microsoft.com/office/drawing/2014/main" id="{8BB6B550-0C9E-4615-AA53-2131677A14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70164" y="1738672"/>
            <a:ext cx="8063345" cy="4351338"/>
          </a:xfrm>
        </p:spPr>
        <p:txBody>
          <a:bodyPr/>
          <a:lstStyle/>
          <a:p>
            <a:pPr marL="342900" indent="-342900"/>
            <a:r>
              <a:rPr lang="en-US" altLang="en-US" dirty="0"/>
              <a:t>Reverse-delete algorithm.  </a:t>
            </a:r>
            <a:r>
              <a:rPr lang="en-US" altLang="en-US" dirty="0">
                <a:solidFill>
                  <a:schemeClr val="hlink"/>
                </a:solidFill>
              </a:rPr>
              <a:t>[Kruskal, 1956]</a:t>
            </a:r>
            <a:endParaRPr lang="en-US" altLang="en-US" dirty="0"/>
          </a:p>
          <a:p>
            <a:pPr marL="457200" lvl="1" indent="-342900"/>
            <a:r>
              <a:rPr lang="en-US" altLang="en-US" dirty="0"/>
              <a:t>Consider edges in descending order of weight.</a:t>
            </a:r>
          </a:p>
          <a:p>
            <a:pPr marL="457200" lvl="1" indent="-342900"/>
            <a:r>
              <a:rPr lang="en-US" altLang="en-US" dirty="0"/>
              <a:t>If deleting e does not disconnect G then discard e according to cycle property</a:t>
            </a:r>
          </a:p>
          <a:p>
            <a:pPr marL="457200" lvl="1" indent="-342900"/>
            <a:r>
              <a:rPr lang="en-US" altLang="en-US" dirty="0"/>
              <a:t>Else retain the edge according to cut property </a:t>
            </a:r>
          </a:p>
          <a:p>
            <a:pPr marL="457200" lvl="1" indent="-342900"/>
            <a:r>
              <a:rPr lang="en-US" altLang="en-US" dirty="0"/>
              <a:t>At end you will be left with the MST</a:t>
            </a:r>
          </a:p>
          <a:p>
            <a:pPr marL="457200" lvl="1" indent="-342900"/>
            <a:endParaRPr lang="en-US" altLang="en-US" dirty="0"/>
          </a:p>
          <a:p>
            <a:pPr marL="457200" lvl="1" indent="-342900"/>
            <a:r>
              <a:rPr lang="en-US" altLang="en-US" dirty="0"/>
              <a:t>Implementation requires checking connectivity</a:t>
            </a:r>
          </a:p>
          <a:p>
            <a:pPr marL="457200" lvl="1" indent="-342900"/>
            <a:r>
              <a:rPr lang="en-US" altLang="en-US" dirty="0"/>
              <a:t>Best is O(m log n (loglog n)</a:t>
            </a:r>
            <a:r>
              <a:rPr lang="en-US" altLang="en-US" baseline="30000" dirty="0"/>
              <a:t>3</a:t>
            </a:r>
            <a:r>
              <a:rPr lang="en-US" altLang="en-US" dirty="0"/>
              <a:t>). </a:t>
            </a:r>
            <a:r>
              <a:rPr lang="en-US" altLang="en-US" dirty="0">
                <a:solidFill>
                  <a:schemeClr val="hlink"/>
                </a:solidFill>
              </a:rPr>
              <a:t>[</a:t>
            </a:r>
            <a:r>
              <a:rPr lang="en-US" altLang="en-US" dirty="0" err="1">
                <a:solidFill>
                  <a:schemeClr val="hlink"/>
                </a:solidFill>
              </a:rPr>
              <a:t>Thorup</a:t>
            </a:r>
            <a:r>
              <a:rPr lang="en-US" altLang="en-US" dirty="0">
                <a:solidFill>
                  <a:schemeClr val="hlink"/>
                </a:solidFill>
              </a:rPr>
              <a:t>, 2000]</a:t>
            </a:r>
            <a:endParaRPr lang="en-US" altLang="en-US" dirty="0"/>
          </a:p>
          <a:p>
            <a:pPr marL="457200" lvl="1" indent="-342900"/>
            <a:endParaRPr lang="en-US" altLang="en-US" dirty="0"/>
          </a:p>
          <a:p>
            <a:pPr lvl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10553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23" name="Rectangle 3">
            <a:extLst>
              <a:ext uri="{FF2B5EF4-FFF2-40B4-BE49-F238E27FC236}">
                <a16:creationId xmlns:a16="http://schemas.microsoft.com/office/drawing/2014/main" id="{1CD9E59A-6B5B-4DEC-8431-57A4A6F972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4854" y="1320799"/>
            <a:ext cx="10515600" cy="2849419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dirty="0"/>
              <a:t>To remove the assumption that all edge costs are distinct:  </a:t>
            </a:r>
            <a:r>
              <a:rPr lang="en-US" altLang="en-US" dirty="0">
                <a:solidFill>
                  <a:schemeClr val="tx1"/>
                </a:solidFill>
              </a:rPr>
              <a:t>perturb all edge costs by tiny amounts to break any ties.</a:t>
            </a:r>
          </a:p>
          <a:p>
            <a:r>
              <a:rPr lang="en-US" altLang="en-US" dirty="0"/>
              <a:t>Impact.</a:t>
            </a:r>
            <a:r>
              <a:rPr lang="en-US" altLang="en-US" dirty="0">
                <a:solidFill>
                  <a:schemeClr val="tx1"/>
                </a:solidFill>
              </a:rPr>
              <a:t>  Kruskal and Prim only interact with costs via pairwise comparisons.  If perturbations are sufficiently small, MST with perturbed costs is MST with original costs. </a:t>
            </a:r>
            <a:r>
              <a:rPr lang="en-US" altLang="en-US" dirty="0"/>
              <a:t>e.g., if all edge costs are integers,</a:t>
            </a:r>
            <a:br>
              <a:rPr lang="en-US" altLang="en-US" dirty="0"/>
            </a:br>
            <a:r>
              <a:rPr lang="en-US" altLang="en-US" dirty="0"/>
              <a:t>perturbing cost of edge </a:t>
            </a:r>
            <a:r>
              <a:rPr lang="en-US" altLang="en-US" dirty="0" err="1"/>
              <a:t>e</a:t>
            </a:r>
            <a:r>
              <a:rPr lang="en-US" altLang="en-US" baseline="-25000" dirty="0" err="1"/>
              <a:t>i</a:t>
            </a:r>
            <a:r>
              <a:rPr lang="en-US" altLang="en-US" dirty="0"/>
              <a:t> by </a:t>
            </a:r>
            <a:r>
              <a:rPr lang="en-US" altLang="en-US" dirty="0" err="1"/>
              <a:t>i</a:t>
            </a:r>
            <a:r>
              <a:rPr lang="en-US" altLang="en-US" dirty="0"/>
              <a:t> / n</a:t>
            </a:r>
            <a:r>
              <a:rPr lang="en-US" altLang="en-US" baseline="30000" dirty="0"/>
              <a:t>2</a:t>
            </a:r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/>
              <a:t>Implementation.  </a:t>
            </a:r>
            <a:r>
              <a:rPr lang="en-US" altLang="en-US" dirty="0">
                <a:solidFill>
                  <a:schemeClr val="tx1"/>
                </a:solidFill>
              </a:rPr>
              <a:t>Can handle arbitrarily small perturbations implicitly by breaking ties lexicographically, according to index.</a:t>
            </a:r>
          </a:p>
        </p:txBody>
      </p:sp>
      <p:sp>
        <p:nvSpPr>
          <p:cNvPr id="696322" name="Rectangle 2">
            <a:extLst>
              <a:ext uri="{FF2B5EF4-FFF2-40B4-BE49-F238E27FC236}">
                <a16:creationId xmlns:a16="http://schemas.microsoft.com/office/drawing/2014/main" id="{7B559625-50E0-4106-9776-BE761890C1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4854" y="-4764"/>
            <a:ext cx="10515600" cy="1325563"/>
          </a:xfrm>
        </p:spPr>
        <p:txBody>
          <a:bodyPr/>
          <a:lstStyle/>
          <a:p>
            <a:r>
              <a:rPr lang="en-US" altLang="en-US" dirty="0"/>
              <a:t>Distinct edge weights – removing assumption</a:t>
            </a:r>
          </a:p>
        </p:txBody>
      </p:sp>
      <p:sp>
        <p:nvSpPr>
          <p:cNvPr id="696324" name="Text Box 4">
            <a:extLst>
              <a:ext uri="{FF2B5EF4-FFF2-40B4-BE49-F238E27FC236}">
                <a16:creationId xmlns:a16="http://schemas.microsoft.com/office/drawing/2014/main" id="{1BD7BAE9-8F72-433D-B508-72B0A3F86B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1546" y="3903345"/>
            <a:ext cx="6040438" cy="295465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lIns="182880" tIns="91440" rIns="137160" bIns="91440">
            <a:spAutoFit/>
          </a:bodyPr>
          <a:lstStyle/>
          <a:p>
            <a:r>
              <a:rPr lang="en-US" altLang="en-US" b="1" dirty="0" err="1">
                <a:latin typeface="Courier New" panose="02070309020205020404" pitchFamily="49" charset="0"/>
              </a:rPr>
              <a:t>boolean</a:t>
            </a:r>
            <a:r>
              <a:rPr lang="en-US" altLang="en-US" b="1" dirty="0">
                <a:latin typeface="Courier New" panose="02070309020205020404" pitchFamily="49" charset="0"/>
              </a:rPr>
              <a:t> less(</a:t>
            </a:r>
            <a:r>
              <a:rPr lang="en-US" altLang="en-US" b="1" dirty="0" err="1">
                <a:latin typeface="Courier New" panose="02070309020205020404" pitchFamily="49" charset="0"/>
              </a:rPr>
              <a:t>i</a:t>
            </a:r>
            <a:r>
              <a:rPr lang="en-US" altLang="en-US" b="1" dirty="0">
                <a:latin typeface="Courier New" panose="02070309020205020404" pitchFamily="49" charset="0"/>
              </a:rPr>
              <a:t>, j) {</a:t>
            </a:r>
            <a:endParaRPr lang="en-US" altLang="en-US" b="1" dirty="0">
              <a:solidFill>
                <a:srgbClr val="003399"/>
              </a:solidFill>
              <a:latin typeface="Courier New" panose="02070309020205020404" pitchFamily="49" charset="0"/>
            </a:endParaRPr>
          </a:p>
          <a:p>
            <a:r>
              <a:rPr lang="en-US" altLang="en-US" b="1" dirty="0">
                <a:solidFill>
                  <a:srgbClr val="003399"/>
                </a:solidFill>
                <a:latin typeface="Courier New" panose="02070309020205020404" pitchFamily="49" charset="0"/>
              </a:rPr>
              <a:t>   if      </a:t>
            </a:r>
            <a:r>
              <a:rPr lang="en-US" altLang="en-US" b="1" dirty="0">
                <a:latin typeface="Courier New" panose="02070309020205020404" pitchFamily="49" charset="0"/>
              </a:rPr>
              <a:t>(cost(</a:t>
            </a:r>
            <a:r>
              <a:rPr lang="en-US" altLang="en-US" b="1" dirty="0" err="1">
                <a:latin typeface="Courier New" panose="02070309020205020404" pitchFamily="49" charset="0"/>
              </a:rPr>
              <a:t>e</a:t>
            </a:r>
            <a:r>
              <a:rPr lang="en-US" altLang="en-US" b="1" baseline="-25000" dirty="0" err="1">
                <a:latin typeface="Courier New" panose="02070309020205020404" pitchFamily="49" charset="0"/>
              </a:rPr>
              <a:t>i</a:t>
            </a:r>
            <a:r>
              <a:rPr lang="en-US" altLang="en-US" b="1" dirty="0">
                <a:latin typeface="Courier New" panose="02070309020205020404" pitchFamily="49" charset="0"/>
              </a:rPr>
              <a:t>) &lt; cost(</a:t>
            </a:r>
            <a:r>
              <a:rPr lang="en-US" altLang="en-US" b="1" dirty="0" err="1">
                <a:latin typeface="Courier New" panose="02070309020205020404" pitchFamily="49" charset="0"/>
              </a:rPr>
              <a:t>e</a:t>
            </a:r>
            <a:r>
              <a:rPr lang="en-US" altLang="en-US" b="1" baseline="-25000" dirty="0" err="1">
                <a:latin typeface="Courier New" panose="02070309020205020404" pitchFamily="49" charset="0"/>
              </a:rPr>
              <a:t>j</a:t>
            </a:r>
            <a:r>
              <a:rPr lang="en-US" altLang="en-US" b="1" dirty="0">
                <a:latin typeface="Courier New" panose="02070309020205020404" pitchFamily="49" charset="0"/>
              </a:rPr>
              <a:t>)) </a:t>
            </a:r>
            <a:r>
              <a:rPr lang="en-US" altLang="en-US" b="1" dirty="0">
                <a:solidFill>
                  <a:srgbClr val="003399"/>
                </a:solidFill>
                <a:latin typeface="Courier New" panose="02070309020205020404" pitchFamily="49" charset="0"/>
              </a:rPr>
              <a:t>return</a:t>
            </a:r>
            <a:r>
              <a:rPr lang="en-US" altLang="en-US" b="1" dirty="0">
                <a:latin typeface="Courier New" panose="02070309020205020404" pitchFamily="49" charset="0"/>
              </a:rPr>
              <a:t> true</a:t>
            </a:r>
          </a:p>
          <a:p>
            <a:r>
              <a:rPr lang="en-US" altLang="en-US" b="1" dirty="0">
                <a:latin typeface="Courier New" panose="02070309020205020404" pitchFamily="49" charset="0"/>
              </a:rPr>
              <a:t>   </a:t>
            </a:r>
            <a:r>
              <a:rPr lang="en-US" altLang="en-US" b="1" dirty="0">
                <a:solidFill>
                  <a:srgbClr val="003399"/>
                </a:solidFill>
                <a:latin typeface="Courier New" panose="02070309020205020404" pitchFamily="49" charset="0"/>
              </a:rPr>
              <a:t>else if </a:t>
            </a:r>
            <a:r>
              <a:rPr lang="en-US" altLang="en-US" b="1" dirty="0">
                <a:latin typeface="Courier New" panose="02070309020205020404" pitchFamily="49" charset="0"/>
              </a:rPr>
              <a:t>(cost(</a:t>
            </a:r>
            <a:r>
              <a:rPr lang="en-US" altLang="en-US" b="1" dirty="0" err="1">
                <a:latin typeface="Courier New" panose="02070309020205020404" pitchFamily="49" charset="0"/>
              </a:rPr>
              <a:t>e</a:t>
            </a:r>
            <a:r>
              <a:rPr lang="en-US" altLang="en-US" b="1" baseline="-25000" dirty="0" err="1">
                <a:latin typeface="Courier New" panose="02070309020205020404" pitchFamily="49" charset="0"/>
              </a:rPr>
              <a:t>i</a:t>
            </a:r>
            <a:r>
              <a:rPr lang="en-US" altLang="en-US" b="1" dirty="0">
                <a:latin typeface="Courier New" panose="02070309020205020404" pitchFamily="49" charset="0"/>
              </a:rPr>
              <a:t>) &gt; cost(</a:t>
            </a:r>
            <a:r>
              <a:rPr lang="en-US" altLang="en-US" b="1" dirty="0" err="1">
                <a:latin typeface="Courier New" panose="02070309020205020404" pitchFamily="49" charset="0"/>
              </a:rPr>
              <a:t>e</a:t>
            </a:r>
            <a:r>
              <a:rPr lang="en-US" altLang="en-US" b="1" baseline="-25000" dirty="0" err="1">
                <a:latin typeface="Courier New" panose="02070309020205020404" pitchFamily="49" charset="0"/>
              </a:rPr>
              <a:t>j</a:t>
            </a:r>
            <a:r>
              <a:rPr lang="en-US" altLang="en-US" b="1" dirty="0">
                <a:latin typeface="Courier New" panose="02070309020205020404" pitchFamily="49" charset="0"/>
              </a:rPr>
              <a:t>)) </a:t>
            </a:r>
            <a:r>
              <a:rPr lang="en-US" altLang="en-US" b="1" dirty="0">
                <a:solidFill>
                  <a:srgbClr val="003399"/>
                </a:solidFill>
                <a:latin typeface="Courier New" panose="02070309020205020404" pitchFamily="49" charset="0"/>
              </a:rPr>
              <a:t>return</a:t>
            </a:r>
            <a:r>
              <a:rPr lang="en-US" altLang="en-US" b="1" dirty="0">
                <a:latin typeface="Courier New" panose="02070309020205020404" pitchFamily="49" charset="0"/>
              </a:rPr>
              <a:t> false</a:t>
            </a:r>
          </a:p>
          <a:p>
            <a:r>
              <a:rPr lang="en-US" altLang="en-US" b="1" dirty="0">
                <a:latin typeface="Courier New" panose="02070309020205020404" pitchFamily="49" charset="0"/>
              </a:rPr>
              <a:t>   </a:t>
            </a:r>
            <a:r>
              <a:rPr lang="en-US" altLang="en-US" b="1" dirty="0">
                <a:solidFill>
                  <a:srgbClr val="003399"/>
                </a:solidFill>
                <a:latin typeface="Courier New" panose="02070309020205020404" pitchFamily="49" charset="0"/>
              </a:rPr>
              <a:t>else if </a:t>
            </a:r>
            <a:r>
              <a:rPr lang="en-US" altLang="en-US" b="1" dirty="0">
                <a:latin typeface="Courier New" panose="02070309020205020404" pitchFamily="49" charset="0"/>
              </a:rPr>
              <a:t>(</a:t>
            </a:r>
            <a:r>
              <a:rPr lang="en-US" altLang="en-US" b="1" dirty="0" err="1">
                <a:latin typeface="Courier New" panose="02070309020205020404" pitchFamily="49" charset="0"/>
              </a:rPr>
              <a:t>i</a:t>
            </a:r>
            <a:r>
              <a:rPr lang="en-US" altLang="en-US" b="1" dirty="0">
                <a:latin typeface="Courier New" panose="02070309020205020404" pitchFamily="49" charset="0"/>
              </a:rPr>
              <a:t> &lt; j)               </a:t>
            </a:r>
            <a:r>
              <a:rPr lang="en-US" altLang="en-US" b="1" dirty="0">
                <a:solidFill>
                  <a:srgbClr val="003399"/>
                </a:solidFill>
                <a:latin typeface="Courier New" panose="02070309020205020404" pitchFamily="49" charset="0"/>
              </a:rPr>
              <a:t>return</a:t>
            </a:r>
            <a:r>
              <a:rPr lang="en-US" altLang="en-US" b="1" dirty="0">
                <a:latin typeface="Courier New" panose="02070309020205020404" pitchFamily="49" charset="0"/>
              </a:rPr>
              <a:t> true</a:t>
            </a:r>
          </a:p>
          <a:p>
            <a:r>
              <a:rPr lang="en-US" altLang="en-US" b="1" dirty="0">
                <a:latin typeface="Courier New" panose="02070309020205020404" pitchFamily="49" charset="0"/>
              </a:rPr>
              <a:t>   </a:t>
            </a:r>
            <a:r>
              <a:rPr lang="en-US" altLang="en-US" b="1" dirty="0">
                <a:solidFill>
                  <a:srgbClr val="003399"/>
                </a:solidFill>
                <a:latin typeface="Courier New" panose="02070309020205020404" pitchFamily="49" charset="0"/>
              </a:rPr>
              <a:t>else            </a:t>
            </a:r>
            <a:r>
              <a:rPr lang="en-US" altLang="en-US" b="1" dirty="0">
                <a:latin typeface="Courier New" panose="02070309020205020404" pitchFamily="49" charset="0"/>
              </a:rPr>
              <a:t>              </a:t>
            </a:r>
            <a:r>
              <a:rPr lang="en-US" altLang="en-US" b="1" dirty="0">
                <a:solidFill>
                  <a:srgbClr val="003399"/>
                </a:solidFill>
                <a:latin typeface="Courier New" panose="02070309020205020404" pitchFamily="49" charset="0"/>
              </a:rPr>
              <a:t>return</a:t>
            </a:r>
            <a:r>
              <a:rPr lang="en-US" altLang="en-US" b="1" dirty="0">
                <a:latin typeface="Courier New" panose="02070309020205020404" pitchFamily="49" charset="0"/>
              </a:rPr>
              <a:t> false</a:t>
            </a:r>
          </a:p>
          <a:p>
            <a:r>
              <a:rPr lang="en-US" altLang="en-US" b="1" dirty="0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23" grpId="0" uiExpand="1" build="p"/>
      <p:bldP spid="6963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FA58-59B8-4EFD-BF2B-069C45712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4FEF-F44A-4071-922A-E51980E95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6868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Three basic greedy approaches </a:t>
            </a:r>
          </a:p>
          <a:p>
            <a:r>
              <a:rPr lang="en-US" dirty="0"/>
              <a:t>Prim’s: grow a tree from a node a la Dijkstra. Implementation uses binary heap. Proof uses cut/cycle property.</a:t>
            </a:r>
          </a:p>
          <a:p>
            <a:r>
              <a:rPr lang="en-US" dirty="0"/>
              <a:t>Kruskal’s: add edges in increasing order of weight unless addition creates a cycle. Implementation requires sorting and uses Union-Find. Proof uses cut/cycle property.</a:t>
            </a:r>
          </a:p>
          <a:p>
            <a:r>
              <a:rPr lang="en-US" dirty="0"/>
              <a:t>Reverse-delete: remove edges in decreasing order so long as the graph doesn’t disconnect. Proof </a:t>
            </a:r>
            <a:r>
              <a:rPr lang="en-US"/>
              <a:t>uses cut/cycle </a:t>
            </a:r>
            <a:r>
              <a:rPr lang="en-US" dirty="0"/>
              <a:t>property.</a:t>
            </a:r>
          </a:p>
          <a:p>
            <a:r>
              <a:rPr lang="en-US" dirty="0"/>
              <a:t>Main Takeaway: Several greedy approaches work for finding the MST. The proofs are simplified by assuming the edges have distinct weights, and this assumption is easily relaxed. </a:t>
            </a:r>
          </a:p>
        </p:txBody>
      </p:sp>
    </p:spTree>
    <p:extLst>
      <p:ext uri="{BB962C8B-B14F-4D97-AF65-F5344CB8AC3E}">
        <p14:creationId xmlns:p14="http://schemas.microsoft.com/office/powerpoint/2010/main" val="4014147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5193</TotalTime>
  <Words>873</Words>
  <Application>Microsoft Office PowerPoint</Application>
  <PresentationFormat>Widescreen</PresentationFormat>
  <Paragraphs>115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Courier New</vt:lpstr>
      <vt:lpstr>Calibri Light</vt:lpstr>
      <vt:lpstr>Office Theme</vt:lpstr>
      <vt:lpstr>Office Theme</vt:lpstr>
      <vt:lpstr>CS5800 – ALGORITHMS  MODULE 7. GREEDY ALGORITHMS - II  Lesson 3: Prim &amp; Kruskal</vt:lpstr>
      <vt:lpstr>Topics</vt:lpstr>
      <vt:lpstr>Prim's Algorithm:  Proof of Correctness</vt:lpstr>
      <vt:lpstr>Prim's Algorithm: Implementation</vt:lpstr>
      <vt:lpstr>Prim's Algorithm: Complexity</vt:lpstr>
      <vt:lpstr>Kruskal's Algorithm:  Proof of Correctness</vt:lpstr>
      <vt:lpstr>Kruskal's Algorithm: Implementation:</vt:lpstr>
      <vt:lpstr>Kruskal's Algorithm: Complexity</vt:lpstr>
      <vt:lpstr>Reverse-delete Algorithm: Correctness &amp; Complexity</vt:lpstr>
      <vt:lpstr>Distinct edge weights – removing assumption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CS5800 – ALGORITHMS  2. NUMBER-THEORETIC</dc:title>
  <dc:creator>koods koods</dc:creator>
  <cp:lastModifiedBy>Sundaram, Ravi</cp:lastModifiedBy>
  <cp:revision>20</cp:revision>
  <dcterms:created xsi:type="dcterms:W3CDTF">2019-09-13T03:48:54Z</dcterms:created>
  <dcterms:modified xsi:type="dcterms:W3CDTF">2022-10-07T04:07:00Z</dcterms:modified>
</cp:coreProperties>
</file>