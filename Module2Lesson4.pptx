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Cambria Math"/>
      <p:regular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9" roundtripDataSignature="AMtx7mij5KZdp3kbpW2CVDGESUsiGaAOs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Sulo Turner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customschemas.google.com/relationships/presentationmetadata" Target="metadata"/><Relationship Id="rId6" Type="http://schemas.openxmlformats.org/officeDocument/2006/relationships/notesMaster" Target="notesMasters/notesMaster1.xml"/><Relationship Id="rId18" Type="http://schemas.openxmlformats.org/officeDocument/2006/relationships/font" Target="fonts/CambriaMath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0-09-11T19:52:37.821">
    <p:pos x="5394" y="122"/>
    <p:text>Alt text: An illustration of a clock with no hands.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KPlc_hg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0-09-11T19:52:50.680">
    <p:pos x="5394" y="122"/>
    <p:text>Alt text: An illustration of a clock with no hands.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KPlc_hk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2 Content" showMasterSp="0" type="txAndTwoObj">
  <p:cSld name="TEXT_AND_TWO_OBJECTS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609600" y="1600200"/>
            <a:ext cx="5384800" cy="45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7"/>
          <p:cNvSpPr txBox="1"/>
          <p:nvPr>
            <p:ph idx="2" type="body"/>
          </p:nvPr>
        </p:nvSpPr>
        <p:spPr>
          <a:xfrm>
            <a:off x="6197600" y="1600200"/>
            <a:ext cx="5384800" cy="2190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7"/>
          <p:cNvSpPr txBox="1"/>
          <p:nvPr>
            <p:ph idx="3" type="body"/>
          </p:nvPr>
        </p:nvSpPr>
        <p:spPr>
          <a:xfrm>
            <a:off x="6197600" y="3943350"/>
            <a:ext cx="5384800" cy="2190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17"/>
          <p:cNvSpPr txBox="1"/>
          <p:nvPr>
            <p:ph idx="10" type="dt"/>
          </p:nvPr>
        </p:nvSpPr>
        <p:spPr>
          <a:xfrm>
            <a:off x="609600" y="6243638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1.xml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2.xml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"/>
          <p:cNvSpPr txBox="1"/>
          <p:nvPr>
            <p:ph type="ctrTitle"/>
          </p:nvPr>
        </p:nvSpPr>
        <p:spPr>
          <a:xfrm>
            <a:off x="1452819" y="1204598"/>
            <a:ext cx="9144000" cy="38437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u="sng"/>
              <a:t>CS5800 – ALGORITHMS</a:t>
            </a:r>
            <a:br>
              <a:rPr lang="en-US" sz="4000"/>
            </a:br>
            <a:br>
              <a:rPr lang="en-US" sz="4000"/>
            </a:br>
            <a:r>
              <a:rPr lang="en-US" sz="4000"/>
              <a:t>MODULE 2. COMPLEXITY </a:t>
            </a:r>
            <a:br>
              <a:rPr lang="en-US" sz="4000"/>
            </a:br>
            <a:r>
              <a:rPr lang="en-US" sz="4000"/>
              <a:t>(AND COMPUTABILITY &amp;</a:t>
            </a:r>
            <a:br>
              <a:rPr lang="en-US" sz="4000"/>
            </a:br>
            <a:r>
              <a:rPr lang="en-US" sz="4000"/>
              <a:t>CRYPTOGRAPHY) </a:t>
            </a:r>
            <a:br>
              <a:rPr lang="en-US" sz="4000"/>
            </a:br>
            <a:br>
              <a:rPr lang="en-US" sz="4000"/>
            </a:br>
            <a:r>
              <a:rPr lang="en-US" sz="4000"/>
              <a:t>Lesson 4: Fast Modular Exponentiation</a:t>
            </a:r>
            <a:endParaRPr/>
          </a:p>
        </p:txBody>
      </p:sp>
      <p:sp>
        <p:nvSpPr>
          <p:cNvPr id="109" name="Google Shape;109;p1"/>
          <p:cNvSpPr txBox="1"/>
          <p:nvPr>
            <p:ph idx="1" type="subTitle"/>
          </p:nvPr>
        </p:nvSpPr>
        <p:spPr>
          <a:xfrm>
            <a:off x="1452819" y="5688991"/>
            <a:ext cx="9144000" cy="4777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u="sng"/>
              <a:t>Ravi Sundaram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Topics</a:t>
            </a:r>
            <a:endParaRPr/>
          </a:p>
        </p:txBody>
      </p:sp>
      <p:sp>
        <p:nvSpPr>
          <p:cNvPr id="115" name="Google Shape;115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Fast modular exponentiation - why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Modular arithmetic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Quotient-remainder theorem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Addition and Multiplication mod 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Fast modular exponentiation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Repeated squaring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Summary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Fast modular exponentiation – why?</a:t>
            </a:r>
            <a:endParaRPr/>
          </a:p>
        </p:txBody>
      </p:sp>
      <p:sp>
        <p:nvSpPr>
          <p:cNvPr id="121" name="Google Shape;121;p3"/>
          <p:cNvSpPr txBox="1"/>
          <p:nvPr>
            <p:ph idx="1" type="body"/>
          </p:nvPr>
        </p:nvSpPr>
        <p:spPr>
          <a:xfrm>
            <a:off x="838200" y="1560503"/>
            <a:ext cx="10515600" cy="5130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Goal: to see an example of a cryptographic protocol – Diffie-Hellman key exchange – that enables a secure Internet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Fast modular exponentiation is a critical component of Diffie-Hellman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Why modular arithmetic?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Because numbers are limited in size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Exponentiation creates colossal output but taking mods prevents overflow  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Why modular exponentiation?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Because the inverse, discrete log, is hard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Modular Arithmetic</a:t>
            </a:r>
            <a:endParaRPr/>
          </a:p>
        </p:txBody>
      </p:sp>
      <p:pic>
        <p:nvPicPr>
          <p:cNvPr descr="A close up of a clock&#10;&#10;Description automatically generated" id="127" name="Google Shape;127;p4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63474" y="193816"/>
            <a:ext cx="3377778" cy="340317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"/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Also known as “clock arithmetic”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Quotient-remainder Theorem</a:t>
            </a:r>
            <a:endParaRPr/>
          </a:p>
          <a:p>
            <a:pPr indent="0" lvl="1" marL="4572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integers a, b &gt; 0, there exist unique q and r such that </a:t>
            </a:r>
            <a:endParaRPr/>
          </a:p>
          <a:p>
            <a:pPr indent="0" lvl="1" marL="4572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= qb + r where 0 ≤ r ≤ b-1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Definition: a ≡ b (mod n) if n | (a – b) </a:t>
            </a:r>
            <a:endParaRPr/>
          </a:p>
          <a:p>
            <a:pPr indent="0" lvl="1" marL="4572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read ≡ as “congruent to”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“a mod n” means the remainder when a is divided by n 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≡ b (mod n) means a and b have the same remainder when divided by n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Modular Arithmetic</a:t>
            </a:r>
            <a:endParaRPr/>
          </a:p>
        </p:txBody>
      </p:sp>
      <p:pic>
        <p:nvPicPr>
          <p:cNvPr descr="A close up of a clock&#10;&#10;Description automatically generated" id="134" name="Google Shape;134;p5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63474" y="193816"/>
            <a:ext cx="3377778" cy="340317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"/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Addition: if a ≡ b (mod n) and c ≡ d (mod n) then 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(a + c) ≡ (b + d) (mod n)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Multiplication: if a ≡ b (mod n) and c ≡ d (mod n) then 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a*c ≡ b*d (mod n)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9876 ≡  6 (mod 10)  and 17642 ≡  2 (mod 10)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=&gt; 9876 + 17642 (mod 10) ≡ 6 + 2 (mod 10) ≡ 8 (mod 10)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Also, 9876 * 17642 (mod 10) ≡ 6 * 2 (mod 10) ≡ 2 (mod 10)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Naive modular exponentiation </a:t>
            </a:r>
            <a:endParaRPr/>
          </a:p>
        </p:txBody>
      </p:sp>
      <p:sp>
        <p:nvSpPr>
          <p:cNvPr id="141" name="Google Shape;141;p6"/>
          <p:cNvSpPr txBox="1"/>
          <p:nvPr>
            <p:ph idx="1" type="body"/>
          </p:nvPr>
        </p:nvSpPr>
        <p:spPr>
          <a:xfrm>
            <a:off x="838200" y="1825625"/>
            <a:ext cx="10515600" cy="4865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Say we wish  to compute 3</a:t>
            </a:r>
            <a:r>
              <a:rPr baseline="30000" lang="en-US"/>
              <a:t>2000</a:t>
            </a:r>
            <a:r>
              <a:rPr lang="en-US"/>
              <a:t> (mod 19) </a:t>
            </a:r>
            <a:endParaRPr/>
          </a:p>
          <a:p>
            <a:pPr indent="-2286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More generally suppose we wish to compute A</a:t>
            </a:r>
            <a:r>
              <a:rPr baseline="30000" lang="en-US"/>
              <a:t>B</a:t>
            </a:r>
            <a:r>
              <a:rPr lang="en-US"/>
              <a:t> mod N</a:t>
            </a:r>
            <a:endParaRPr/>
          </a:p>
          <a:p>
            <a:pPr indent="-508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Doing arithmetic mod N limits the numbers to lie between 0 and N-1</a:t>
            </a:r>
            <a:endParaRPr/>
          </a:p>
          <a:p>
            <a:pPr indent="-2286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If we naively compute A</a:t>
            </a:r>
            <a:r>
              <a:rPr baseline="30000" lang="en-US"/>
              <a:t>B</a:t>
            </a:r>
            <a:r>
              <a:rPr lang="en-US"/>
              <a:t> mod N by repeatedly multiplying A with itself (mod N) B times then the complexity of the algorithm is: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Θ(B*lg</a:t>
            </a:r>
            <a:r>
              <a:rPr baseline="30000" lang="en-US"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 N)</a:t>
            </a:r>
            <a:endParaRPr/>
          </a:p>
          <a:p>
            <a:pPr indent="-2286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But this is exponential in the size of B which is lg B</a:t>
            </a:r>
            <a:endParaRPr/>
          </a:p>
          <a:p>
            <a:pPr indent="-508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How can we speed up the algorithm to make it polynomial-time?</a:t>
            </a:r>
            <a:endParaRPr/>
          </a:p>
          <a:p>
            <a:pPr indent="-508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Fast Modular Exponentiation – Repeated Squaring</a:t>
            </a:r>
            <a:endParaRPr/>
          </a:p>
        </p:txBody>
      </p:sp>
      <p:sp>
        <p:nvSpPr>
          <p:cNvPr id="148" name="Google Shape;148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Compute 3</a:t>
            </a:r>
            <a:r>
              <a:rPr baseline="30000" lang="en-US"/>
              <a:t>2000</a:t>
            </a:r>
            <a:r>
              <a:rPr lang="en-US"/>
              <a:t> (mod 19)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Main Idea: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Get the powers of 3 by repeatedly squaring, but taking mod at each step.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Combine the powers of two to get the required exponent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Example: 2000</a:t>
            </a:r>
            <a:r>
              <a:rPr baseline="-25000" lang="en-US"/>
              <a:t>10</a:t>
            </a:r>
            <a:r>
              <a:rPr lang="en-US"/>
              <a:t> = 11111010000</a:t>
            </a:r>
            <a:r>
              <a:rPr baseline="-25000" lang="en-US"/>
              <a:t>2</a:t>
            </a:r>
            <a:r>
              <a:rPr lang="en-US"/>
              <a:t> (in base 2)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	          = 1024 + 512 + 256 + 128 + 64 + 16                             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                    = 2</a:t>
            </a:r>
            <a:r>
              <a:rPr baseline="30000" lang="en-US"/>
              <a:t>10</a:t>
            </a:r>
            <a:r>
              <a:rPr lang="en-US"/>
              <a:t> + 2</a:t>
            </a:r>
            <a:r>
              <a:rPr baseline="30000" lang="en-US"/>
              <a:t>9</a:t>
            </a:r>
            <a:r>
              <a:rPr lang="en-US"/>
              <a:t> + 2</a:t>
            </a:r>
            <a:r>
              <a:rPr baseline="30000" lang="en-US"/>
              <a:t>8</a:t>
            </a:r>
            <a:r>
              <a:rPr lang="en-US"/>
              <a:t> + 2</a:t>
            </a:r>
            <a:r>
              <a:rPr baseline="30000" lang="en-US"/>
              <a:t>7</a:t>
            </a:r>
            <a:r>
              <a:rPr lang="en-US"/>
              <a:t> + 2</a:t>
            </a:r>
            <a:r>
              <a:rPr baseline="30000" lang="en-US"/>
              <a:t>6</a:t>
            </a:r>
            <a:r>
              <a:rPr lang="en-US"/>
              <a:t> + 2</a:t>
            </a:r>
            <a:r>
              <a:rPr baseline="30000" lang="en-US"/>
              <a:t>4</a:t>
            </a:r>
            <a:endParaRPr/>
          </a:p>
        </p:txBody>
      </p:sp>
      <p:sp>
        <p:nvSpPr>
          <p:cNvPr id="149" name="Google Shape;149;p7"/>
          <p:cNvSpPr txBox="1"/>
          <p:nvPr/>
        </p:nvSpPr>
        <p:spPr>
          <a:xfrm>
            <a:off x="8915400" y="-4763"/>
            <a:ext cx="1752600" cy="460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 b="0" i="0" sz="18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 txBox="1"/>
          <p:nvPr>
            <p:ph type="title"/>
          </p:nvPr>
        </p:nvSpPr>
        <p:spPr>
          <a:xfrm>
            <a:off x="1600200" y="76200"/>
            <a:ext cx="8610600" cy="1341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Modular Exponentiation Technique and Example</a:t>
            </a:r>
            <a:endParaRPr/>
          </a:p>
        </p:txBody>
      </p:sp>
      <p:sp>
        <p:nvSpPr>
          <p:cNvPr id="156" name="Google Shape;156;p8"/>
          <p:cNvSpPr txBox="1"/>
          <p:nvPr>
            <p:ph idx="1" type="body"/>
          </p:nvPr>
        </p:nvSpPr>
        <p:spPr>
          <a:xfrm>
            <a:off x="694468" y="1561872"/>
            <a:ext cx="6407189" cy="45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Compute 3</a:t>
            </a:r>
            <a:r>
              <a:rPr baseline="30000" lang="en-US" sz="2400"/>
              <a:t>2000</a:t>
            </a:r>
            <a:r>
              <a:rPr lang="en-US" sz="2400"/>
              <a:t> (mod 19)</a:t>
            </a:r>
            <a:endParaRPr/>
          </a:p>
          <a:p>
            <a:pPr indent="-762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2286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Technique:</a:t>
            </a:r>
            <a:endParaRPr/>
          </a:p>
          <a:p>
            <a:pPr indent="-228600" lvl="1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Repeatedly square 3, but take mod </a:t>
            </a:r>
            <a:r>
              <a:rPr b="1" i="1" lang="en-US" sz="2000"/>
              <a:t>at each step</a:t>
            </a:r>
            <a:r>
              <a:rPr lang="en-US" sz="2000"/>
              <a:t>.</a:t>
            </a:r>
            <a:endParaRPr/>
          </a:p>
          <a:p>
            <a:pPr indent="0" lvl="1" marL="4572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1" marL="4572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1" marL="4572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1" marL="4572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101600" lvl="1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228600" lvl="1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Then multiply the terms you need to get the desired power.</a:t>
            </a:r>
            <a:endParaRPr/>
          </a:p>
          <a:p>
            <a:pPr indent="-101600" lvl="1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01600" lvl="1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101600" lvl="1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157" name="Google Shape;157;p8"/>
          <p:cNvSpPr txBox="1"/>
          <p:nvPr>
            <p:ph idx="2" type="body"/>
          </p:nvPr>
        </p:nvSpPr>
        <p:spPr>
          <a:xfrm>
            <a:off x="8870228" y="1204702"/>
            <a:ext cx="2808906" cy="3723202"/>
          </a:xfrm>
          <a:prstGeom prst="rect">
            <a:avLst/>
          </a:prstGeom>
          <a:solidFill>
            <a:schemeClr val="dk1">
              <a:alpha val="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70"/>
              <a:buNone/>
            </a:pPr>
            <a:r>
              <a:rPr lang="en-US" sz="2170"/>
              <a:t>3</a:t>
            </a:r>
            <a:r>
              <a:rPr baseline="30000" lang="en-US" sz="2170"/>
              <a:t>2</a:t>
            </a:r>
            <a:r>
              <a:rPr lang="en-US" sz="2170"/>
              <a:t> ≡ 9</a:t>
            </a:r>
            <a:endParaRPr/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70"/>
              <a:buNone/>
            </a:pPr>
            <a:r>
              <a:rPr lang="en-US" sz="2170"/>
              <a:t>3</a:t>
            </a:r>
            <a:r>
              <a:rPr baseline="30000" lang="en-US" sz="2170"/>
              <a:t>4</a:t>
            </a:r>
            <a:r>
              <a:rPr lang="en-US" sz="2170"/>
              <a:t> = 9</a:t>
            </a:r>
            <a:r>
              <a:rPr baseline="30000" lang="en-US" sz="2170"/>
              <a:t>2</a:t>
            </a:r>
            <a:r>
              <a:rPr lang="en-US" sz="2170"/>
              <a:t> ≡ 81 ≡ 5 </a:t>
            </a:r>
            <a:endParaRPr i="1" sz="2170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70"/>
              <a:buNone/>
            </a:pPr>
            <a:r>
              <a:rPr lang="en-US" sz="2170"/>
              <a:t>3</a:t>
            </a:r>
            <a:r>
              <a:rPr baseline="30000" lang="en-US" sz="2170"/>
              <a:t>8</a:t>
            </a:r>
            <a:r>
              <a:rPr lang="en-US" sz="2170"/>
              <a:t> = 5</a:t>
            </a:r>
            <a:r>
              <a:rPr baseline="30000" lang="en-US" sz="2170"/>
              <a:t>2</a:t>
            </a:r>
            <a:r>
              <a:rPr lang="en-US" sz="2170"/>
              <a:t> ≡ 25 ≡ 6</a:t>
            </a:r>
            <a:endParaRPr/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70"/>
              <a:buNone/>
            </a:pPr>
            <a:r>
              <a:rPr lang="en-US" sz="2170"/>
              <a:t>3</a:t>
            </a:r>
            <a:r>
              <a:rPr baseline="30000" lang="en-US" sz="2170"/>
              <a:t>16</a:t>
            </a:r>
            <a:r>
              <a:rPr lang="en-US" sz="2170"/>
              <a:t> = 6</a:t>
            </a:r>
            <a:r>
              <a:rPr baseline="30000" lang="en-US" sz="2170"/>
              <a:t>2</a:t>
            </a:r>
            <a:r>
              <a:rPr lang="en-US" sz="2170"/>
              <a:t> ≡ 36 ≡ 17</a:t>
            </a:r>
            <a:endParaRPr/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70"/>
              <a:buNone/>
            </a:pPr>
            <a:r>
              <a:rPr lang="en-US" sz="2170"/>
              <a:t>3</a:t>
            </a:r>
            <a:r>
              <a:rPr baseline="30000" lang="en-US" sz="2170"/>
              <a:t>32</a:t>
            </a:r>
            <a:r>
              <a:rPr lang="en-US" sz="2170"/>
              <a:t> = 17</a:t>
            </a:r>
            <a:r>
              <a:rPr baseline="30000" lang="en-US" sz="2170"/>
              <a:t>2</a:t>
            </a:r>
            <a:r>
              <a:rPr lang="en-US" sz="2170"/>
              <a:t> ≡ 289 ≡ 4</a:t>
            </a:r>
            <a:endParaRPr/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70"/>
              <a:buNone/>
            </a:pPr>
            <a:r>
              <a:rPr lang="en-US" sz="2170"/>
              <a:t>3</a:t>
            </a:r>
            <a:r>
              <a:rPr baseline="30000" lang="en-US" sz="2170"/>
              <a:t>64</a:t>
            </a:r>
            <a:r>
              <a:rPr lang="en-US" sz="2170"/>
              <a:t> = 4</a:t>
            </a:r>
            <a:r>
              <a:rPr baseline="30000" lang="en-US" sz="2170"/>
              <a:t>2</a:t>
            </a:r>
            <a:r>
              <a:rPr lang="en-US" sz="2170"/>
              <a:t> ≡ 16</a:t>
            </a:r>
            <a:endParaRPr/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70"/>
              <a:buNone/>
            </a:pPr>
            <a:r>
              <a:rPr lang="en-US" sz="2170"/>
              <a:t>3</a:t>
            </a:r>
            <a:r>
              <a:rPr baseline="30000" lang="en-US" sz="2170"/>
              <a:t>128</a:t>
            </a:r>
            <a:r>
              <a:rPr lang="en-US" sz="2170"/>
              <a:t> = 16</a:t>
            </a:r>
            <a:r>
              <a:rPr baseline="30000" lang="en-US" sz="2170"/>
              <a:t>2</a:t>
            </a:r>
            <a:r>
              <a:rPr lang="en-US" sz="2170"/>
              <a:t> ≡ 256 ≡ 9</a:t>
            </a:r>
            <a:endParaRPr/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70"/>
              <a:buNone/>
            </a:pPr>
            <a:r>
              <a:rPr lang="en-US" sz="2170"/>
              <a:t>3</a:t>
            </a:r>
            <a:r>
              <a:rPr baseline="30000" lang="en-US" sz="2170"/>
              <a:t>256</a:t>
            </a:r>
            <a:r>
              <a:rPr lang="en-US" sz="2170"/>
              <a:t> = 9</a:t>
            </a:r>
            <a:r>
              <a:rPr baseline="30000" lang="en-US" sz="2170"/>
              <a:t>2</a:t>
            </a:r>
            <a:r>
              <a:rPr lang="en-US" sz="2170"/>
              <a:t> ≡ 81 ≡ 5</a:t>
            </a:r>
            <a:endParaRPr/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70"/>
              <a:buNone/>
            </a:pPr>
            <a:r>
              <a:rPr lang="en-US" sz="2170"/>
              <a:t>3</a:t>
            </a:r>
            <a:r>
              <a:rPr baseline="30000" lang="en-US" sz="2170"/>
              <a:t>512</a:t>
            </a:r>
            <a:r>
              <a:rPr lang="en-US" sz="2170"/>
              <a:t> = 5</a:t>
            </a:r>
            <a:r>
              <a:rPr baseline="30000" lang="en-US" sz="2170"/>
              <a:t>2</a:t>
            </a:r>
            <a:r>
              <a:rPr lang="en-US" sz="2170"/>
              <a:t> ≡ 25 ≡ 6</a:t>
            </a:r>
            <a:endParaRPr/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70"/>
              <a:buNone/>
            </a:pPr>
            <a:r>
              <a:rPr lang="en-US" sz="2170"/>
              <a:t>3</a:t>
            </a:r>
            <a:r>
              <a:rPr baseline="30000" lang="en-US" sz="2170"/>
              <a:t>1024</a:t>
            </a:r>
            <a:r>
              <a:rPr lang="en-US" sz="2170"/>
              <a:t> = 6</a:t>
            </a:r>
            <a:r>
              <a:rPr baseline="30000" lang="en-US" sz="2170"/>
              <a:t>2</a:t>
            </a:r>
            <a:r>
              <a:rPr lang="en-US" sz="2170"/>
              <a:t> ≡ 36 ≡ 17</a:t>
            </a:r>
            <a:endParaRPr/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70"/>
              <a:buNone/>
            </a:pPr>
            <a:r>
              <a:t/>
            </a:r>
            <a:endParaRPr sz="2170"/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70"/>
              <a:buNone/>
            </a:pPr>
            <a:r>
              <a:t/>
            </a:r>
            <a:endParaRPr sz="2170"/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70"/>
              <a:buNone/>
            </a:pPr>
            <a:r>
              <a:t/>
            </a:r>
            <a:endParaRPr sz="2170"/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70"/>
              <a:buNone/>
            </a:pPr>
            <a:r>
              <a:t/>
            </a:r>
            <a:endParaRPr sz="2170"/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70"/>
              <a:buNone/>
            </a:pPr>
            <a:r>
              <a:t/>
            </a:r>
            <a:endParaRPr sz="2170"/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70"/>
              <a:buNone/>
            </a:pPr>
            <a:r>
              <a:t/>
            </a:r>
            <a:endParaRPr sz="2170"/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70"/>
              <a:buNone/>
            </a:pPr>
            <a:r>
              <a:t/>
            </a:r>
            <a:endParaRPr sz="2170"/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70"/>
              <a:buNone/>
            </a:pPr>
            <a:r>
              <a:t/>
            </a:r>
            <a:endParaRPr sz="2170"/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70"/>
              <a:buNone/>
            </a:pPr>
            <a:r>
              <a:t/>
            </a:r>
            <a:endParaRPr sz="2170"/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70"/>
              <a:buNone/>
            </a:pPr>
            <a:r>
              <a:t/>
            </a:r>
            <a:endParaRPr sz="2170"/>
          </a:p>
        </p:txBody>
      </p:sp>
      <p:sp>
        <p:nvSpPr>
          <p:cNvPr id="158" name="Google Shape;158;p8"/>
          <p:cNvSpPr txBox="1"/>
          <p:nvPr>
            <p:ph idx="3" type="body"/>
          </p:nvPr>
        </p:nvSpPr>
        <p:spPr>
          <a:xfrm>
            <a:off x="2464293" y="5403837"/>
            <a:ext cx="8382571" cy="1383869"/>
          </a:xfrm>
          <a:prstGeom prst="rect">
            <a:avLst/>
          </a:prstGeom>
          <a:solidFill>
            <a:schemeClr val="dk1">
              <a:alpha val="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3</a:t>
            </a:r>
            <a:r>
              <a:rPr baseline="30000" lang="en-US"/>
              <a:t>2000</a:t>
            </a:r>
            <a:r>
              <a:rPr lang="en-US"/>
              <a:t> ≡ (3</a:t>
            </a:r>
            <a:r>
              <a:rPr baseline="30000" lang="en-US"/>
              <a:t>1024</a:t>
            </a:r>
            <a:r>
              <a:rPr lang="en-US"/>
              <a:t>)* (3</a:t>
            </a:r>
            <a:r>
              <a:rPr baseline="30000" lang="en-US"/>
              <a:t>512</a:t>
            </a:r>
            <a:r>
              <a:rPr lang="en-US"/>
              <a:t>)* (3</a:t>
            </a:r>
            <a:r>
              <a:rPr baseline="30000" lang="en-US"/>
              <a:t>256</a:t>
            </a:r>
            <a:r>
              <a:rPr lang="en-US"/>
              <a:t>)* (3</a:t>
            </a:r>
            <a:r>
              <a:rPr baseline="30000" lang="en-US"/>
              <a:t>128</a:t>
            </a:r>
            <a:r>
              <a:rPr lang="en-US"/>
              <a:t>)* (3</a:t>
            </a:r>
            <a:r>
              <a:rPr baseline="30000" lang="en-US"/>
              <a:t>64</a:t>
            </a:r>
            <a:r>
              <a:rPr lang="en-US"/>
              <a:t>)* (3</a:t>
            </a:r>
            <a:r>
              <a:rPr baseline="30000" lang="en-US"/>
              <a:t>16</a:t>
            </a:r>
            <a:r>
              <a:rPr lang="en-US"/>
              <a:t>) </a:t>
            </a:r>
            <a:endParaRPr/>
          </a:p>
          <a:p>
            <a:pPr indent="-2286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≡ 17 * 6 * 5 * 9 * 16 * 17 ≡ 1248480 </a:t>
            </a:r>
            <a:endParaRPr/>
          </a:p>
          <a:p>
            <a:pPr indent="-2286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≡ 9</a:t>
            </a:r>
            <a:endParaRPr i="1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59" name="Google Shape;159;p8"/>
          <p:cNvSpPr txBox="1"/>
          <p:nvPr/>
        </p:nvSpPr>
        <p:spPr>
          <a:xfrm>
            <a:off x="5394326" y="1103314"/>
            <a:ext cx="3211513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(All congruences are mod 19)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19" st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Modular Exponentiation is extremely efficient since the partial results are always small</a:t>
            </a:r>
            <a:endParaRPr/>
          </a:p>
        </p:txBody>
      </p:sp>
      <p:sp>
        <p:nvSpPr>
          <p:cNvPr id="165" name="Google Shape;165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Key idea: use </a:t>
            </a:r>
            <a:r>
              <a:rPr b="1" lang="en-US"/>
              <a:t>repeated squaring</a:t>
            </a:r>
            <a:r>
              <a:rPr lang="en-US"/>
              <a:t> and take mods to reduce size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Repeated Squaring – to compute A</a:t>
            </a:r>
            <a:r>
              <a:rPr baseline="30000" lang="en-US"/>
              <a:t>B</a:t>
            </a:r>
            <a:r>
              <a:rPr lang="en-US"/>
              <a:t> mod 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Represent B in binary, B = B</a:t>
            </a:r>
            <a:r>
              <a:rPr baseline="-25000" lang="en-US"/>
              <a:t>x</a:t>
            </a:r>
            <a:r>
              <a:rPr lang="en-US"/>
              <a:t>B</a:t>
            </a:r>
            <a:r>
              <a:rPr baseline="-25000" lang="en-US"/>
              <a:t>x-1</a:t>
            </a:r>
            <a:r>
              <a:rPr lang="en-US"/>
              <a:t>…B</a:t>
            </a:r>
            <a:r>
              <a:rPr baseline="-25000" lang="en-US"/>
              <a:t>1</a:t>
            </a:r>
            <a:r>
              <a:rPr lang="en-US"/>
              <a:t>B</a:t>
            </a:r>
            <a:r>
              <a:rPr baseline="-25000" lang="en-US"/>
              <a:t>0</a:t>
            </a:r>
            <a:r>
              <a:rPr lang="en-US"/>
              <a:t>, {note x = lg B}</a:t>
            </a:r>
            <a:endParaRPr baseline="-250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Compute A, A</a:t>
            </a:r>
            <a:r>
              <a:rPr baseline="30000" lang="en-US"/>
              <a:t>2</a:t>
            </a:r>
            <a:r>
              <a:rPr lang="en-US"/>
              <a:t> (A</a:t>
            </a:r>
            <a:r>
              <a:rPr baseline="30000" lang="en-US"/>
              <a:t>2</a:t>
            </a:r>
            <a:r>
              <a:rPr lang="en-US"/>
              <a:t>)</a:t>
            </a:r>
            <a:r>
              <a:rPr baseline="30000" lang="en-US"/>
              <a:t>2</a:t>
            </a:r>
            <a:r>
              <a:rPr lang="en-US"/>
              <a:t> = A</a:t>
            </a:r>
            <a:r>
              <a:rPr baseline="30000" lang="en-US"/>
              <a:t>2^2</a:t>
            </a:r>
            <a:r>
              <a:rPr lang="en-US"/>
              <a:t>, A</a:t>
            </a:r>
            <a:r>
              <a:rPr baseline="30000" lang="en-US"/>
              <a:t>2^3</a:t>
            </a:r>
            <a:r>
              <a:rPr lang="en-US"/>
              <a:t> …. A</a:t>
            </a:r>
            <a:r>
              <a:rPr baseline="30000" lang="en-US"/>
              <a:t>2^x</a:t>
            </a:r>
            <a:r>
              <a:rPr lang="en-US"/>
              <a:t>, taking mods at each step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Multiply the powers corresponding to the bits of B that are 1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Correctness – straightforward, since: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A*B mod N = (A mod N) * (B mod N) mod 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Complexity – takes at most 2x modular multiplications of numbers at most the size of N, i.e. O(lg B * (lg N)</a:t>
            </a:r>
            <a:r>
              <a:rPr baseline="30000" lang="en-US"/>
              <a:t>2</a:t>
            </a:r>
            <a:r>
              <a:rPr lang="en-US"/>
              <a:t>)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Alternate way to express Modular Exponentiation through Repeated Squaring</a:t>
            </a:r>
            <a:endParaRPr/>
          </a:p>
        </p:txBody>
      </p:sp>
      <p:sp>
        <p:nvSpPr>
          <p:cNvPr id="171" name="Google Shape;171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Function ModExp(B)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If B = 0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 then return 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ElseIf B mod 2 = 0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 then return ModExp(B/2)^2 mod 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Else return A * ModExp((B-1)/2)^2 mod N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177" name="Google Shape;177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Normal arithmetic can cause overflow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 we use modular arithmetic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are looking for a function that is “one way” i.e. fast to compute in the forward direction but slow in the reverse direction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Modular exponentiation is a candidate since the inverse – discrete log – is slow to compute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But naïve exponentiation is also slow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Key idea: </a:t>
            </a:r>
            <a:r>
              <a:rPr b="1" lang="en-US"/>
              <a:t>repeated squaring</a:t>
            </a:r>
            <a:r>
              <a:rPr lang="en-US"/>
              <a:t> – speeds up modular exponentiation 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2019-09-13T03:48:54Z</dcterms:created>
  <dc:creator>koods koods</dc:creator>
</cp:coreProperties>
</file>