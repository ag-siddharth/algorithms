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16" roundtripDataSignature="AMtx7miDIcYMuUBCvzuOFlhp8benOY3sN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Sulo Turne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0-09-11T19:49:28.217">
    <p:pos x="528" y="230"/>
    <p:text>Alt text. A flow chart is labeled landscape and consists of 5 components. Well-placed mathematical problems is at the top of the chart. On one side of the flow chart, well placed mathematical problems flows to undecided problems and as an example halting problem. On the other side of the chart, well-placed mathematical problems flows to decidable problems. Decidable problems then flows to two other components in the chart. The first is tractable polynomial time, easy. The second is intractable, hard.</p:text>
    <p:extLst>
      <p:ext uri="{C676402C-5697-4E1C-873F-D02D1690AC5C}">
        <p15:threadingInfo timeZoneBias="0"/>
      </p:ext>
      <p:ext uri="http://customooxmlschemas.google.com/">
        <go:slidesCustomData xmlns:go="http://customooxmlschemas.google.com/" commentPostId="AAAAG7l9mfU"/>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0-09-11T19:51:15.996">
    <p:pos x="528" y="230"/>
    <p:text>Alt text. A flow chart is labeled landscape and consists of 5 components. Well-placed mathematical problems is at the top of the chart. On one side of the flow chart, well placed mathematical problems flows to undecided problems and as an example computability theory. On the other side of the chart, well-placed mathematical problems flows to decidable problems. Decidable problems then flows to two other components in the chart. The first is tractable, theory of algorithms. The second is intractable, complexity theory.</p:text>
    <p:extLst>
      <p:ext uri="{C676402C-5697-4E1C-873F-D02D1690AC5C}">
        <p15:threadingInfo timeZoneBias="0"/>
      </p:ext>
      <p:ext uri="http://customooxmlschemas.google.com/">
        <go:slidesCustomData xmlns:go="http://customooxmlschemas.google.com/" commentPostId="AAAAG7l9mf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comments" Target="../comments/commen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1452819" y="1204598"/>
            <a:ext cx="9144000" cy="3843765"/>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000"/>
              <a:buFont typeface="Calibri"/>
              <a:buNone/>
            </a:pPr>
            <a:r>
              <a:rPr lang="en-US" sz="4000" u="sng"/>
              <a:t>CS5800 – ALGORITHMS</a:t>
            </a:r>
            <a:br>
              <a:rPr lang="en-US" sz="4000"/>
            </a:br>
            <a:br>
              <a:rPr lang="en-US" sz="4000"/>
            </a:br>
            <a:r>
              <a:rPr lang="en-US" sz="4000"/>
              <a:t>MODULE 2. COMPLEXITY </a:t>
            </a:r>
            <a:br>
              <a:rPr lang="en-US" sz="4000"/>
            </a:br>
            <a:r>
              <a:rPr lang="en-US" sz="4000"/>
              <a:t>(AND COMPUTABILITY &amp;</a:t>
            </a:r>
            <a:br>
              <a:rPr lang="en-US" sz="4000"/>
            </a:br>
            <a:r>
              <a:rPr lang="en-US" sz="4000"/>
              <a:t>CRYPTOGRAPHY) </a:t>
            </a:r>
            <a:br>
              <a:rPr lang="en-US" sz="4000"/>
            </a:br>
            <a:br>
              <a:rPr lang="en-US" sz="4000"/>
            </a:br>
            <a:r>
              <a:rPr lang="en-US" sz="4000"/>
              <a:t>Lesson 3: Computability</a:t>
            </a:r>
            <a:endParaRPr/>
          </a:p>
        </p:txBody>
      </p:sp>
      <p:sp>
        <p:nvSpPr>
          <p:cNvPr id="101" name="Google Shape;101;p1"/>
          <p:cNvSpPr txBox="1"/>
          <p:nvPr>
            <p:ph idx="1" type="subTitle"/>
          </p:nvPr>
        </p:nvSpPr>
        <p:spPr>
          <a:xfrm>
            <a:off x="1452819" y="5688991"/>
            <a:ext cx="9144000" cy="47773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u="sng"/>
              <a:t>Ravi Sundaram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Topics</a:t>
            </a:r>
            <a:endParaRPr/>
          </a:p>
        </p:txBody>
      </p:sp>
      <p:sp>
        <p:nvSpPr>
          <p:cNvPr id="107" name="Google Shape;10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Basic philosophical issue</a:t>
            </a:r>
            <a:endParaRPr/>
          </a:p>
          <a:p>
            <a:pPr indent="-228600" lvl="0" marL="228600" rtl="0" algn="l">
              <a:lnSpc>
                <a:spcPct val="90000"/>
              </a:lnSpc>
              <a:spcBef>
                <a:spcPts val="1000"/>
              </a:spcBef>
              <a:spcAft>
                <a:spcPts val="0"/>
              </a:spcAft>
              <a:buClr>
                <a:schemeClr val="dk1"/>
              </a:buClr>
              <a:buSzPts val="2800"/>
              <a:buChar char="•"/>
            </a:pPr>
            <a:r>
              <a:rPr lang="en-US"/>
              <a:t>Undecidability</a:t>
            </a:r>
            <a:endParaRPr/>
          </a:p>
          <a:p>
            <a:pPr indent="-228600" lvl="1" marL="685800" rtl="0" algn="l">
              <a:lnSpc>
                <a:spcPct val="90000"/>
              </a:lnSpc>
              <a:spcBef>
                <a:spcPts val="500"/>
              </a:spcBef>
              <a:spcAft>
                <a:spcPts val="0"/>
              </a:spcAft>
              <a:buClr>
                <a:schemeClr val="dk1"/>
              </a:buClr>
              <a:buSzPts val="2400"/>
              <a:buChar char="•"/>
            </a:pPr>
            <a:r>
              <a:rPr lang="en-US"/>
              <a:t>Background</a:t>
            </a:r>
            <a:endParaRPr/>
          </a:p>
          <a:p>
            <a:pPr indent="-228600" lvl="1" marL="685800" rtl="0" algn="l">
              <a:lnSpc>
                <a:spcPct val="90000"/>
              </a:lnSpc>
              <a:spcBef>
                <a:spcPts val="500"/>
              </a:spcBef>
              <a:spcAft>
                <a:spcPts val="0"/>
              </a:spcAft>
              <a:buClr>
                <a:schemeClr val="dk1"/>
              </a:buClr>
              <a:buSzPts val="2400"/>
              <a:buChar char="•"/>
            </a:pPr>
            <a:r>
              <a:rPr lang="en-US"/>
              <a:t>Concept</a:t>
            </a:r>
            <a:endParaRPr/>
          </a:p>
          <a:p>
            <a:pPr indent="-228600" lvl="0" marL="228600" rtl="0" algn="l">
              <a:lnSpc>
                <a:spcPct val="90000"/>
              </a:lnSpc>
              <a:spcBef>
                <a:spcPts val="1000"/>
              </a:spcBef>
              <a:spcAft>
                <a:spcPts val="0"/>
              </a:spcAft>
              <a:buClr>
                <a:schemeClr val="dk1"/>
              </a:buClr>
              <a:buSzPts val="2800"/>
              <a:buChar char="•"/>
            </a:pPr>
            <a:r>
              <a:rPr lang="en-US"/>
              <a:t>Halting problem</a:t>
            </a:r>
            <a:endParaRPr/>
          </a:p>
          <a:p>
            <a:pPr indent="-228600" lvl="0" marL="228600" rtl="0" algn="l">
              <a:lnSpc>
                <a:spcPct val="90000"/>
              </a:lnSpc>
              <a:spcBef>
                <a:spcPts val="1000"/>
              </a:spcBef>
              <a:spcAft>
                <a:spcPts val="0"/>
              </a:spcAft>
              <a:buClr>
                <a:schemeClr val="dk1"/>
              </a:buClr>
              <a:buSzPts val="2800"/>
              <a:buChar char="•"/>
            </a:pPr>
            <a:r>
              <a:rPr lang="en-US"/>
              <a:t>Landscape</a:t>
            </a:r>
            <a:endParaRPr/>
          </a:p>
          <a:p>
            <a:pPr indent="-228600" lvl="0" marL="228600" rtl="0" algn="l">
              <a:lnSpc>
                <a:spcPct val="90000"/>
              </a:lnSpc>
              <a:spcBef>
                <a:spcPts val="1000"/>
              </a:spcBef>
              <a:spcAft>
                <a:spcPts val="0"/>
              </a:spcAft>
              <a:buClr>
                <a:schemeClr val="dk1"/>
              </a:buClr>
              <a:buSzPts val="2800"/>
              <a:buChar char="•"/>
            </a:pPr>
            <a:r>
              <a:rPr lang="en-US"/>
              <a:t>Summary</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b="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Basic philosophical issue</a:t>
            </a:r>
            <a:endParaRPr/>
          </a:p>
        </p:txBody>
      </p:sp>
      <p:sp>
        <p:nvSpPr>
          <p:cNvPr id="113" name="Google Shape;11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Is every well-posed mathematical problem decidable? </a:t>
            </a:r>
            <a:endParaRPr/>
          </a:p>
          <a:p>
            <a:pPr indent="-228600" lvl="0" marL="228600" rtl="0" algn="l">
              <a:lnSpc>
                <a:spcPct val="90000"/>
              </a:lnSpc>
              <a:spcBef>
                <a:spcPts val="1000"/>
              </a:spcBef>
              <a:spcAft>
                <a:spcPts val="0"/>
              </a:spcAft>
              <a:buClr>
                <a:schemeClr val="dk1"/>
              </a:buClr>
              <a:buSzPts val="2800"/>
              <a:buChar char="•"/>
            </a:pPr>
            <a:r>
              <a:rPr lang="en-US"/>
              <a:t>Examples of well-posed mathematical problems </a:t>
            </a:r>
            <a:endParaRPr/>
          </a:p>
          <a:p>
            <a:pPr indent="-228600" lvl="1" marL="685800" rtl="0" algn="l">
              <a:lnSpc>
                <a:spcPct val="90000"/>
              </a:lnSpc>
              <a:spcBef>
                <a:spcPts val="500"/>
              </a:spcBef>
              <a:spcAft>
                <a:spcPts val="0"/>
              </a:spcAft>
              <a:buClr>
                <a:schemeClr val="dk1"/>
              </a:buClr>
              <a:buSzPts val="2400"/>
              <a:buChar char="•"/>
            </a:pPr>
            <a:r>
              <a:rPr lang="en-US"/>
              <a:t>Does x</a:t>
            </a:r>
            <a:r>
              <a:rPr baseline="30000" lang="en-US"/>
              <a:t>4</a:t>
            </a:r>
            <a:r>
              <a:rPr lang="en-US"/>
              <a:t> + y</a:t>
            </a:r>
            <a:r>
              <a:rPr baseline="30000" lang="en-US"/>
              <a:t>4</a:t>
            </a:r>
            <a:r>
              <a:rPr lang="en-US"/>
              <a:t> = z</a:t>
            </a:r>
            <a:r>
              <a:rPr baseline="30000" lang="en-US"/>
              <a:t>4</a:t>
            </a:r>
            <a:r>
              <a:rPr lang="en-US"/>
              <a:t> have solutions over the naturals?</a:t>
            </a:r>
            <a:endParaRPr/>
          </a:p>
          <a:p>
            <a:pPr indent="-228600" lvl="1" marL="685800" rtl="0" algn="l">
              <a:lnSpc>
                <a:spcPct val="90000"/>
              </a:lnSpc>
              <a:spcBef>
                <a:spcPts val="500"/>
              </a:spcBef>
              <a:spcAft>
                <a:spcPts val="0"/>
              </a:spcAft>
              <a:buClr>
                <a:schemeClr val="dk1"/>
              </a:buClr>
              <a:buSzPts val="2400"/>
              <a:buChar char="•"/>
            </a:pPr>
            <a:r>
              <a:rPr lang="en-US"/>
              <a:t>Does there exist a polynomial-time factoring algorithm?</a:t>
            </a:r>
            <a:endParaRPr/>
          </a:p>
          <a:p>
            <a:pPr indent="-228600" lvl="1" marL="685800" rtl="0" algn="l">
              <a:lnSpc>
                <a:spcPct val="90000"/>
              </a:lnSpc>
              <a:spcBef>
                <a:spcPts val="500"/>
              </a:spcBef>
              <a:spcAft>
                <a:spcPts val="0"/>
              </a:spcAft>
              <a:buClr>
                <a:schemeClr val="dk1"/>
              </a:buClr>
              <a:buSzPts val="2400"/>
              <a:buChar char="•"/>
            </a:pPr>
            <a:r>
              <a:rPr lang="en-US"/>
              <a:t>Does every digit occur in the same proportion in the decimal expansion of Π</a:t>
            </a:r>
            <a:endParaRPr/>
          </a:p>
          <a:p>
            <a:pPr indent="-228600" lvl="0" marL="228600" rtl="0" algn="l">
              <a:lnSpc>
                <a:spcPct val="90000"/>
              </a:lnSpc>
              <a:spcBef>
                <a:spcPts val="1000"/>
              </a:spcBef>
              <a:spcAft>
                <a:spcPts val="0"/>
              </a:spcAft>
              <a:buClr>
                <a:schemeClr val="dk1"/>
              </a:buClr>
              <a:buSzPts val="2800"/>
              <a:buChar char="•"/>
            </a:pPr>
            <a:r>
              <a:rPr lang="en-US"/>
              <a:t>Examples of ill-posed or non-mathematical problems</a:t>
            </a:r>
            <a:endParaRPr/>
          </a:p>
          <a:p>
            <a:pPr indent="-228600" lvl="1" marL="685800" rtl="0" algn="l">
              <a:lnSpc>
                <a:spcPct val="90000"/>
              </a:lnSpc>
              <a:spcBef>
                <a:spcPts val="500"/>
              </a:spcBef>
              <a:spcAft>
                <a:spcPts val="0"/>
              </a:spcAft>
              <a:buClr>
                <a:schemeClr val="dk1"/>
              </a:buClr>
              <a:buSzPts val="2400"/>
              <a:buChar char="•"/>
            </a:pPr>
            <a:r>
              <a:rPr lang="en-US"/>
              <a:t>Does god exist?</a:t>
            </a:r>
            <a:endParaRPr/>
          </a:p>
          <a:p>
            <a:pPr indent="-228600" lvl="1" marL="685800" rtl="0" algn="l">
              <a:lnSpc>
                <a:spcPct val="90000"/>
              </a:lnSpc>
              <a:spcBef>
                <a:spcPts val="500"/>
              </a:spcBef>
              <a:spcAft>
                <a:spcPts val="0"/>
              </a:spcAft>
              <a:buClr>
                <a:schemeClr val="dk1"/>
              </a:buClr>
              <a:buSzPts val="2400"/>
              <a:buChar char="•"/>
            </a:pPr>
            <a:r>
              <a:rPr lang="en-US"/>
              <a:t>Can deep networks recognize cats? </a:t>
            </a:r>
            <a:endParaRPr/>
          </a:p>
          <a:p>
            <a:pPr indent="-228600" lvl="1" marL="685800" rtl="0" algn="l">
              <a:lnSpc>
                <a:spcPct val="90000"/>
              </a:lnSpc>
              <a:spcBef>
                <a:spcPts val="500"/>
              </a:spcBef>
              <a:spcAft>
                <a:spcPts val="0"/>
              </a:spcAft>
              <a:buClr>
                <a:schemeClr val="dk1"/>
              </a:buClr>
              <a:buSzPts val="2400"/>
              <a:buChar char="•"/>
            </a:pPr>
            <a:r>
              <a:rPr lang="en-US"/>
              <a:t>Can water spontaneously explode?</a:t>
            </a:r>
            <a:endParaRPr/>
          </a:p>
          <a:p>
            <a:pPr indent="-76200" lvl="1" marL="685800" rtl="0" algn="l">
              <a:lnSpc>
                <a:spcPct val="90000"/>
              </a:lnSpc>
              <a:spcBef>
                <a:spcPts val="500"/>
              </a:spcBef>
              <a:spcAft>
                <a:spcPts val="0"/>
              </a:spcAft>
              <a:buClr>
                <a:schemeClr val="dk1"/>
              </a:buClr>
              <a:buSzPts val="2400"/>
              <a:buNone/>
            </a:pPr>
            <a:r>
              <a:t/>
            </a:r>
            <a:endParaRPr/>
          </a:p>
          <a:p>
            <a:pPr indent="-101600" lvl="2" marL="1143000" rtl="0" algn="l">
              <a:lnSpc>
                <a:spcPct val="90000"/>
              </a:lnSpc>
              <a:spcBef>
                <a:spcPts val="500"/>
              </a:spcBef>
              <a:spcAft>
                <a:spcPts val="0"/>
              </a:spcAft>
              <a:buClr>
                <a:schemeClr val="dk1"/>
              </a:buClr>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Undecidability</a:t>
            </a:r>
            <a:endParaRPr/>
          </a:p>
        </p:txBody>
      </p:sp>
      <p:sp>
        <p:nvSpPr>
          <p:cNvPr id="119" name="Google Shape;119;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 millennia philosophers have pondered about truth and provability</a:t>
            </a:r>
            <a:endParaRPr/>
          </a:p>
          <a:p>
            <a:pPr indent="-228600" lvl="0" marL="228600" rtl="0" algn="l">
              <a:lnSpc>
                <a:spcPct val="90000"/>
              </a:lnSpc>
              <a:spcBef>
                <a:spcPts val="1000"/>
              </a:spcBef>
              <a:spcAft>
                <a:spcPts val="0"/>
              </a:spcAft>
              <a:buClr>
                <a:schemeClr val="dk1"/>
              </a:buClr>
              <a:buSzPts val="2800"/>
              <a:buChar char="•"/>
            </a:pPr>
            <a:r>
              <a:rPr lang="en-US"/>
              <a:t>They wished for a system of logic which would allow all true statements and only true statements to be proved.</a:t>
            </a:r>
            <a:endParaRPr/>
          </a:p>
          <a:p>
            <a:pPr indent="-228600" lvl="0" marL="228600" rtl="0" algn="l">
              <a:lnSpc>
                <a:spcPct val="90000"/>
              </a:lnSpc>
              <a:spcBef>
                <a:spcPts val="1000"/>
              </a:spcBef>
              <a:spcAft>
                <a:spcPts val="0"/>
              </a:spcAft>
              <a:buClr>
                <a:schemeClr val="dk1"/>
              </a:buClr>
              <a:buSzPts val="2800"/>
              <a:buChar char="•"/>
            </a:pPr>
            <a:r>
              <a:rPr lang="en-US"/>
              <a:t>This dream was shattered by Kurt Gödel's tour de force argument in 1931 that showed no such system exists.</a:t>
            </a:r>
            <a:endParaRPr/>
          </a:p>
          <a:p>
            <a:pPr indent="-228600" lvl="0" marL="228600" rtl="0" algn="l">
              <a:lnSpc>
                <a:spcPct val="90000"/>
              </a:lnSpc>
              <a:spcBef>
                <a:spcPts val="1000"/>
              </a:spcBef>
              <a:spcAft>
                <a:spcPts val="0"/>
              </a:spcAft>
              <a:buClr>
                <a:schemeClr val="dk1"/>
              </a:buClr>
              <a:buSzPts val="2800"/>
              <a:buChar char="•"/>
            </a:pPr>
            <a:r>
              <a:rPr lang="en-US"/>
              <a:t>In 1936 Alan Turing, building on work of Kurt Gödel and others, showed that the “halting problem is undecidable”.</a:t>
            </a:r>
            <a:endParaRPr/>
          </a:p>
          <a:p>
            <a:pPr indent="-228600" lvl="0" marL="228600" rtl="0" algn="l">
              <a:lnSpc>
                <a:spcPct val="90000"/>
              </a:lnSpc>
              <a:spcBef>
                <a:spcPts val="1000"/>
              </a:spcBef>
              <a:spcAft>
                <a:spcPts val="0"/>
              </a:spcAft>
              <a:buClr>
                <a:schemeClr val="dk1"/>
              </a:buClr>
              <a:buSzPts val="2800"/>
              <a:buChar char="•"/>
            </a:pPr>
            <a:r>
              <a:rPr lang="en-US"/>
              <a:t>In addition to dramatically shortening  Gödel’s argument this result laid the foundations of the modern computing revolution.</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Undecidability</a:t>
            </a:r>
            <a:endParaRPr/>
          </a:p>
        </p:txBody>
      </p:sp>
      <p:sp>
        <p:nvSpPr>
          <p:cNvPr id="125" name="Google Shape;125;p5"/>
          <p:cNvSpPr txBox="1"/>
          <p:nvPr>
            <p:ph idx="1" type="body"/>
          </p:nvPr>
        </p:nvSpPr>
        <p:spPr>
          <a:xfrm>
            <a:off x="838199" y="1825625"/>
            <a:ext cx="1115851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undecidable problem is a decision(yes/no) problem for which it is proved to be impossible to construct an algorithm that always leads to a correct (yes-or-no) answer </a:t>
            </a:r>
            <a:endParaRPr/>
          </a:p>
          <a:p>
            <a:pPr indent="-228600" lvl="0" marL="228600" rtl="0" algn="l">
              <a:lnSpc>
                <a:spcPct val="90000"/>
              </a:lnSpc>
              <a:spcBef>
                <a:spcPts val="1000"/>
              </a:spcBef>
              <a:spcAft>
                <a:spcPts val="0"/>
              </a:spcAft>
              <a:buClr>
                <a:schemeClr val="dk1"/>
              </a:buClr>
              <a:buSzPts val="2800"/>
              <a:buChar char="•"/>
            </a:pPr>
            <a:r>
              <a:rPr lang="en-US"/>
              <a:t>Alan Turing gave the first instance of an undecidable problem</a:t>
            </a:r>
            <a:endParaRPr/>
          </a:p>
          <a:p>
            <a:pPr indent="-228600" lvl="0" marL="228600" rtl="0" algn="l">
              <a:lnSpc>
                <a:spcPct val="90000"/>
              </a:lnSpc>
              <a:spcBef>
                <a:spcPts val="1000"/>
              </a:spcBef>
              <a:spcAft>
                <a:spcPts val="0"/>
              </a:spcAft>
              <a:buClr>
                <a:schemeClr val="dk1"/>
              </a:buClr>
              <a:buSzPts val="2800"/>
              <a:buChar char="•"/>
            </a:pPr>
            <a:r>
              <a:rPr lang="en-US"/>
              <a:t>Halting problem – given a program P will P halt?</a:t>
            </a:r>
            <a:endParaRPr/>
          </a:p>
          <a:p>
            <a:pPr indent="-228600" lvl="0" marL="228600" rtl="0" algn="l">
              <a:lnSpc>
                <a:spcPct val="90000"/>
              </a:lnSpc>
              <a:spcBef>
                <a:spcPts val="1000"/>
              </a:spcBef>
              <a:spcAft>
                <a:spcPts val="0"/>
              </a:spcAft>
              <a:buClr>
                <a:schemeClr val="dk1"/>
              </a:buClr>
              <a:buSzPts val="2800"/>
              <a:buChar char="•"/>
            </a:pPr>
            <a:r>
              <a:rPr lang="en-US"/>
              <a:t>Other examples: </a:t>
            </a:r>
            <a:endParaRPr/>
          </a:p>
          <a:p>
            <a:pPr indent="-228600" lvl="1" marL="685800" rtl="0" algn="l">
              <a:lnSpc>
                <a:spcPct val="90000"/>
              </a:lnSpc>
              <a:spcBef>
                <a:spcPts val="500"/>
              </a:spcBef>
              <a:spcAft>
                <a:spcPts val="0"/>
              </a:spcAft>
              <a:buClr>
                <a:schemeClr val="dk1"/>
              </a:buClr>
              <a:buSzPts val="2400"/>
              <a:buChar char="•"/>
            </a:pPr>
            <a:r>
              <a:rPr lang="en-US"/>
              <a:t>Diophantine equation: does a given multivariate polynomial have an integral root?</a:t>
            </a:r>
            <a:endParaRPr/>
          </a:p>
          <a:p>
            <a:pPr indent="-228600" lvl="1" marL="685800" rtl="0" algn="l">
              <a:lnSpc>
                <a:spcPct val="90000"/>
              </a:lnSpc>
              <a:spcBef>
                <a:spcPts val="500"/>
              </a:spcBef>
              <a:spcAft>
                <a:spcPts val="0"/>
              </a:spcAft>
              <a:buClr>
                <a:schemeClr val="dk1"/>
              </a:buClr>
              <a:buSzPts val="2400"/>
              <a:buChar char="•"/>
            </a:pPr>
            <a:r>
              <a:rPr lang="en-US"/>
              <a:t>Debugging: is a given program free of bugs?</a:t>
            </a:r>
            <a:endParaRPr/>
          </a:p>
          <a:p>
            <a:pPr indent="-228600" lvl="1" marL="685800" rtl="0" algn="l">
              <a:lnSpc>
                <a:spcPct val="90000"/>
              </a:lnSpc>
              <a:spcBef>
                <a:spcPts val="500"/>
              </a:spcBef>
              <a:spcAft>
                <a:spcPts val="0"/>
              </a:spcAft>
              <a:buClr>
                <a:schemeClr val="dk1"/>
              </a:buClr>
              <a:buSzPts val="2400"/>
              <a:buChar char="•"/>
            </a:pPr>
            <a:r>
              <a:rPr lang="en-US"/>
              <a:t>Mortal matrix: given a collection of matrices is there a way to multiply them (possibly with repetition) in some order to get the zero matrix</a:t>
            </a:r>
            <a:endParaRPr/>
          </a:p>
          <a:p>
            <a:pPr indent="-76200" lvl="1" marL="685800" rtl="0" algn="l">
              <a:lnSpc>
                <a:spcPct val="90000"/>
              </a:lnSpc>
              <a:spcBef>
                <a:spcPts val="500"/>
              </a:spcBef>
              <a:spcAft>
                <a:spcPts val="0"/>
              </a:spcAft>
              <a:buClr>
                <a:schemeClr val="dk1"/>
              </a:buClr>
              <a:buSzPts val="24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Halting Problem - Undecidable</a:t>
            </a:r>
            <a:endParaRPr/>
          </a:p>
        </p:txBody>
      </p:sp>
      <p:sp>
        <p:nvSpPr>
          <p:cNvPr id="131" name="Google Shape;131;p6"/>
          <p:cNvSpPr txBox="1"/>
          <p:nvPr>
            <p:ph idx="1" type="body"/>
          </p:nvPr>
        </p:nvSpPr>
        <p:spPr>
          <a:xfrm>
            <a:off x="838199" y="1825624"/>
            <a:ext cx="10879261" cy="4810619"/>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2380"/>
              <a:buChar char="•"/>
            </a:pPr>
            <a:r>
              <a:rPr lang="en-US" sz="2380"/>
              <a:t>Halting problem - Given a program P does it halt?</a:t>
            </a:r>
            <a:endParaRPr/>
          </a:p>
          <a:p>
            <a:pPr indent="0" lvl="0" marL="0" rtl="0" algn="l">
              <a:lnSpc>
                <a:spcPct val="70000"/>
              </a:lnSpc>
              <a:spcBef>
                <a:spcPts val="1000"/>
              </a:spcBef>
              <a:spcAft>
                <a:spcPts val="0"/>
              </a:spcAft>
              <a:buClr>
                <a:schemeClr val="dk1"/>
              </a:buClr>
              <a:buSzPts val="2380"/>
              <a:buNone/>
            </a:pPr>
            <a:r>
              <a:rPr lang="en-US" sz="2380" u="sng"/>
              <a:t>Theorem</a:t>
            </a:r>
            <a:r>
              <a:rPr lang="en-US" sz="2380"/>
              <a:t>: The halting problem is undecidable</a:t>
            </a:r>
            <a:endParaRPr/>
          </a:p>
          <a:p>
            <a:pPr indent="0" lvl="0" marL="0" rtl="0" algn="l">
              <a:lnSpc>
                <a:spcPct val="70000"/>
              </a:lnSpc>
              <a:spcBef>
                <a:spcPts val="1000"/>
              </a:spcBef>
              <a:spcAft>
                <a:spcPts val="0"/>
              </a:spcAft>
              <a:buClr>
                <a:schemeClr val="dk1"/>
              </a:buClr>
              <a:buSzPts val="2380"/>
              <a:buNone/>
            </a:pPr>
            <a:r>
              <a:rPr lang="en-US" sz="2380" u="sng"/>
              <a:t>Proof</a:t>
            </a:r>
            <a:r>
              <a:rPr lang="en-US" sz="2380"/>
              <a:t>: By contradiction. </a:t>
            </a:r>
            <a:endParaRPr/>
          </a:p>
          <a:p>
            <a:pPr indent="0" lvl="0" marL="0" rtl="0" algn="l">
              <a:lnSpc>
                <a:spcPct val="70000"/>
              </a:lnSpc>
              <a:spcBef>
                <a:spcPts val="1000"/>
              </a:spcBef>
              <a:spcAft>
                <a:spcPts val="0"/>
              </a:spcAft>
              <a:buClr>
                <a:schemeClr val="dk1"/>
              </a:buClr>
              <a:buSzPts val="2380"/>
              <a:buNone/>
            </a:pPr>
            <a:r>
              <a:rPr lang="en-US" sz="2380"/>
              <a:t>If decidable there exists a halting tester H that on any input P correctly says yes if P halts and no if it doesn’t.</a:t>
            </a:r>
            <a:endParaRPr/>
          </a:p>
          <a:p>
            <a:pPr indent="0" lvl="0" marL="0" rtl="0" algn="l">
              <a:lnSpc>
                <a:spcPct val="70000"/>
              </a:lnSpc>
              <a:spcBef>
                <a:spcPts val="1000"/>
              </a:spcBef>
              <a:spcAft>
                <a:spcPts val="0"/>
              </a:spcAft>
              <a:buClr>
                <a:schemeClr val="dk1"/>
              </a:buClr>
              <a:buSzPts val="2380"/>
              <a:buNone/>
            </a:pPr>
            <a:r>
              <a:rPr lang="en-US" sz="2380"/>
              <a:t>   Consider the following program  T:</a:t>
            </a:r>
            <a:endParaRPr/>
          </a:p>
          <a:p>
            <a:pPr indent="0" lvl="0" marL="0" rtl="0" algn="l">
              <a:lnSpc>
                <a:spcPct val="70000"/>
              </a:lnSpc>
              <a:spcBef>
                <a:spcPts val="1000"/>
              </a:spcBef>
              <a:spcAft>
                <a:spcPts val="0"/>
              </a:spcAft>
              <a:buClr>
                <a:schemeClr val="dk1"/>
              </a:buClr>
              <a:buSzPts val="2380"/>
              <a:buNone/>
            </a:pPr>
            <a:r>
              <a:rPr lang="en-US" sz="2380"/>
              <a:t>	Run H on T, i.e., execute H(T). </a:t>
            </a:r>
            <a:endParaRPr/>
          </a:p>
          <a:p>
            <a:pPr indent="0" lvl="0" marL="0" rtl="0" algn="l">
              <a:lnSpc>
                <a:spcPct val="70000"/>
              </a:lnSpc>
              <a:spcBef>
                <a:spcPts val="1000"/>
              </a:spcBef>
              <a:spcAft>
                <a:spcPts val="0"/>
              </a:spcAft>
              <a:buClr>
                <a:schemeClr val="dk1"/>
              </a:buClr>
              <a:buSzPts val="2380"/>
              <a:buNone/>
            </a:pPr>
            <a:r>
              <a:rPr lang="en-US" sz="2380"/>
              <a:t>     	If H(T) says “yes” then go into an infinite loop</a:t>
            </a:r>
            <a:endParaRPr/>
          </a:p>
          <a:p>
            <a:pPr indent="0" lvl="0" marL="0" rtl="0" algn="l">
              <a:lnSpc>
                <a:spcPct val="70000"/>
              </a:lnSpc>
              <a:spcBef>
                <a:spcPts val="1000"/>
              </a:spcBef>
              <a:spcAft>
                <a:spcPts val="0"/>
              </a:spcAft>
              <a:buClr>
                <a:schemeClr val="dk1"/>
              </a:buClr>
              <a:buSzPts val="2380"/>
              <a:buNone/>
            </a:pPr>
            <a:r>
              <a:rPr lang="en-US" sz="2380"/>
              <a:t>                                                 else halt</a:t>
            </a:r>
            <a:endParaRPr/>
          </a:p>
          <a:p>
            <a:pPr indent="0" lvl="0" marL="0" rtl="0" algn="l">
              <a:lnSpc>
                <a:spcPct val="70000"/>
              </a:lnSpc>
              <a:spcBef>
                <a:spcPts val="1000"/>
              </a:spcBef>
              <a:spcAft>
                <a:spcPts val="0"/>
              </a:spcAft>
              <a:buClr>
                <a:schemeClr val="dk1"/>
              </a:buClr>
              <a:buSzPts val="2380"/>
              <a:buNone/>
            </a:pPr>
            <a:r>
              <a:rPr lang="en-US" sz="2380"/>
              <a:t>Observe that if H(T) says “yes” then T doesn’t halt and if H(T) says “no” then T halts. Since we have derived a contradiction from the existence of H it must be the case that such an H cannot exist.                                                                                                                                                           											QED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Landscape</a:t>
            </a:r>
            <a:endParaRPr/>
          </a:p>
        </p:txBody>
      </p:sp>
      <p:grpSp>
        <p:nvGrpSpPr>
          <p:cNvPr id="137" name="Google Shape;137;p7"/>
          <p:cNvGrpSpPr/>
          <p:nvPr/>
        </p:nvGrpSpPr>
        <p:grpSpPr>
          <a:xfrm>
            <a:off x="4324351" y="1476375"/>
            <a:ext cx="3086100" cy="1223962"/>
            <a:chOff x="4324351" y="1476375"/>
            <a:chExt cx="3086100" cy="1223962"/>
          </a:xfrm>
        </p:grpSpPr>
        <p:sp>
          <p:nvSpPr>
            <p:cNvPr id="138" name="Google Shape;138;p7"/>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7"/>
            <p:cNvSpPr txBox="1"/>
            <p:nvPr/>
          </p:nvSpPr>
          <p:spPr>
            <a:xfrm>
              <a:off x="4324351" y="1488191"/>
              <a:ext cx="30861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Well-posed mathematical problems</a:t>
              </a:r>
              <a:endParaRPr/>
            </a:p>
          </p:txBody>
        </p:sp>
      </p:grpSp>
      <p:cxnSp>
        <p:nvCxnSpPr>
          <p:cNvPr id="140" name="Google Shape;140;p7"/>
          <p:cNvCxnSpPr>
            <a:stCxn id="139" idx="2"/>
          </p:cNvCxnSpPr>
          <p:nvPr/>
        </p:nvCxnSpPr>
        <p:spPr>
          <a:xfrm flipH="1">
            <a:off x="2743201" y="2688520"/>
            <a:ext cx="3124200" cy="983400"/>
          </a:xfrm>
          <a:prstGeom prst="straightConnector1">
            <a:avLst/>
          </a:prstGeom>
          <a:noFill/>
          <a:ln cap="flat" cmpd="sng" w="38100">
            <a:solidFill>
              <a:schemeClr val="dk1"/>
            </a:solidFill>
            <a:prstDash val="solid"/>
            <a:miter lim="800000"/>
            <a:headEnd len="sm" w="sm" type="none"/>
            <a:tailEnd len="med" w="med" type="triangle"/>
          </a:ln>
        </p:spPr>
      </p:cxnSp>
      <p:grpSp>
        <p:nvGrpSpPr>
          <p:cNvPr id="141" name="Google Shape;141;p7"/>
          <p:cNvGrpSpPr/>
          <p:nvPr/>
        </p:nvGrpSpPr>
        <p:grpSpPr>
          <a:xfrm>
            <a:off x="838200" y="3765743"/>
            <a:ext cx="3086100" cy="1223962"/>
            <a:chOff x="4324351" y="1476375"/>
            <a:chExt cx="3086100" cy="1223962"/>
          </a:xfrm>
        </p:grpSpPr>
        <p:sp>
          <p:nvSpPr>
            <p:cNvPr id="142" name="Google Shape;142;p7"/>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3" name="Google Shape;143;p7"/>
            <p:cNvSpPr txBox="1"/>
            <p:nvPr/>
          </p:nvSpPr>
          <p:spPr>
            <a:xfrm>
              <a:off x="4324351" y="1488191"/>
              <a:ext cx="30861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Undecidable problems</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e.g., Halting Problem</a:t>
              </a:r>
              <a:endParaRPr/>
            </a:p>
          </p:txBody>
        </p:sp>
      </p:grpSp>
      <p:grpSp>
        <p:nvGrpSpPr>
          <p:cNvPr id="144" name="Google Shape;144;p7"/>
          <p:cNvGrpSpPr/>
          <p:nvPr/>
        </p:nvGrpSpPr>
        <p:grpSpPr>
          <a:xfrm>
            <a:off x="7367588" y="3743649"/>
            <a:ext cx="3086100" cy="1223962"/>
            <a:chOff x="4324351" y="1476375"/>
            <a:chExt cx="3086100" cy="1223962"/>
          </a:xfrm>
        </p:grpSpPr>
        <p:sp>
          <p:nvSpPr>
            <p:cNvPr id="145" name="Google Shape;145;p7"/>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7"/>
            <p:cNvSpPr txBox="1"/>
            <p:nvPr/>
          </p:nvSpPr>
          <p:spPr>
            <a:xfrm>
              <a:off x="4324351" y="1488191"/>
              <a:ext cx="30861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Decidable problems</a:t>
              </a:r>
              <a:endParaRPr/>
            </a:p>
          </p:txBody>
        </p:sp>
      </p:grpSp>
      <p:grpSp>
        <p:nvGrpSpPr>
          <p:cNvPr id="147" name="Google Shape;147;p7"/>
          <p:cNvGrpSpPr/>
          <p:nvPr/>
        </p:nvGrpSpPr>
        <p:grpSpPr>
          <a:xfrm>
            <a:off x="5386099" y="5369808"/>
            <a:ext cx="3086100" cy="1223962"/>
            <a:chOff x="4324351" y="1476375"/>
            <a:chExt cx="3086100" cy="1223962"/>
          </a:xfrm>
        </p:grpSpPr>
        <p:sp>
          <p:nvSpPr>
            <p:cNvPr id="148" name="Google Shape;148;p7"/>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p7"/>
            <p:cNvSpPr txBox="1"/>
            <p:nvPr/>
          </p:nvSpPr>
          <p:spPr>
            <a:xfrm>
              <a:off x="4324351" y="1488191"/>
              <a:ext cx="30861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Tractable</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Polynomial-time</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Easy</a:t>
              </a:r>
              <a:endParaRPr/>
            </a:p>
          </p:txBody>
        </p:sp>
      </p:grpSp>
      <p:grpSp>
        <p:nvGrpSpPr>
          <p:cNvPr id="150" name="Google Shape;150;p7"/>
          <p:cNvGrpSpPr/>
          <p:nvPr/>
        </p:nvGrpSpPr>
        <p:grpSpPr>
          <a:xfrm>
            <a:off x="9003283" y="5357992"/>
            <a:ext cx="3086100" cy="1223962"/>
            <a:chOff x="4324351" y="1476375"/>
            <a:chExt cx="3086100" cy="1223962"/>
          </a:xfrm>
        </p:grpSpPr>
        <p:sp>
          <p:nvSpPr>
            <p:cNvPr id="151" name="Google Shape;151;p7"/>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2" name="Google Shape;152;p7"/>
            <p:cNvSpPr txBox="1"/>
            <p:nvPr/>
          </p:nvSpPr>
          <p:spPr>
            <a:xfrm>
              <a:off x="4324351" y="1488191"/>
              <a:ext cx="30861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Intractable</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Hard</a:t>
              </a:r>
              <a:endParaRPr/>
            </a:p>
          </p:txBody>
        </p:sp>
      </p:grpSp>
      <p:cxnSp>
        <p:nvCxnSpPr>
          <p:cNvPr id="153" name="Google Shape;153;p7"/>
          <p:cNvCxnSpPr>
            <a:stCxn id="139" idx="2"/>
            <a:endCxn id="145" idx="0"/>
          </p:cNvCxnSpPr>
          <p:nvPr/>
        </p:nvCxnSpPr>
        <p:spPr>
          <a:xfrm>
            <a:off x="5867401" y="2688520"/>
            <a:ext cx="3021900" cy="1055100"/>
          </a:xfrm>
          <a:prstGeom prst="straightConnector1">
            <a:avLst/>
          </a:prstGeom>
          <a:noFill/>
          <a:ln cap="flat" cmpd="sng" w="38100">
            <a:solidFill>
              <a:schemeClr val="dk1"/>
            </a:solidFill>
            <a:prstDash val="solid"/>
            <a:miter lim="800000"/>
            <a:headEnd len="sm" w="sm" type="none"/>
            <a:tailEnd len="med" w="med" type="triangle"/>
          </a:ln>
        </p:spPr>
      </p:cxnSp>
      <p:cxnSp>
        <p:nvCxnSpPr>
          <p:cNvPr id="154" name="Google Shape;154;p7"/>
          <p:cNvCxnSpPr/>
          <p:nvPr/>
        </p:nvCxnSpPr>
        <p:spPr>
          <a:xfrm flipH="1">
            <a:off x="6764539" y="4968436"/>
            <a:ext cx="2123076" cy="329611"/>
          </a:xfrm>
          <a:prstGeom prst="straightConnector1">
            <a:avLst/>
          </a:prstGeom>
          <a:noFill/>
          <a:ln cap="flat" cmpd="sng" w="38100">
            <a:solidFill>
              <a:schemeClr val="dk1"/>
            </a:solidFill>
            <a:prstDash val="solid"/>
            <a:miter lim="800000"/>
            <a:headEnd len="sm" w="sm" type="none"/>
            <a:tailEnd len="med" w="med" type="triangle"/>
          </a:ln>
        </p:spPr>
      </p:cxnSp>
      <p:cxnSp>
        <p:nvCxnSpPr>
          <p:cNvPr id="155" name="Google Shape;155;p7"/>
          <p:cNvCxnSpPr/>
          <p:nvPr/>
        </p:nvCxnSpPr>
        <p:spPr>
          <a:xfrm>
            <a:off x="9058117" y="4989705"/>
            <a:ext cx="1596411" cy="308342"/>
          </a:xfrm>
          <a:prstGeom prst="straightConnector1">
            <a:avLst/>
          </a:prstGeom>
          <a:noFill/>
          <a:ln cap="flat" cmpd="sng" w="38100">
            <a:solidFill>
              <a:schemeClr val="dk1"/>
            </a:solidFill>
            <a:prstDash val="solid"/>
            <a:miter lim="800000"/>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extLst>
                  <a:ext uri="http://customooxmlschemas.google.com/">
                    <go:slidesCustomData xmlns:go="http://customooxmlschemas.google.com/" textRoundtripDataId="0"/>
                  </a:ext>
                </a:extLst>
              </a:rPr>
              <a:t>Landscape</a:t>
            </a:r>
            <a:endParaRPr/>
          </a:p>
        </p:txBody>
      </p:sp>
      <p:grpSp>
        <p:nvGrpSpPr>
          <p:cNvPr id="161" name="Google Shape;161;p8"/>
          <p:cNvGrpSpPr/>
          <p:nvPr/>
        </p:nvGrpSpPr>
        <p:grpSpPr>
          <a:xfrm>
            <a:off x="4324351" y="1476375"/>
            <a:ext cx="3086100" cy="1223962"/>
            <a:chOff x="4324351" y="1476375"/>
            <a:chExt cx="3086100" cy="1223962"/>
          </a:xfrm>
        </p:grpSpPr>
        <p:sp>
          <p:nvSpPr>
            <p:cNvPr id="162" name="Google Shape;162;p8"/>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3" name="Google Shape;163;p8"/>
            <p:cNvSpPr txBox="1"/>
            <p:nvPr/>
          </p:nvSpPr>
          <p:spPr>
            <a:xfrm>
              <a:off x="4324351" y="1488191"/>
              <a:ext cx="30861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Well-posed mathematical problems</a:t>
              </a:r>
              <a:endParaRPr/>
            </a:p>
          </p:txBody>
        </p:sp>
      </p:grpSp>
      <p:cxnSp>
        <p:nvCxnSpPr>
          <p:cNvPr id="164" name="Google Shape;164;p8"/>
          <p:cNvCxnSpPr>
            <a:stCxn id="163" idx="2"/>
          </p:cNvCxnSpPr>
          <p:nvPr/>
        </p:nvCxnSpPr>
        <p:spPr>
          <a:xfrm flipH="1">
            <a:off x="2743201" y="2688520"/>
            <a:ext cx="3124200" cy="983400"/>
          </a:xfrm>
          <a:prstGeom prst="straightConnector1">
            <a:avLst/>
          </a:prstGeom>
          <a:noFill/>
          <a:ln cap="flat" cmpd="sng" w="38100">
            <a:solidFill>
              <a:schemeClr val="dk1"/>
            </a:solidFill>
            <a:prstDash val="solid"/>
            <a:miter lim="800000"/>
            <a:headEnd len="sm" w="sm" type="none"/>
            <a:tailEnd len="med" w="med" type="triangle"/>
          </a:ln>
        </p:spPr>
      </p:cxnSp>
      <p:grpSp>
        <p:nvGrpSpPr>
          <p:cNvPr id="165" name="Google Shape;165;p8"/>
          <p:cNvGrpSpPr/>
          <p:nvPr/>
        </p:nvGrpSpPr>
        <p:grpSpPr>
          <a:xfrm>
            <a:off x="838200" y="3765743"/>
            <a:ext cx="3086100" cy="1223962"/>
            <a:chOff x="4324351" y="1476375"/>
            <a:chExt cx="3086100" cy="1223962"/>
          </a:xfrm>
        </p:grpSpPr>
        <p:sp>
          <p:nvSpPr>
            <p:cNvPr id="166" name="Google Shape;166;p8"/>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p8"/>
            <p:cNvSpPr txBox="1"/>
            <p:nvPr/>
          </p:nvSpPr>
          <p:spPr>
            <a:xfrm>
              <a:off x="4324351" y="1488191"/>
              <a:ext cx="30861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Undecidable problems</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Computability Theory</a:t>
              </a:r>
              <a:endParaRPr/>
            </a:p>
          </p:txBody>
        </p:sp>
      </p:grpSp>
      <p:grpSp>
        <p:nvGrpSpPr>
          <p:cNvPr id="168" name="Google Shape;168;p8"/>
          <p:cNvGrpSpPr/>
          <p:nvPr/>
        </p:nvGrpSpPr>
        <p:grpSpPr>
          <a:xfrm>
            <a:off x="7367588" y="3743649"/>
            <a:ext cx="3086100" cy="1223962"/>
            <a:chOff x="4324351" y="1476375"/>
            <a:chExt cx="3086100" cy="1223962"/>
          </a:xfrm>
        </p:grpSpPr>
        <p:sp>
          <p:nvSpPr>
            <p:cNvPr id="169" name="Google Shape;169;p8"/>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0" name="Google Shape;170;p8"/>
            <p:cNvSpPr txBox="1"/>
            <p:nvPr/>
          </p:nvSpPr>
          <p:spPr>
            <a:xfrm>
              <a:off x="4324351" y="1488191"/>
              <a:ext cx="30861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Decidable problems</a:t>
              </a:r>
              <a:endParaRPr/>
            </a:p>
          </p:txBody>
        </p:sp>
      </p:grpSp>
      <p:grpSp>
        <p:nvGrpSpPr>
          <p:cNvPr id="171" name="Google Shape;171;p8"/>
          <p:cNvGrpSpPr/>
          <p:nvPr/>
        </p:nvGrpSpPr>
        <p:grpSpPr>
          <a:xfrm>
            <a:off x="5386099" y="5369808"/>
            <a:ext cx="3086100" cy="1223962"/>
            <a:chOff x="4324351" y="1476375"/>
            <a:chExt cx="3086100" cy="1223962"/>
          </a:xfrm>
        </p:grpSpPr>
        <p:sp>
          <p:nvSpPr>
            <p:cNvPr id="172" name="Google Shape;172;p8"/>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8"/>
            <p:cNvSpPr txBox="1"/>
            <p:nvPr/>
          </p:nvSpPr>
          <p:spPr>
            <a:xfrm>
              <a:off x="4324351" y="1488191"/>
              <a:ext cx="30861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Tractable</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Theory of Algorithms</a:t>
              </a:r>
              <a:endParaRPr/>
            </a:p>
          </p:txBody>
        </p:sp>
      </p:grpSp>
      <p:grpSp>
        <p:nvGrpSpPr>
          <p:cNvPr id="174" name="Google Shape;174;p8"/>
          <p:cNvGrpSpPr/>
          <p:nvPr/>
        </p:nvGrpSpPr>
        <p:grpSpPr>
          <a:xfrm>
            <a:off x="9003283" y="5357992"/>
            <a:ext cx="3086100" cy="1223962"/>
            <a:chOff x="4324351" y="1476375"/>
            <a:chExt cx="3086100" cy="1223962"/>
          </a:xfrm>
        </p:grpSpPr>
        <p:sp>
          <p:nvSpPr>
            <p:cNvPr id="175" name="Google Shape;175;p8"/>
            <p:cNvSpPr/>
            <p:nvPr/>
          </p:nvSpPr>
          <p:spPr>
            <a:xfrm>
              <a:off x="4324351" y="1476375"/>
              <a:ext cx="3043237" cy="1223962"/>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6" name="Google Shape;176;p8"/>
            <p:cNvSpPr txBox="1"/>
            <p:nvPr/>
          </p:nvSpPr>
          <p:spPr>
            <a:xfrm>
              <a:off x="4324351" y="1488191"/>
              <a:ext cx="3086100"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Intractable</a:t>
              </a:r>
              <a:endParaRPr/>
            </a:p>
            <a:p>
              <a:pPr indent="0" lvl="0" marL="0" marR="0" rtl="0" algn="ctr">
                <a:spcBef>
                  <a:spcPts val="0"/>
                </a:spcBef>
                <a:spcAft>
                  <a:spcPts val="0"/>
                </a:spcAft>
                <a:buNone/>
              </a:pPr>
              <a:r>
                <a:rPr b="0" i="0" lang="en-US" sz="2400" u="none" cap="none" strike="noStrike">
                  <a:solidFill>
                    <a:schemeClr val="dk1"/>
                  </a:solidFill>
                  <a:latin typeface="Calibri"/>
                  <a:ea typeface="Calibri"/>
                  <a:cs typeface="Calibri"/>
                  <a:sym typeface="Calibri"/>
                </a:rPr>
                <a:t>Complexity Theory</a:t>
              </a:r>
              <a:endParaRPr/>
            </a:p>
          </p:txBody>
        </p:sp>
      </p:grpSp>
      <p:cxnSp>
        <p:nvCxnSpPr>
          <p:cNvPr id="177" name="Google Shape;177;p8"/>
          <p:cNvCxnSpPr>
            <a:stCxn id="163" idx="2"/>
            <a:endCxn id="169" idx="0"/>
          </p:cNvCxnSpPr>
          <p:nvPr/>
        </p:nvCxnSpPr>
        <p:spPr>
          <a:xfrm>
            <a:off x="5867401" y="2688520"/>
            <a:ext cx="3021900" cy="1055100"/>
          </a:xfrm>
          <a:prstGeom prst="straightConnector1">
            <a:avLst/>
          </a:prstGeom>
          <a:noFill/>
          <a:ln cap="flat" cmpd="sng" w="38100">
            <a:solidFill>
              <a:schemeClr val="dk1"/>
            </a:solidFill>
            <a:prstDash val="solid"/>
            <a:miter lim="800000"/>
            <a:headEnd len="sm" w="sm" type="none"/>
            <a:tailEnd len="med" w="med" type="triangle"/>
          </a:ln>
        </p:spPr>
      </p:cxnSp>
      <p:cxnSp>
        <p:nvCxnSpPr>
          <p:cNvPr id="178" name="Google Shape;178;p8"/>
          <p:cNvCxnSpPr/>
          <p:nvPr/>
        </p:nvCxnSpPr>
        <p:spPr>
          <a:xfrm flipH="1">
            <a:off x="6764539" y="4968436"/>
            <a:ext cx="2123076" cy="329611"/>
          </a:xfrm>
          <a:prstGeom prst="straightConnector1">
            <a:avLst/>
          </a:prstGeom>
          <a:noFill/>
          <a:ln cap="flat" cmpd="sng" w="38100">
            <a:solidFill>
              <a:schemeClr val="dk1"/>
            </a:solidFill>
            <a:prstDash val="solid"/>
            <a:miter lim="800000"/>
            <a:headEnd len="sm" w="sm" type="none"/>
            <a:tailEnd len="med" w="med" type="triangle"/>
          </a:ln>
        </p:spPr>
      </p:cxnSp>
      <p:cxnSp>
        <p:nvCxnSpPr>
          <p:cNvPr id="179" name="Google Shape;179;p8"/>
          <p:cNvCxnSpPr/>
          <p:nvPr/>
        </p:nvCxnSpPr>
        <p:spPr>
          <a:xfrm>
            <a:off x="9058117" y="4989705"/>
            <a:ext cx="1596411" cy="308342"/>
          </a:xfrm>
          <a:prstGeom prst="straightConnector1">
            <a:avLst/>
          </a:prstGeom>
          <a:noFill/>
          <a:ln cap="flat" cmpd="sng" w="38100">
            <a:solidFill>
              <a:schemeClr val="dk1"/>
            </a:solidFill>
            <a:prstDash val="solid"/>
            <a:miter lim="800000"/>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Summary</a:t>
            </a:r>
            <a:endParaRPr/>
          </a:p>
        </p:txBody>
      </p:sp>
      <p:sp>
        <p:nvSpPr>
          <p:cNvPr id="185" name="Google Shape;185;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800"/>
              <a:buChar char="•"/>
            </a:pPr>
            <a:r>
              <a:rPr lang="en-US"/>
              <a:t>Computability theory – study of undecidability</a:t>
            </a:r>
            <a:endParaRPr/>
          </a:p>
          <a:p>
            <a:pPr indent="-228600" lvl="0" marL="228600" rtl="0" algn="l">
              <a:lnSpc>
                <a:spcPct val="80000"/>
              </a:lnSpc>
              <a:spcBef>
                <a:spcPts val="1000"/>
              </a:spcBef>
              <a:spcAft>
                <a:spcPts val="0"/>
              </a:spcAft>
              <a:buClr>
                <a:schemeClr val="dk1"/>
              </a:buClr>
              <a:buSzPts val="2800"/>
              <a:buChar char="•"/>
            </a:pPr>
            <a:r>
              <a:rPr lang="en-US"/>
              <a:t>Complexity theory – study of decidable problems and degrees of intractability</a:t>
            </a:r>
            <a:endParaRPr/>
          </a:p>
          <a:p>
            <a:pPr indent="-228600" lvl="0" marL="228600" rtl="0" algn="l">
              <a:lnSpc>
                <a:spcPct val="80000"/>
              </a:lnSpc>
              <a:spcBef>
                <a:spcPts val="1000"/>
              </a:spcBef>
              <a:spcAft>
                <a:spcPts val="0"/>
              </a:spcAft>
              <a:buClr>
                <a:schemeClr val="dk1"/>
              </a:buClr>
              <a:buSzPts val="2800"/>
              <a:buChar char="•"/>
            </a:pPr>
            <a:r>
              <a:rPr lang="en-US"/>
              <a:t>Theory of Algorithms – study of tractable problems</a:t>
            </a:r>
            <a:endParaRPr/>
          </a:p>
          <a:p>
            <a:pPr indent="-50800" lvl="0" marL="228600" rtl="0" algn="l">
              <a:lnSpc>
                <a:spcPct val="80000"/>
              </a:lnSpc>
              <a:spcBef>
                <a:spcPts val="1000"/>
              </a:spcBef>
              <a:spcAft>
                <a:spcPts val="0"/>
              </a:spcAft>
              <a:buClr>
                <a:schemeClr val="dk1"/>
              </a:buClr>
              <a:buSzPts val="2800"/>
              <a:buNone/>
            </a:pPr>
            <a:r>
              <a:t/>
            </a:r>
            <a:endParaRPr/>
          </a:p>
          <a:p>
            <a:pPr indent="-228600" lvl="0" marL="228600" rtl="0" algn="l">
              <a:lnSpc>
                <a:spcPct val="80000"/>
              </a:lnSpc>
              <a:spcBef>
                <a:spcPts val="1000"/>
              </a:spcBef>
              <a:spcAft>
                <a:spcPts val="0"/>
              </a:spcAft>
              <a:buClr>
                <a:schemeClr val="dk1"/>
              </a:buClr>
              <a:buSzPts val="2800"/>
              <a:buChar char="•"/>
            </a:pPr>
            <a:r>
              <a:rPr lang="en-US"/>
              <a:t>Cryptography</a:t>
            </a:r>
            <a:endParaRPr/>
          </a:p>
          <a:p>
            <a:pPr indent="-228600" lvl="1" marL="685800" rtl="0" algn="l">
              <a:lnSpc>
                <a:spcPct val="80000"/>
              </a:lnSpc>
              <a:spcBef>
                <a:spcPts val="500"/>
              </a:spcBef>
              <a:spcAft>
                <a:spcPts val="0"/>
              </a:spcAft>
              <a:buClr>
                <a:schemeClr val="dk1"/>
              </a:buClr>
              <a:buSzPts val="2400"/>
              <a:buChar char="•"/>
            </a:pPr>
            <a:r>
              <a:rPr lang="en-US"/>
              <a:t>Crown jewel of Theoretical CS</a:t>
            </a:r>
            <a:endParaRPr/>
          </a:p>
          <a:p>
            <a:pPr indent="-228600" lvl="1" marL="685800" rtl="0" algn="l">
              <a:lnSpc>
                <a:spcPct val="80000"/>
              </a:lnSpc>
              <a:spcBef>
                <a:spcPts val="500"/>
              </a:spcBef>
              <a:spcAft>
                <a:spcPts val="0"/>
              </a:spcAft>
              <a:buClr>
                <a:schemeClr val="dk1"/>
              </a:buClr>
              <a:buSzPts val="2400"/>
              <a:buChar char="•"/>
            </a:pPr>
            <a:r>
              <a:rPr lang="en-US"/>
              <a:t>Draws heavily from both  the easy and hard sides</a:t>
            </a:r>
            <a:endParaRPr/>
          </a:p>
          <a:p>
            <a:pPr indent="-228600" lvl="1" marL="685800" rtl="0" algn="l">
              <a:lnSpc>
                <a:spcPct val="80000"/>
              </a:lnSpc>
              <a:spcBef>
                <a:spcPts val="500"/>
              </a:spcBef>
              <a:spcAft>
                <a:spcPts val="0"/>
              </a:spcAft>
              <a:buClr>
                <a:schemeClr val="dk1"/>
              </a:buClr>
              <a:buSzPts val="2400"/>
              <a:buChar char="•"/>
            </a:pPr>
            <a:r>
              <a:rPr lang="en-US"/>
              <a:t>Average case</a:t>
            </a:r>
            <a:endParaRPr/>
          </a:p>
          <a:p>
            <a:pPr indent="-228600" lvl="1" marL="685800" rtl="0" algn="l">
              <a:lnSpc>
                <a:spcPct val="80000"/>
              </a:lnSpc>
              <a:spcBef>
                <a:spcPts val="500"/>
              </a:spcBef>
              <a:spcAft>
                <a:spcPts val="0"/>
              </a:spcAft>
              <a:buClr>
                <a:schemeClr val="dk1"/>
              </a:buClr>
              <a:buSzPts val="2400"/>
              <a:buChar char="•"/>
            </a:pPr>
            <a:r>
              <a:rPr lang="en-US"/>
              <a:t>Meta theorem – anything is possible </a:t>
            </a:r>
            <a:endParaRPr/>
          </a:p>
          <a:p>
            <a:pPr indent="-76200" lvl="1" marL="685800" rtl="0" algn="l">
              <a:lnSpc>
                <a:spcPct val="80000"/>
              </a:lnSpc>
              <a:spcBef>
                <a:spcPts val="500"/>
              </a:spcBef>
              <a:spcAft>
                <a:spcPts val="0"/>
              </a:spcAft>
              <a:buClr>
                <a:schemeClr val="dk1"/>
              </a:buClr>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2019-09-13T03:48:54Z</dcterms:created>
  <dc:creator>koods koods</dc:creator>
</cp:coreProperties>
</file>