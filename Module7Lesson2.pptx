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1"/>
  </p:notesMasterIdLst>
  <p:sldIdLst>
    <p:sldId id="257" r:id="rId3"/>
    <p:sldId id="258" r:id="rId4"/>
    <p:sldId id="514" r:id="rId5"/>
    <p:sldId id="515" r:id="rId6"/>
    <p:sldId id="517" r:id="rId7"/>
    <p:sldId id="513" r:id="rId8"/>
    <p:sldId id="516" r:id="rId9"/>
    <p:sldId id="346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7BE0C-16BB-48C8-A16C-DE5F5EF2AD6E}" v="445" dt="2020-09-14T14:40:20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4C57BE0C-16BB-48C8-A16C-DE5F5EF2AD6E}"/>
    <pc:docChg chg="custSel modSld">
      <pc:chgData name="Ravi Sundaram" userId="a7df020c0a403423" providerId="LiveId" clId="{4C57BE0C-16BB-48C8-A16C-DE5F5EF2AD6E}" dt="2020-09-14T14:40:20.888" v="11"/>
      <pc:docMkLst>
        <pc:docMk/>
      </pc:docMkLst>
      <pc:sldChg chg="modSp">
        <pc:chgData name="Ravi Sundaram" userId="a7df020c0a403423" providerId="LiveId" clId="{4C57BE0C-16BB-48C8-A16C-DE5F5EF2AD6E}" dt="2020-09-14T14:40:20.888" v="11"/>
        <pc:sldMkLst>
          <pc:docMk/>
          <pc:sldMk cId="0" sldId="513"/>
        </pc:sldMkLst>
        <pc:spChg chg="mod">
          <ac:chgData name="Ravi Sundaram" userId="a7df020c0a403423" providerId="LiveId" clId="{4C57BE0C-16BB-48C8-A16C-DE5F5EF2AD6E}" dt="2020-09-14T14:40:20.888" v="11"/>
          <ac:spMkLst>
            <pc:docMk/>
            <pc:sldMk cId="0" sldId="513"/>
            <ac:spMk id="27" creationId="{2DA6242E-B8BA-4353-BF24-6D02F4D323AE}"/>
          </ac:spMkLst>
        </pc:spChg>
      </pc:sldChg>
      <pc:sldChg chg="modSp">
        <pc:chgData name="Ravi Sundaram" userId="a7df020c0a403423" providerId="LiveId" clId="{4C57BE0C-16BB-48C8-A16C-DE5F5EF2AD6E}" dt="2020-09-14T14:40:13.119" v="10" actId="27636"/>
        <pc:sldMkLst>
          <pc:docMk/>
          <pc:sldMk cId="0" sldId="516"/>
        </pc:sldMkLst>
        <pc:spChg chg="mod">
          <ac:chgData name="Ravi Sundaram" userId="a7df020c0a403423" providerId="LiveId" clId="{4C57BE0C-16BB-48C8-A16C-DE5F5EF2AD6E}" dt="2020-09-14T14:40:13.119" v="10" actId="27636"/>
          <ac:spMkLst>
            <pc:docMk/>
            <pc:sldMk cId="0" sldId="516"/>
            <ac:spMk id="27" creationId="{5AE47784-D31A-4D3B-B467-3F379C9A4362}"/>
          </ac:spMkLst>
        </pc:spChg>
      </pc:sldChg>
      <pc:sldChg chg="modAnim">
        <pc:chgData name="Ravi Sundaram" userId="a7df020c0a403423" providerId="LiveId" clId="{4C57BE0C-16BB-48C8-A16C-DE5F5EF2AD6E}" dt="2020-09-14T14:38:22.278" v="1"/>
        <pc:sldMkLst>
          <pc:docMk/>
          <pc:sldMk cId="0" sldId="5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>
            <a:extLst>
              <a:ext uri="{FF2B5EF4-FFF2-40B4-BE49-F238E27FC236}">
                <a16:creationId xmlns:a16="http://schemas.microsoft.com/office/drawing/2014/main" id="{AE26FBC6-FE21-408C-8FBC-27380C134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83D77F3C-688B-4855-B82A-7F4B491D1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>
            <a:extLst>
              <a:ext uri="{FF2B5EF4-FFF2-40B4-BE49-F238E27FC236}">
                <a16:creationId xmlns:a16="http://schemas.microsoft.com/office/drawing/2014/main" id="{D42ACEDC-8E03-47BF-8367-73EE04DF48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33F58576-E781-4AE1-825C-49D9FFC60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>
            <a:extLst>
              <a:ext uri="{FF2B5EF4-FFF2-40B4-BE49-F238E27FC236}">
                <a16:creationId xmlns:a16="http://schemas.microsoft.com/office/drawing/2014/main" id="{F224E216-8959-45E8-829D-F4A333700E1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id="{9D2198AD-0A3B-4DC5-8183-FCB3E197B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Note: simplifying assumption guarantees that MST in unique so it make sense to refer to "the MST"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7. GREEDY ALGORITHMS - II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2: Cycles &amp; Cuts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Cycles, cuts and cycle-cut intersection</a:t>
            </a:r>
          </a:p>
          <a:p>
            <a:r>
              <a:rPr lang="en-US" dirty="0"/>
              <a:t>Cut property &amp; proof</a:t>
            </a:r>
          </a:p>
          <a:p>
            <a:r>
              <a:rPr lang="en-US" dirty="0"/>
              <a:t>Cycle property &amp; proof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9" name="Rectangle 3">
            <a:extLst>
              <a:ext uri="{FF2B5EF4-FFF2-40B4-BE49-F238E27FC236}">
                <a16:creationId xmlns:a16="http://schemas.microsoft.com/office/drawing/2014/main" id="{BAF09A42-E26B-4DEA-B0EC-37FBC1960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7462" y="1340715"/>
            <a:ext cx="9590950" cy="704998"/>
          </a:xfrm>
        </p:spPr>
        <p:txBody>
          <a:bodyPr>
            <a:normAutofit/>
          </a:bodyPr>
          <a:lstStyle/>
          <a:p>
            <a:r>
              <a:rPr lang="en-US" altLang="en-US" dirty="0"/>
              <a:t>Cycle.  </a:t>
            </a:r>
            <a:r>
              <a:rPr lang="en-US" altLang="en-US" dirty="0">
                <a:solidFill>
                  <a:schemeClr val="tx1"/>
                </a:solidFill>
              </a:rPr>
              <a:t>Set of edges the form a-b, b-c, c-d, …, y-z, z-a.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60E6AC9B-02E3-41BD-AEEF-618E8F6F7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950" y="38100"/>
            <a:ext cx="10515600" cy="1325563"/>
          </a:xfrm>
        </p:spPr>
        <p:txBody>
          <a:bodyPr/>
          <a:lstStyle/>
          <a:p>
            <a:r>
              <a:rPr lang="en-US" altLang="en-US" dirty="0"/>
              <a:t>Cycles and Cuts</a:t>
            </a:r>
          </a:p>
        </p:txBody>
      </p:sp>
      <p:sp>
        <p:nvSpPr>
          <p:cNvPr id="685060" name="Rectangle 4">
            <a:extLst>
              <a:ext uri="{FF2B5EF4-FFF2-40B4-BE49-F238E27FC236}">
                <a16:creationId xmlns:a16="http://schemas.microsoft.com/office/drawing/2014/main" id="{54663AF5-41EF-4262-B04D-E1E7B0A2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679" y="2890391"/>
            <a:ext cx="4064575" cy="5847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square" lIns="137160" tIns="137160" rIns="137160" bIns="137160" anchor="ctr">
            <a:spAutoFit/>
          </a:bodyPr>
          <a:lstStyle/>
          <a:p>
            <a:r>
              <a:rPr lang="en-US" altLang="en-US" sz="2000" dirty="0"/>
              <a:t>Cycle C  =  1-2, 2-3, 3-4, 4-5, 5-6, 6-1</a:t>
            </a:r>
          </a:p>
        </p:txBody>
      </p:sp>
      <p:sp>
        <p:nvSpPr>
          <p:cNvPr id="685061" name="Oval 5">
            <a:extLst>
              <a:ext uri="{FF2B5EF4-FFF2-40B4-BE49-F238E27FC236}">
                <a16:creationId xmlns:a16="http://schemas.microsoft.com/office/drawing/2014/main" id="{786840B6-74BC-4A03-A5B5-0600BD759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51888" y="4893398"/>
            <a:ext cx="246063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85062" name="Oval 6">
            <a:extLst>
              <a:ext uri="{FF2B5EF4-FFF2-40B4-BE49-F238E27FC236}">
                <a16:creationId xmlns:a16="http://schemas.microsoft.com/office/drawing/2014/main" id="{076B6B05-ADD4-4FAB-BDF7-C9B81EACC3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100" y="4736236"/>
            <a:ext cx="246062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685063" name="Oval 7">
            <a:extLst>
              <a:ext uri="{FF2B5EF4-FFF2-40B4-BE49-F238E27FC236}">
                <a16:creationId xmlns:a16="http://schemas.microsoft.com/office/drawing/2014/main" id="{1406588E-79AF-4792-B83A-1F9C5BDA2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1013" y="6109423"/>
            <a:ext cx="246063" cy="2460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2">
                <a:lumMod val="25000"/>
              </a:schemeClr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85064" name="Oval 8">
            <a:extLst>
              <a:ext uri="{FF2B5EF4-FFF2-40B4-BE49-F238E27FC236}">
                <a16:creationId xmlns:a16="http://schemas.microsoft.com/office/drawing/2014/main" id="{8317C820-ABD5-4489-ABCD-2E86A3D7CB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7525" y="4736236"/>
            <a:ext cx="246062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685065" name="Oval 9">
            <a:extLst>
              <a:ext uri="{FF2B5EF4-FFF2-40B4-BE49-F238E27FC236}">
                <a16:creationId xmlns:a16="http://schemas.microsoft.com/office/drawing/2014/main" id="{688F751E-CC87-4C8D-BC0D-E88087D842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77413" y="5271223"/>
            <a:ext cx="246063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6</a:t>
            </a:r>
          </a:p>
        </p:txBody>
      </p:sp>
      <p:sp>
        <p:nvSpPr>
          <p:cNvPr id="685066" name="Oval 10">
            <a:extLst>
              <a:ext uri="{FF2B5EF4-FFF2-40B4-BE49-F238E27FC236}">
                <a16:creationId xmlns:a16="http://schemas.microsoft.com/office/drawing/2014/main" id="{2E1677D6-41D9-49FE-B048-5B6595661A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36100" y="6160223"/>
            <a:ext cx="246062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7</a:t>
            </a:r>
          </a:p>
        </p:txBody>
      </p:sp>
      <p:sp>
        <p:nvSpPr>
          <p:cNvPr id="685067" name="Oval 11">
            <a:extLst>
              <a:ext uri="{FF2B5EF4-FFF2-40B4-BE49-F238E27FC236}">
                <a16:creationId xmlns:a16="http://schemas.microsoft.com/office/drawing/2014/main" id="{2568861D-7996-4187-92E9-1070B6A50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06225" y="5271224"/>
            <a:ext cx="246062" cy="24923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2">
                <a:lumMod val="25000"/>
              </a:schemeClr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85068" name="Oval 12">
            <a:extLst>
              <a:ext uri="{FF2B5EF4-FFF2-40B4-BE49-F238E27FC236}">
                <a16:creationId xmlns:a16="http://schemas.microsoft.com/office/drawing/2014/main" id="{D8EF66D7-3905-4CF1-9ED2-6D19FD9F93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5888" y="5652223"/>
            <a:ext cx="246063" cy="2460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2">
                <a:lumMod val="25000"/>
              </a:schemeClr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685069" name="AutoShape 13">
            <a:extLst>
              <a:ext uri="{FF2B5EF4-FFF2-40B4-BE49-F238E27FC236}">
                <a16:creationId xmlns:a16="http://schemas.microsoft.com/office/drawing/2014/main" id="{625F6415-287F-4C5C-8D22-AB5398B68EC9}"/>
              </a:ext>
            </a:extLst>
          </p:cNvPr>
          <p:cNvCxnSpPr>
            <a:cxnSpLocks noChangeShapeType="1"/>
            <a:stCxn id="685061" idx="6"/>
            <a:endCxn id="685064" idx="3"/>
          </p:cNvCxnSpPr>
          <p:nvPr/>
        </p:nvCxnSpPr>
        <p:spPr bwMode="auto">
          <a:xfrm flipV="1">
            <a:off x="1497951" y="4945785"/>
            <a:ext cx="446087" cy="71438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0" name="AutoShape 14">
            <a:extLst>
              <a:ext uri="{FF2B5EF4-FFF2-40B4-BE49-F238E27FC236}">
                <a16:creationId xmlns:a16="http://schemas.microsoft.com/office/drawing/2014/main" id="{6513DD7D-65CE-4970-B5A0-E4F1D51EF2FF}"/>
              </a:ext>
            </a:extLst>
          </p:cNvPr>
          <p:cNvCxnSpPr>
            <a:cxnSpLocks noChangeShapeType="1"/>
            <a:stCxn id="685061" idx="5"/>
            <a:endCxn id="685065" idx="1"/>
          </p:cNvCxnSpPr>
          <p:nvPr/>
        </p:nvCxnSpPr>
        <p:spPr bwMode="auto">
          <a:xfrm>
            <a:off x="1461437" y="5102949"/>
            <a:ext cx="852488" cy="2047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1" name="AutoShape 15">
            <a:extLst>
              <a:ext uri="{FF2B5EF4-FFF2-40B4-BE49-F238E27FC236}">
                <a16:creationId xmlns:a16="http://schemas.microsoft.com/office/drawing/2014/main" id="{1C9BA833-3097-4878-8EE4-375D1336B4A8}"/>
              </a:ext>
            </a:extLst>
          </p:cNvPr>
          <p:cNvCxnSpPr>
            <a:cxnSpLocks noChangeShapeType="1"/>
            <a:stCxn id="685061" idx="4"/>
            <a:endCxn id="685066" idx="0"/>
          </p:cNvCxnSpPr>
          <p:nvPr/>
        </p:nvCxnSpPr>
        <p:spPr bwMode="auto">
          <a:xfrm>
            <a:off x="1375713" y="5139461"/>
            <a:ext cx="684213" cy="102076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2" name="AutoShape 16">
            <a:extLst>
              <a:ext uri="{FF2B5EF4-FFF2-40B4-BE49-F238E27FC236}">
                <a16:creationId xmlns:a16="http://schemas.microsoft.com/office/drawing/2014/main" id="{FEBE3F84-3593-450C-ABA1-4427F404A08C}"/>
              </a:ext>
            </a:extLst>
          </p:cNvPr>
          <p:cNvCxnSpPr>
            <a:cxnSpLocks noChangeShapeType="1"/>
            <a:stCxn id="685065" idx="7"/>
            <a:endCxn id="685062" idx="2"/>
          </p:cNvCxnSpPr>
          <p:nvPr/>
        </p:nvCxnSpPr>
        <p:spPr bwMode="auto">
          <a:xfrm flipV="1">
            <a:off x="2486962" y="4860061"/>
            <a:ext cx="2116138" cy="4476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3" name="AutoShape 17">
            <a:extLst>
              <a:ext uri="{FF2B5EF4-FFF2-40B4-BE49-F238E27FC236}">
                <a16:creationId xmlns:a16="http://schemas.microsoft.com/office/drawing/2014/main" id="{33B7A1AC-C46F-4848-97D5-F849F48C682F}"/>
              </a:ext>
            </a:extLst>
          </p:cNvPr>
          <p:cNvCxnSpPr>
            <a:cxnSpLocks noChangeShapeType="1"/>
            <a:stCxn id="685067" idx="7"/>
            <a:endCxn id="685062" idx="4"/>
          </p:cNvCxnSpPr>
          <p:nvPr/>
        </p:nvCxnSpPr>
        <p:spPr bwMode="auto">
          <a:xfrm flipV="1">
            <a:off x="4415775" y="4982299"/>
            <a:ext cx="311150" cy="325437"/>
          </a:xfrm>
          <a:prstGeom prst="straightConnector1">
            <a:avLst/>
          </a:prstGeom>
          <a:noFill/>
          <a:ln w="317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4" name="AutoShape 18">
            <a:extLst>
              <a:ext uri="{FF2B5EF4-FFF2-40B4-BE49-F238E27FC236}">
                <a16:creationId xmlns:a16="http://schemas.microsoft.com/office/drawing/2014/main" id="{78D1107A-8949-4ED5-9F96-8AF440B1C29E}"/>
              </a:ext>
            </a:extLst>
          </p:cNvPr>
          <p:cNvCxnSpPr>
            <a:cxnSpLocks noChangeShapeType="1"/>
            <a:stCxn id="685065" idx="5"/>
            <a:endCxn id="685068" idx="1"/>
          </p:cNvCxnSpPr>
          <p:nvPr/>
        </p:nvCxnSpPr>
        <p:spPr bwMode="auto">
          <a:xfrm>
            <a:off x="2486962" y="5480773"/>
            <a:ext cx="325438" cy="207962"/>
          </a:xfrm>
          <a:prstGeom prst="straightConnector1">
            <a:avLst/>
          </a:prstGeom>
          <a:noFill/>
          <a:ln w="317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5" name="AutoShape 19">
            <a:extLst>
              <a:ext uri="{FF2B5EF4-FFF2-40B4-BE49-F238E27FC236}">
                <a16:creationId xmlns:a16="http://schemas.microsoft.com/office/drawing/2014/main" id="{7AF7492E-A0FB-41A2-96C4-CE4AD298A675}"/>
              </a:ext>
            </a:extLst>
          </p:cNvPr>
          <p:cNvCxnSpPr>
            <a:cxnSpLocks noChangeShapeType="1"/>
            <a:stCxn id="685068" idx="5"/>
            <a:endCxn id="685063" idx="2"/>
          </p:cNvCxnSpPr>
          <p:nvPr/>
        </p:nvCxnSpPr>
        <p:spPr bwMode="auto">
          <a:xfrm>
            <a:off x="2985438" y="5861774"/>
            <a:ext cx="1425575" cy="371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6" name="AutoShape 20">
            <a:extLst>
              <a:ext uri="{FF2B5EF4-FFF2-40B4-BE49-F238E27FC236}">
                <a16:creationId xmlns:a16="http://schemas.microsoft.com/office/drawing/2014/main" id="{40D46AF0-0D29-4834-BB0D-1FCD1E2D6DBD}"/>
              </a:ext>
            </a:extLst>
          </p:cNvPr>
          <p:cNvCxnSpPr>
            <a:cxnSpLocks noChangeShapeType="1"/>
            <a:stCxn id="685068" idx="6"/>
            <a:endCxn id="685067" idx="2"/>
          </p:cNvCxnSpPr>
          <p:nvPr/>
        </p:nvCxnSpPr>
        <p:spPr bwMode="auto">
          <a:xfrm flipV="1">
            <a:off x="3021951" y="5396636"/>
            <a:ext cx="1184275" cy="37941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7" name="AutoShape 21">
            <a:extLst>
              <a:ext uri="{FF2B5EF4-FFF2-40B4-BE49-F238E27FC236}">
                <a16:creationId xmlns:a16="http://schemas.microsoft.com/office/drawing/2014/main" id="{B740EB89-F594-42A1-A6D9-FAC91C467C6E}"/>
              </a:ext>
            </a:extLst>
          </p:cNvPr>
          <p:cNvCxnSpPr>
            <a:cxnSpLocks noChangeShapeType="1"/>
            <a:stCxn id="685067" idx="4"/>
            <a:endCxn id="685063" idx="0"/>
          </p:cNvCxnSpPr>
          <p:nvPr/>
        </p:nvCxnSpPr>
        <p:spPr bwMode="auto">
          <a:xfrm>
            <a:off x="4330051" y="5520461"/>
            <a:ext cx="204787" cy="588963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8" name="AutoShape 22">
            <a:extLst>
              <a:ext uri="{FF2B5EF4-FFF2-40B4-BE49-F238E27FC236}">
                <a16:creationId xmlns:a16="http://schemas.microsoft.com/office/drawing/2014/main" id="{34FEE896-8CED-40D0-9895-431A298EA35E}"/>
              </a:ext>
            </a:extLst>
          </p:cNvPr>
          <p:cNvCxnSpPr>
            <a:cxnSpLocks noChangeAspect="1" noChangeShapeType="1"/>
            <a:stCxn id="685062" idx="3"/>
            <a:endCxn id="685068" idx="7"/>
          </p:cNvCxnSpPr>
          <p:nvPr/>
        </p:nvCxnSpPr>
        <p:spPr bwMode="auto">
          <a:xfrm flipH="1">
            <a:off x="2985438" y="4945785"/>
            <a:ext cx="1654175" cy="742950"/>
          </a:xfrm>
          <a:prstGeom prst="straightConnector1">
            <a:avLst/>
          </a:prstGeom>
          <a:noFill/>
          <a:ln w="317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79" name="AutoShape 23">
            <a:extLst>
              <a:ext uri="{FF2B5EF4-FFF2-40B4-BE49-F238E27FC236}">
                <a16:creationId xmlns:a16="http://schemas.microsoft.com/office/drawing/2014/main" id="{DE293A7B-C5AC-41B7-9F56-10709FE5CAC8}"/>
              </a:ext>
            </a:extLst>
          </p:cNvPr>
          <p:cNvCxnSpPr>
            <a:cxnSpLocks noChangeShapeType="1"/>
            <a:stCxn id="685065" idx="4"/>
            <a:endCxn id="685066" idx="7"/>
          </p:cNvCxnSpPr>
          <p:nvPr/>
        </p:nvCxnSpPr>
        <p:spPr bwMode="auto">
          <a:xfrm flipH="1">
            <a:off x="2145651" y="5517285"/>
            <a:ext cx="255587" cy="6794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80" name="AutoShape 24">
            <a:extLst>
              <a:ext uri="{FF2B5EF4-FFF2-40B4-BE49-F238E27FC236}">
                <a16:creationId xmlns:a16="http://schemas.microsoft.com/office/drawing/2014/main" id="{326EB0AF-9CE9-4BA8-932C-A935C1F967CB}"/>
              </a:ext>
            </a:extLst>
          </p:cNvPr>
          <p:cNvCxnSpPr>
            <a:cxnSpLocks noChangeShapeType="1"/>
            <a:stCxn id="685066" idx="6"/>
            <a:endCxn id="685068" idx="3"/>
          </p:cNvCxnSpPr>
          <p:nvPr/>
        </p:nvCxnSpPr>
        <p:spPr bwMode="auto">
          <a:xfrm flipV="1">
            <a:off x="2182162" y="5861774"/>
            <a:ext cx="630238" cy="422275"/>
          </a:xfrm>
          <a:prstGeom prst="straightConnector1">
            <a:avLst/>
          </a:prstGeom>
          <a:noFill/>
          <a:ln w="317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81" name="AutoShape 25">
            <a:extLst>
              <a:ext uri="{FF2B5EF4-FFF2-40B4-BE49-F238E27FC236}">
                <a16:creationId xmlns:a16="http://schemas.microsoft.com/office/drawing/2014/main" id="{ADFE3EF2-7783-4CFE-8E08-1B80CB2B1BC9}"/>
              </a:ext>
            </a:extLst>
          </p:cNvPr>
          <p:cNvCxnSpPr>
            <a:cxnSpLocks noChangeShapeType="1"/>
            <a:stCxn id="685064" idx="6"/>
            <a:endCxn id="685062" idx="1"/>
          </p:cNvCxnSpPr>
          <p:nvPr/>
        </p:nvCxnSpPr>
        <p:spPr bwMode="auto">
          <a:xfrm flipV="1">
            <a:off x="2153588" y="4772748"/>
            <a:ext cx="2486025" cy="873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82" name="AutoShape 26">
            <a:extLst>
              <a:ext uri="{FF2B5EF4-FFF2-40B4-BE49-F238E27FC236}">
                <a16:creationId xmlns:a16="http://schemas.microsoft.com/office/drawing/2014/main" id="{8EFBB5BD-2AD5-46BA-8D04-209CDB3023FE}"/>
              </a:ext>
            </a:extLst>
          </p:cNvPr>
          <p:cNvCxnSpPr>
            <a:cxnSpLocks noChangeShapeType="1"/>
            <a:stCxn id="685066" idx="6"/>
            <a:endCxn id="685063" idx="3"/>
          </p:cNvCxnSpPr>
          <p:nvPr/>
        </p:nvCxnSpPr>
        <p:spPr bwMode="auto">
          <a:xfrm>
            <a:off x="2182163" y="6284049"/>
            <a:ext cx="2265363" cy="34925"/>
          </a:xfrm>
          <a:prstGeom prst="straightConnector1">
            <a:avLst/>
          </a:prstGeom>
          <a:noFill/>
          <a:ln w="317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5083" name="Rectangle 27">
            <a:extLst>
              <a:ext uri="{FF2B5EF4-FFF2-40B4-BE49-F238E27FC236}">
                <a16:creationId xmlns:a16="http://schemas.microsoft.com/office/drawing/2014/main" id="{32A2FB7E-8530-46D8-BA8E-2D6B2BE74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682" y="5139460"/>
            <a:ext cx="3643963" cy="76328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square" lIns="92075" tIns="73152" rIns="92075" bIns="73152" anchor="ctr">
            <a:spAutoFit/>
          </a:bodyPr>
          <a:lstStyle/>
          <a:p>
            <a:r>
              <a:rPr lang="en-US" altLang="en-US" sz="2000" dirty="0"/>
              <a:t>Cut S       =  { 4, 5, 8 }</a:t>
            </a:r>
          </a:p>
          <a:p>
            <a:r>
              <a:rPr lang="en-US" altLang="en-US" sz="2000" dirty="0"/>
              <a:t>Cutset  D =  5-6, 5-7, 3-4, 3-5, 7-8</a:t>
            </a:r>
          </a:p>
        </p:txBody>
      </p:sp>
      <p:sp>
        <p:nvSpPr>
          <p:cNvPr id="685084" name="Oval 28">
            <a:extLst>
              <a:ext uri="{FF2B5EF4-FFF2-40B4-BE49-F238E27FC236}">
                <a16:creationId xmlns:a16="http://schemas.microsoft.com/office/drawing/2014/main" id="{FB2A975B-58DE-49F0-B43A-3E2BE07239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38406" y="2255264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85085" name="Oval 29">
            <a:extLst>
              <a:ext uri="{FF2B5EF4-FFF2-40B4-BE49-F238E27FC236}">
                <a16:creationId xmlns:a16="http://schemas.microsoft.com/office/drawing/2014/main" id="{3EBA4110-49C0-4007-8B37-38133DB3A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9618" y="2098101"/>
            <a:ext cx="246062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685086" name="Oval 30">
            <a:extLst>
              <a:ext uri="{FF2B5EF4-FFF2-40B4-BE49-F238E27FC236}">
                <a16:creationId xmlns:a16="http://schemas.microsoft.com/office/drawing/2014/main" id="{1ABF7176-6478-49F3-9B76-5C38AE446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7531" y="3471289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685087" name="Oval 31">
            <a:extLst>
              <a:ext uri="{FF2B5EF4-FFF2-40B4-BE49-F238E27FC236}">
                <a16:creationId xmlns:a16="http://schemas.microsoft.com/office/drawing/2014/main" id="{4EBC77F0-2DC9-4B93-8ECF-78D6BAC834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94043" y="2098101"/>
            <a:ext cx="246062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685088" name="Oval 32">
            <a:extLst>
              <a:ext uri="{FF2B5EF4-FFF2-40B4-BE49-F238E27FC236}">
                <a16:creationId xmlns:a16="http://schemas.microsoft.com/office/drawing/2014/main" id="{B7DFC40B-9CC0-445D-A46A-D744B2C8CA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63931" y="2633089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dirty="0"/>
              <a:t>6</a:t>
            </a:r>
          </a:p>
        </p:txBody>
      </p:sp>
      <p:sp>
        <p:nvSpPr>
          <p:cNvPr id="685089" name="Oval 33">
            <a:extLst>
              <a:ext uri="{FF2B5EF4-FFF2-40B4-BE49-F238E27FC236}">
                <a16:creationId xmlns:a16="http://schemas.microsoft.com/office/drawing/2014/main" id="{7C7B7837-EE86-4895-900F-5F13CFA00F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22618" y="3522089"/>
            <a:ext cx="246062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7</a:t>
            </a:r>
          </a:p>
        </p:txBody>
      </p:sp>
      <p:sp>
        <p:nvSpPr>
          <p:cNvPr id="685090" name="Oval 34">
            <a:extLst>
              <a:ext uri="{FF2B5EF4-FFF2-40B4-BE49-F238E27FC236}">
                <a16:creationId xmlns:a16="http://schemas.microsoft.com/office/drawing/2014/main" id="{451529F4-F64E-4D71-81EB-B922DFB0C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2743" y="2633088"/>
            <a:ext cx="246062" cy="24923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685091" name="Oval 35">
            <a:extLst>
              <a:ext uri="{FF2B5EF4-FFF2-40B4-BE49-F238E27FC236}">
                <a16:creationId xmlns:a16="http://schemas.microsoft.com/office/drawing/2014/main" id="{B041DADD-EDAB-4F72-B7A3-337DEA85C6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62406" y="3014089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5</a:t>
            </a:r>
          </a:p>
        </p:txBody>
      </p:sp>
      <p:cxnSp>
        <p:nvCxnSpPr>
          <p:cNvPr id="685092" name="AutoShape 36">
            <a:extLst>
              <a:ext uri="{FF2B5EF4-FFF2-40B4-BE49-F238E27FC236}">
                <a16:creationId xmlns:a16="http://schemas.microsoft.com/office/drawing/2014/main" id="{61AC7467-76F8-47BC-8602-5FE0890AAB3C}"/>
              </a:ext>
            </a:extLst>
          </p:cNvPr>
          <p:cNvCxnSpPr>
            <a:cxnSpLocks noChangeShapeType="1"/>
            <a:stCxn id="685084" idx="6"/>
            <a:endCxn id="685087" idx="3"/>
          </p:cNvCxnSpPr>
          <p:nvPr/>
        </p:nvCxnSpPr>
        <p:spPr bwMode="auto">
          <a:xfrm flipV="1">
            <a:off x="1584469" y="2307652"/>
            <a:ext cx="446087" cy="71437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3" name="AutoShape 37">
            <a:extLst>
              <a:ext uri="{FF2B5EF4-FFF2-40B4-BE49-F238E27FC236}">
                <a16:creationId xmlns:a16="http://schemas.microsoft.com/office/drawing/2014/main" id="{A26758DE-F87C-43E9-86DB-65EDCAA85B01}"/>
              </a:ext>
            </a:extLst>
          </p:cNvPr>
          <p:cNvCxnSpPr>
            <a:cxnSpLocks noChangeShapeType="1"/>
            <a:stCxn id="685084" idx="5"/>
            <a:endCxn id="685088" idx="1"/>
          </p:cNvCxnSpPr>
          <p:nvPr/>
        </p:nvCxnSpPr>
        <p:spPr bwMode="auto">
          <a:xfrm>
            <a:off x="1547955" y="2464813"/>
            <a:ext cx="852488" cy="204788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4" name="AutoShape 38">
            <a:extLst>
              <a:ext uri="{FF2B5EF4-FFF2-40B4-BE49-F238E27FC236}">
                <a16:creationId xmlns:a16="http://schemas.microsoft.com/office/drawing/2014/main" id="{E7E673BF-A06C-41CD-9FBD-AC51B1D03365}"/>
              </a:ext>
            </a:extLst>
          </p:cNvPr>
          <p:cNvCxnSpPr>
            <a:cxnSpLocks noChangeShapeType="1"/>
            <a:stCxn id="685084" idx="4"/>
            <a:endCxn id="685089" idx="0"/>
          </p:cNvCxnSpPr>
          <p:nvPr/>
        </p:nvCxnSpPr>
        <p:spPr bwMode="auto">
          <a:xfrm>
            <a:off x="1462231" y="2501326"/>
            <a:ext cx="684213" cy="1020762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5" name="AutoShape 39">
            <a:extLst>
              <a:ext uri="{FF2B5EF4-FFF2-40B4-BE49-F238E27FC236}">
                <a16:creationId xmlns:a16="http://schemas.microsoft.com/office/drawing/2014/main" id="{62E7E8C5-B2B9-4A4A-9A9C-BECDE9FE5968}"/>
              </a:ext>
            </a:extLst>
          </p:cNvPr>
          <p:cNvCxnSpPr>
            <a:cxnSpLocks noChangeShapeType="1"/>
            <a:stCxn id="685088" idx="7"/>
            <a:endCxn id="685085" idx="2"/>
          </p:cNvCxnSpPr>
          <p:nvPr/>
        </p:nvCxnSpPr>
        <p:spPr bwMode="auto">
          <a:xfrm flipV="1">
            <a:off x="2573480" y="2221927"/>
            <a:ext cx="2116138" cy="447675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6" name="AutoShape 40">
            <a:extLst>
              <a:ext uri="{FF2B5EF4-FFF2-40B4-BE49-F238E27FC236}">
                <a16:creationId xmlns:a16="http://schemas.microsoft.com/office/drawing/2014/main" id="{3A7D7C19-D94A-49FE-A00F-DCF72E829BA0}"/>
              </a:ext>
            </a:extLst>
          </p:cNvPr>
          <p:cNvCxnSpPr>
            <a:cxnSpLocks noChangeShapeType="1"/>
            <a:stCxn id="685090" idx="7"/>
            <a:endCxn id="685085" idx="4"/>
          </p:cNvCxnSpPr>
          <p:nvPr/>
        </p:nvCxnSpPr>
        <p:spPr bwMode="auto">
          <a:xfrm flipV="1">
            <a:off x="4502293" y="2344163"/>
            <a:ext cx="311150" cy="325438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7" name="AutoShape 41">
            <a:extLst>
              <a:ext uri="{FF2B5EF4-FFF2-40B4-BE49-F238E27FC236}">
                <a16:creationId xmlns:a16="http://schemas.microsoft.com/office/drawing/2014/main" id="{58E65897-F17A-4DBB-8A30-3E5D532CC66B}"/>
              </a:ext>
            </a:extLst>
          </p:cNvPr>
          <p:cNvCxnSpPr>
            <a:cxnSpLocks noChangeShapeType="1"/>
            <a:stCxn id="685088" idx="5"/>
            <a:endCxn id="685091" idx="1"/>
          </p:cNvCxnSpPr>
          <p:nvPr/>
        </p:nvCxnSpPr>
        <p:spPr bwMode="auto">
          <a:xfrm>
            <a:off x="2573480" y="2842639"/>
            <a:ext cx="325438" cy="207963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8" name="AutoShape 42">
            <a:extLst>
              <a:ext uri="{FF2B5EF4-FFF2-40B4-BE49-F238E27FC236}">
                <a16:creationId xmlns:a16="http://schemas.microsoft.com/office/drawing/2014/main" id="{9996986C-05D8-47E0-BC2C-B439A279F7E7}"/>
              </a:ext>
            </a:extLst>
          </p:cNvPr>
          <p:cNvCxnSpPr>
            <a:cxnSpLocks noChangeShapeType="1"/>
            <a:stCxn id="685091" idx="5"/>
            <a:endCxn id="685086" idx="2"/>
          </p:cNvCxnSpPr>
          <p:nvPr/>
        </p:nvCxnSpPr>
        <p:spPr bwMode="auto">
          <a:xfrm>
            <a:off x="3071956" y="3223639"/>
            <a:ext cx="1425575" cy="371475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099" name="AutoShape 43">
            <a:extLst>
              <a:ext uri="{FF2B5EF4-FFF2-40B4-BE49-F238E27FC236}">
                <a16:creationId xmlns:a16="http://schemas.microsoft.com/office/drawing/2014/main" id="{B168F81D-6EBF-4994-8EE3-AA0E0234951D}"/>
              </a:ext>
            </a:extLst>
          </p:cNvPr>
          <p:cNvCxnSpPr>
            <a:cxnSpLocks noChangeShapeType="1"/>
            <a:stCxn id="685091" idx="6"/>
            <a:endCxn id="685090" idx="2"/>
          </p:cNvCxnSpPr>
          <p:nvPr/>
        </p:nvCxnSpPr>
        <p:spPr bwMode="auto">
          <a:xfrm flipV="1">
            <a:off x="3108469" y="2758501"/>
            <a:ext cx="1184275" cy="379412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0" name="AutoShape 44">
            <a:extLst>
              <a:ext uri="{FF2B5EF4-FFF2-40B4-BE49-F238E27FC236}">
                <a16:creationId xmlns:a16="http://schemas.microsoft.com/office/drawing/2014/main" id="{A39820EB-4B12-4127-B2D5-B315D2EF81EC}"/>
              </a:ext>
            </a:extLst>
          </p:cNvPr>
          <p:cNvCxnSpPr>
            <a:cxnSpLocks noChangeShapeType="1"/>
            <a:stCxn id="685090" idx="4"/>
            <a:endCxn id="685086" idx="0"/>
          </p:cNvCxnSpPr>
          <p:nvPr/>
        </p:nvCxnSpPr>
        <p:spPr bwMode="auto">
          <a:xfrm>
            <a:off x="4416569" y="2882326"/>
            <a:ext cx="204787" cy="588962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1" name="AutoShape 45">
            <a:extLst>
              <a:ext uri="{FF2B5EF4-FFF2-40B4-BE49-F238E27FC236}">
                <a16:creationId xmlns:a16="http://schemas.microsoft.com/office/drawing/2014/main" id="{07F7178D-531D-48BD-966B-A57032C422E0}"/>
              </a:ext>
            </a:extLst>
          </p:cNvPr>
          <p:cNvCxnSpPr>
            <a:cxnSpLocks noChangeAspect="1" noChangeShapeType="1"/>
            <a:endCxn id="685091" idx="7"/>
          </p:cNvCxnSpPr>
          <p:nvPr/>
        </p:nvCxnSpPr>
        <p:spPr bwMode="auto">
          <a:xfrm flipH="1">
            <a:off x="3071955" y="2312413"/>
            <a:ext cx="1682750" cy="738188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2" name="AutoShape 46">
            <a:extLst>
              <a:ext uri="{FF2B5EF4-FFF2-40B4-BE49-F238E27FC236}">
                <a16:creationId xmlns:a16="http://schemas.microsoft.com/office/drawing/2014/main" id="{98F933AE-7A38-4D17-81A4-6D2193CEE642}"/>
              </a:ext>
            </a:extLst>
          </p:cNvPr>
          <p:cNvCxnSpPr>
            <a:cxnSpLocks noChangeShapeType="1"/>
            <a:stCxn id="685088" idx="4"/>
            <a:endCxn id="685089" idx="7"/>
          </p:cNvCxnSpPr>
          <p:nvPr/>
        </p:nvCxnSpPr>
        <p:spPr bwMode="auto">
          <a:xfrm flipH="1">
            <a:off x="2232169" y="2879151"/>
            <a:ext cx="255587" cy="679450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3" name="AutoShape 47">
            <a:extLst>
              <a:ext uri="{FF2B5EF4-FFF2-40B4-BE49-F238E27FC236}">
                <a16:creationId xmlns:a16="http://schemas.microsoft.com/office/drawing/2014/main" id="{518DF202-F038-4A92-AE35-1759C4DF65EA}"/>
              </a:ext>
            </a:extLst>
          </p:cNvPr>
          <p:cNvCxnSpPr>
            <a:cxnSpLocks noChangeShapeType="1"/>
            <a:stCxn id="685089" idx="6"/>
            <a:endCxn id="685091" idx="2"/>
          </p:cNvCxnSpPr>
          <p:nvPr/>
        </p:nvCxnSpPr>
        <p:spPr bwMode="auto">
          <a:xfrm flipV="1">
            <a:off x="2268681" y="3137913"/>
            <a:ext cx="593725" cy="508000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4" name="AutoShape 48">
            <a:extLst>
              <a:ext uri="{FF2B5EF4-FFF2-40B4-BE49-F238E27FC236}">
                <a16:creationId xmlns:a16="http://schemas.microsoft.com/office/drawing/2014/main" id="{9B450C69-3064-4434-BB3B-67DC87D664C0}"/>
              </a:ext>
            </a:extLst>
          </p:cNvPr>
          <p:cNvCxnSpPr>
            <a:cxnSpLocks noChangeShapeType="1"/>
            <a:stCxn id="685087" idx="6"/>
            <a:endCxn id="685085" idx="1"/>
          </p:cNvCxnSpPr>
          <p:nvPr/>
        </p:nvCxnSpPr>
        <p:spPr bwMode="auto">
          <a:xfrm flipV="1">
            <a:off x="2240106" y="2134614"/>
            <a:ext cx="2486025" cy="87313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5105" name="AutoShape 49">
            <a:extLst>
              <a:ext uri="{FF2B5EF4-FFF2-40B4-BE49-F238E27FC236}">
                <a16:creationId xmlns:a16="http://schemas.microsoft.com/office/drawing/2014/main" id="{57950CD8-0240-46EC-A7D6-46F4526948C6}"/>
              </a:ext>
            </a:extLst>
          </p:cNvPr>
          <p:cNvCxnSpPr>
            <a:cxnSpLocks noChangeShapeType="1"/>
            <a:stCxn id="685089" idx="6"/>
            <a:endCxn id="685086" idx="3"/>
          </p:cNvCxnSpPr>
          <p:nvPr/>
        </p:nvCxnSpPr>
        <p:spPr bwMode="auto">
          <a:xfrm>
            <a:off x="2268681" y="3645914"/>
            <a:ext cx="2265363" cy="34925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" name="Rectangle 3">
            <a:extLst>
              <a:ext uri="{FF2B5EF4-FFF2-40B4-BE49-F238E27FC236}">
                <a16:creationId xmlns:a16="http://schemas.microsoft.com/office/drawing/2014/main" id="{5723CFE1-00A5-4AB5-A9EE-6DE75C542B5A}"/>
              </a:ext>
            </a:extLst>
          </p:cNvPr>
          <p:cNvSpPr txBox="1">
            <a:spLocks noChangeArrowheads="1"/>
          </p:cNvSpPr>
          <p:nvPr/>
        </p:nvSpPr>
        <p:spPr>
          <a:xfrm>
            <a:off x="447462" y="3269458"/>
            <a:ext cx="9590950" cy="1448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/>
          </a:p>
          <a:p>
            <a:r>
              <a:rPr lang="en-US" altLang="en-US" dirty="0"/>
              <a:t>Cutset.  A cut is a subset of nodes S.  The corresponding cutset D is the subset of edges with exactly one endpoint in S.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1" grpId="0" animBg="1"/>
      <p:bldP spid="685062" grpId="0" animBg="1"/>
      <p:bldP spid="685063" grpId="0" animBg="1"/>
      <p:bldP spid="685064" grpId="0" animBg="1"/>
      <p:bldP spid="685065" grpId="0" animBg="1"/>
      <p:bldP spid="685066" grpId="0" animBg="1"/>
      <p:bldP spid="685067" grpId="0" animBg="1"/>
      <p:bldP spid="685068" grpId="0" animBg="1"/>
      <p:bldP spid="685083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Freeform 2">
            <a:extLst>
              <a:ext uri="{FF2B5EF4-FFF2-40B4-BE49-F238E27FC236}">
                <a16:creationId xmlns:a16="http://schemas.microsoft.com/office/drawing/2014/main" id="{33930C2D-21A7-4AB4-9ADA-8788D277E739}"/>
              </a:ext>
            </a:extLst>
          </p:cNvPr>
          <p:cNvSpPr>
            <a:spLocks/>
          </p:cNvSpPr>
          <p:nvPr/>
        </p:nvSpPr>
        <p:spPr bwMode="auto">
          <a:xfrm>
            <a:off x="4746625" y="4539888"/>
            <a:ext cx="2654300" cy="2163762"/>
          </a:xfrm>
          <a:custGeom>
            <a:avLst/>
            <a:gdLst>
              <a:gd name="T0" fmla="*/ 537 w 1672"/>
              <a:gd name="T1" fmla="*/ 0 h 1363"/>
              <a:gd name="T2" fmla="*/ 756 w 1672"/>
              <a:gd name="T3" fmla="*/ 29 h 1363"/>
              <a:gd name="T4" fmla="*/ 852 w 1672"/>
              <a:gd name="T5" fmla="*/ 68 h 1363"/>
              <a:gd name="T6" fmla="*/ 1056 w 1672"/>
              <a:gd name="T7" fmla="*/ 126 h 1363"/>
              <a:gd name="T8" fmla="*/ 1260 w 1672"/>
              <a:gd name="T9" fmla="*/ 184 h 1363"/>
              <a:gd name="T10" fmla="*/ 1410 w 1672"/>
              <a:gd name="T11" fmla="*/ 291 h 1363"/>
              <a:gd name="T12" fmla="*/ 1560 w 1672"/>
              <a:gd name="T13" fmla="*/ 412 h 1363"/>
              <a:gd name="T14" fmla="*/ 1580 w 1672"/>
              <a:gd name="T15" fmla="*/ 441 h 1363"/>
              <a:gd name="T16" fmla="*/ 1594 w 1672"/>
              <a:gd name="T17" fmla="*/ 461 h 1363"/>
              <a:gd name="T18" fmla="*/ 1657 w 1672"/>
              <a:gd name="T19" fmla="*/ 630 h 1363"/>
              <a:gd name="T20" fmla="*/ 1662 w 1672"/>
              <a:gd name="T21" fmla="*/ 655 h 1363"/>
              <a:gd name="T22" fmla="*/ 1672 w 1672"/>
              <a:gd name="T23" fmla="*/ 669 h 1363"/>
              <a:gd name="T24" fmla="*/ 1546 w 1672"/>
              <a:gd name="T25" fmla="*/ 960 h 1363"/>
              <a:gd name="T26" fmla="*/ 1468 w 1672"/>
              <a:gd name="T27" fmla="*/ 1057 h 1363"/>
              <a:gd name="T28" fmla="*/ 1429 w 1672"/>
              <a:gd name="T29" fmla="*/ 1086 h 1363"/>
              <a:gd name="T30" fmla="*/ 1391 w 1672"/>
              <a:gd name="T31" fmla="*/ 1120 h 1363"/>
              <a:gd name="T32" fmla="*/ 1381 w 1672"/>
              <a:gd name="T33" fmla="*/ 1135 h 1363"/>
              <a:gd name="T34" fmla="*/ 1362 w 1672"/>
              <a:gd name="T35" fmla="*/ 1154 h 1363"/>
              <a:gd name="T36" fmla="*/ 1197 w 1672"/>
              <a:gd name="T37" fmla="*/ 1265 h 1363"/>
              <a:gd name="T38" fmla="*/ 1100 w 1672"/>
              <a:gd name="T39" fmla="*/ 1299 h 1363"/>
              <a:gd name="T40" fmla="*/ 974 w 1672"/>
              <a:gd name="T41" fmla="*/ 1348 h 1363"/>
              <a:gd name="T42" fmla="*/ 479 w 1672"/>
              <a:gd name="T43" fmla="*/ 1333 h 1363"/>
              <a:gd name="T44" fmla="*/ 339 w 1672"/>
              <a:gd name="T45" fmla="*/ 1256 h 1363"/>
              <a:gd name="T46" fmla="*/ 290 w 1672"/>
              <a:gd name="T47" fmla="*/ 1236 h 1363"/>
              <a:gd name="T48" fmla="*/ 237 w 1672"/>
              <a:gd name="T49" fmla="*/ 1202 h 1363"/>
              <a:gd name="T50" fmla="*/ 145 w 1672"/>
              <a:gd name="T51" fmla="*/ 1101 h 1363"/>
              <a:gd name="T52" fmla="*/ 52 w 1672"/>
              <a:gd name="T53" fmla="*/ 989 h 1363"/>
              <a:gd name="T54" fmla="*/ 19 w 1672"/>
              <a:gd name="T55" fmla="*/ 897 h 1363"/>
              <a:gd name="T56" fmla="*/ 62 w 1672"/>
              <a:gd name="T57" fmla="*/ 611 h 1363"/>
              <a:gd name="T58" fmla="*/ 159 w 1672"/>
              <a:gd name="T59" fmla="*/ 475 h 1363"/>
              <a:gd name="T60" fmla="*/ 222 w 1672"/>
              <a:gd name="T61" fmla="*/ 378 h 1363"/>
              <a:gd name="T62" fmla="*/ 285 w 1672"/>
              <a:gd name="T63" fmla="*/ 291 h 1363"/>
              <a:gd name="T64" fmla="*/ 358 w 1672"/>
              <a:gd name="T65" fmla="*/ 213 h 1363"/>
              <a:gd name="T66" fmla="*/ 445 w 1672"/>
              <a:gd name="T67" fmla="*/ 97 h 1363"/>
              <a:gd name="T68" fmla="*/ 494 w 1672"/>
              <a:gd name="T69" fmla="*/ 48 h 1363"/>
              <a:gd name="T70" fmla="*/ 537 w 1672"/>
              <a:gd name="T71" fmla="*/ 0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72" h="1363">
                <a:moveTo>
                  <a:pt x="537" y="0"/>
                </a:moveTo>
                <a:cubicBezTo>
                  <a:pt x="626" y="9"/>
                  <a:pt x="683" y="4"/>
                  <a:pt x="756" y="29"/>
                </a:cubicBezTo>
                <a:cubicBezTo>
                  <a:pt x="788" y="55"/>
                  <a:pt x="811" y="61"/>
                  <a:pt x="852" y="68"/>
                </a:cubicBezTo>
                <a:cubicBezTo>
                  <a:pt x="918" y="96"/>
                  <a:pt x="986" y="107"/>
                  <a:pt x="1056" y="126"/>
                </a:cubicBezTo>
                <a:cubicBezTo>
                  <a:pt x="1116" y="163"/>
                  <a:pt x="1198" y="140"/>
                  <a:pt x="1260" y="184"/>
                </a:cubicBezTo>
                <a:cubicBezTo>
                  <a:pt x="1284" y="201"/>
                  <a:pt x="1398" y="280"/>
                  <a:pt x="1410" y="291"/>
                </a:cubicBezTo>
                <a:cubicBezTo>
                  <a:pt x="1456" y="334"/>
                  <a:pt x="1507" y="374"/>
                  <a:pt x="1560" y="412"/>
                </a:cubicBezTo>
                <a:cubicBezTo>
                  <a:pt x="1566" y="421"/>
                  <a:pt x="1573" y="431"/>
                  <a:pt x="1580" y="441"/>
                </a:cubicBezTo>
                <a:cubicBezTo>
                  <a:pt x="1584" y="447"/>
                  <a:pt x="1594" y="461"/>
                  <a:pt x="1594" y="461"/>
                </a:cubicBezTo>
                <a:cubicBezTo>
                  <a:pt x="1603" y="522"/>
                  <a:pt x="1625" y="576"/>
                  <a:pt x="1657" y="630"/>
                </a:cubicBezTo>
                <a:cubicBezTo>
                  <a:pt x="1658" y="638"/>
                  <a:pt x="1658" y="647"/>
                  <a:pt x="1662" y="655"/>
                </a:cubicBezTo>
                <a:cubicBezTo>
                  <a:pt x="1664" y="660"/>
                  <a:pt x="1672" y="663"/>
                  <a:pt x="1672" y="669"/>
                </a:cubicBezTo>
                <a:cubicBezTo>
                  <a:pt x="1672" y="794"/>
                  <a:pt x="1612" y="865"/>
                  <a:pt x="1546" y="960"/>
                </a:cubicBezTo>
                <a:cubicBezTo>
                  <a:pt x="1522" y="993"/>
                  <a:pt x="1498" y="1029"/>
                  <a:pt x="1468" y="1057"/>
                </a:cubicBezTo>
                <a:cubicBezTo>
                  <a:pt x="1455" y="1067"/>
                  <a:pt x="1429" y="1086"/>
                  <a:pt x="1429" y="1086"/>
                </a:cubicBezTo>
                <a:cubicBezTo>
                  <a:pt x="1409" y="1118"/>
                  <a:pt x="1434" y="1082"/>
                  <a:pt x="1391" y="1120"/>
                </a:cubicBezTo>
                <a:cubicBezTo>
                  <a:pt x="1386" y="1123"/>
                  <a:pt x="1384" y="1130"/>
                  <a:pt x="1381" y="1135"/>
                </a:cubicBezTo>
                <a:cubicBezTo>
                  <a:pt x="1375" y="1141"/>
                  <a:pt x="1369" y="1148"/>
                  <a:pt x="1362" y="1154"/>
                </a:cubicBezTo>
                <a:cubicBezTo>
                  <a:pt x="1320" y="1185"/>
                  <a:pt x="1243" y="1251"/>
                  <a:pt x="1197" y="1265"/>
                </a:cubicBezTo>
                <a:cubicBezTo>
                  <a:pt x="1167" y="1284"/>
                  <a:pt x="1134" y="1291"/>
                  <a:pt x="1100" y="1299"/>
                </a:cubicBezTo>
                <a:cubicBezTo>
                  <a:pt x="1066" y="1321"/>
                  <a:pt x="1013" y="1337"/>
                  <a:pt x="974" y="1348"/>
                </a:cubicBezTo>
                <a:cubicBezTo>
                  <a:pt x="815" y="1346"/>
                  <a:pt x="640" y="1363"/>
                  <a:pt x="479" y="1333"/>
                </a:cubicBezTo>
                <a:cubicBezTo>
                  <a:pt x="421" y="1322"/>
                  <a:pt x="389" y="1281"/>
                  <a:pt x="339" y="1256"/>
                </a:cubicBezTo>
                <a:cubicBezTo>
                  <a:pt x="323" y="1248"/>
                  <a:pt x="290" y="1236"/>
                  <a:pt x="290" y="1236"/>
                </a:cubicBezTo>
                <a:cubicBezTo>
                  <a:pt x="250" y="1207"/>
                  <a:pt x="268" y="1218"/>
                  <a:pt x="237" y="1202"/>
                </a:cubicBezTo>
                <a:cubicBezTo>
                  <a:pt x="210" y="1165"/>
                  <a:pt x="172" y="1137"/>
                  <a:pt x="145" y="1101"/>
                </a:cubicBezTo>
                <a:cubicBezTo>
                  <a:pt x="125" y="1074"/>
                  <a:pt x="80" y="1007"/>
                  <a:pt x="52" y="989"/>
                </a:cubicBezTo>
                <a:cubicBezTo>
                  <a:pt x="41" y="956"/>
                  <a:pt x="31" y="928"/>
                  <a:pt x="19" y="897"/>
                </a:cubicBezTo>
                <a:cubicBezTo>
                  <a:pt x="7" y="804"/>
                  <a:pt x="0" y="688"/>
                  <a:pt x="62" y="611"/>
                </a:cubicBezTo>
                <a:cubicBezTo>
                  <a:pt x="79" y="558"/>
                  <a:pt x="124" y="516"/>
                  <a:pt x="159" y="475"/>
                </a:cubicBezTo>
                <a:cubicBezTo>
                  <a:pt x="183" y="445"/>
                  <a:pt x="199" y="408"/>
                  <a:pt x="222" y="378"/>
                </a:cubicBezTo>
                <a:cubicBezTo>
                  <a:pt x="243" y="349"/>
                  <a:pt x="264" y="321"/>
                  <a:pt x="285" y="291"/>
                </a:cubicBezTo>
                <a:cubicBezTo>
                  <a:pt x="301" y="266"/>
                  <a:pt x="330" y="222"/>
                  <a:pt x="358" y="213"/>
                </a:cubicBezTo>
                <a:cubicBezTo>
                  <a:pt x="386" y="177"/>
                  <a:pt x="412" y="129"/>
                  <a:pt x="445" y="97"/>
                </a:cubicBezTo>
                <a:cubicBezTo>
                  <a:pt x="462" y="79"/>
                  <a:pt x="478" y="66"/>
                  <a:pt x="494" y="48"/>
                </a:cubicBezTo>
                <a:cubicBezTo>
                  <a:pt x="501" y="38"/>
                  <a:pt x="537" y="4"/>
                  <a:pt x="53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07" name="Freeform 3">
            <a:extLst>
              <a:ext uri="{FF2B5EF4-FFF2-40B4-BE49-F238E27FC236}">
                <a16:creationId xmlns:a16="http://schemas.microsoft.com/office/drawing/2014/main" id="{A1C0F34E-9F4F-4176-8DD4-60A089719A34}"/>
              </a:ext>
            </a:extLst>
          </p:cNvPr>
          <p:cNvSpPr>
            <a:spLocks/>
          </p:cNvSpPr>
          <p:nvPr/>
        </p:nvSpPr>
        <p:spPr bwMode="auto">
          <a:xfrm>
            <a:off x="1195388" y="4678001"/>
            <a:ext cx="2919412" cy="1865313"/>
          </a:xfrm>
          <a:custGeom>
            <a:avLst/>
            <a:gdLst>
              <a:gd name="T0" fmla="*/ 161 w 1839"/>
              <a:gd name="T1" fmla="*/ 194 h 1175"/>
              <a:gd name="T2" fmla="*/ 263 w 1839"/>
              <a:gd name="T3" fmla="*/ 151 h 1175"/>
              <a:gd name="T4" fmla="*/ 408 w 1839"/>
              <a:gd name="T5" fmla="*/ 131 h 1175"/>
              <a:gd name="T6" fmla="*/ 525 w 1839"/>
              <a:gd name="T7" fmla="*/ 97 h 1175"/>
              <a:gd name="T8" fmla="*/ 583 w 1839"/>
              <a:gd name="T9" fmla="*/ 63 h 1175"/>
              <a:gd name="T10" fmla="*/ 767 w 1839"/>
              <a:gd name="T11" fmla="*/ 0 h 1175"/>
              <a:gd name="T12" fmla="*/ 1121 w 1839"/>
              <a:gd name="T13" fmla="*/ 29 h 1175"/>
              <a:gd name="T14" fmla="*/ 1329 w 1839"/>
              <a:gd name="T15" fmla="*/ 15 h 1175"/>
              <a:gd name="T16" fmla="*/ 1606 w 1839"/>
              <a:gd name="T17" fmla="*/ 44 h 1175"/>
              <a:gd name="T18" fmla="*/ 1737 w 1839"/>
              <a:gd name="T19" fmla="*/ 194 h 1175"/>
              <a:gd name="T20" fmla="*/ 1780 w 1839"/>
              <a:gd name="T21" fmla="*/ 267 h 1175"/>
              <a:gd name="T22" fmla="*/ 1790 w 1839"/>
              <a:gd name="T23" fmla="*/ 281 h 1175"/>
              <a:gd name="T24" fmla="*/ 1824 w 1839"/>
              <a:gd name="T25" fmla="*/ 383 h 1175"/>
              <a:gd name="T26" fmla="*/ 1795 w 1839"/>
              <a:gd name="T27" fmla="*/ 606 h 1175"/>
              <a:gd name="T28" fmla="*/ 1771 w 1839"/>
              <a:gd name="T29" fmla="*/ 664 h 1175"/>
              <a:gd name="T30" fmla="*/ 1746 w 1839"/>
              <a:gd name="T31" fmla="*/ 752 h 1175"/>
              <a:gd name="T32" fmla="*/ 1737 w 1839"/>
              <a:gd name="T33" fmla="*/ 800 h 1175"/>
              <a:gd name="T34" fmla="*/ 1688 w 1839"/>
              <a:gd name="T35" fmla="*/ 854 h 1175"/>
              <a:gd name="T36" fmla="*/ 1586 w 1839"/>
              <a:gd name="T37" fmla="*/ 970 h 1175"/>
              <a:gd name="T38" fmla="*/ 1519 w 1839"/>
              <a:gd name="T39" fmla="*/ 1038 h 1175"/>
              <a:gd name="T40" fmla="*/ 1383 w 1839"/>
              <a:gd name="T41" fmla="*/ 1130 h 1175"/>
              <a:gd name="T42" fmla="*/ 1140 w 1839"/>
              <a:gd name="T43" fmla="*/ 1174 h 1175"/>
              <a:gd name="T44" fmla="*/ 714 w 1839"/>
              <a:gd name="T45" fmla="*/ 1169 h 1175"/>
              <a:gd name="T46" fmla="*/ 660 w 1839"/>
              <a:gd name="T47" fmla="*/ 1144 h 1175"/>
              <a:gd name="T48" fmla="*/ 515 w 1839"/>
              <a:gd name="T49" fmla="*/ 1106 h 1175"/>
              <a:gd name="T50" fmla="*/ 462 w 1839"/>
              <a:gd name="T51" fmla="*/ 1081 h 1175"/>
              <a:gd name="T52" fmla="*/ 355 w 1839"/>
              <a:gd name="T53" fmla="*/ 1033 h 1175"/>
              <a:gd name="T54" fmla="*/ 292 w 1839"/>
              <a:gd name="T55" fmla="*/ 1004 h 1175"/>
              <a:gd name="T56" fmla="*/ 161 w 1839"/>
              <a:gd name="T57" fmla="*/ 936 h 1175"/>
              <a:gd name="T58" fmla="*/ 127 w 1839"/>
              <a:gd name="T59" fmla="*/ 921 h 1175"/>
              <a:gd name="T60" fmla="*/ 93 w 1839"/>
              <a:gd name="T61" fmla="*/ 892 h 1175"/>
              <a:gd name="T62" fmla="*/ 69 w 1839"/>
              <a:gd name="T63" fmla="*/ 854 h 1175"/>
              <a:gd name="T64" fmla="*/ 49 w 1839"/>
              <a:gd name="T65" fmla="*/ 824 h 1175"/>
              <a:gd name="T66" fmla="*/ 16 w 1839"/>
              <a:gd name="T67" fmla="*/ 747 h 1175"/>
              <a:gd name="T68" fmla="*/ 54 w 1839"/>
              <a:gd name="T69" fmla="*/ 349 h 1175"/>
              <a:gd name="T70" fmla="*/ 113 w 1839"/>
              <a:gd name="T71" fmla="*/ 228 h 1175"/>
              <a:gd name="T72" fmla="*/ 161 w 1839"/>
              <a:gd name="T73" fmla="*/ 194 h 1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39" h="1175">
                <a:moveTo>
                  <a:pt x="161" y="194"/>
                </a:moveTo>
                <a:cubicBezTo>
                  <a:pt x="196" y="182"/>
                  <a:pt x="227" y="161"/>
                  <a:pt x="263" y="151"/>
                </a:cubicBezTo>
                <a:cubicBezTo>
                  <a:pt x="313" y="135"/>
                  <a:pt x="351" y="136"/>
                  <a:pt x="408" y="131"/>
                </a:cubicBezTo>
                <a:cubicBezTo>
                  <a:pt x="476" y="115"/>
                  <a:pt x="462" y="121"/>
                  <a:pt x="525" y="97"/>
                </a:cubicBezTo>
                <a:cubicBezTo>
                  <a:pt x="546" y="88"/>
                  <a:pt x="560" y="70"/>
                  <a:pt x="583" y="63"/>
                </a:cubicBezTo>
                <a:cubicBezTo>
                  <a:pt x="645" y="42"/>
                  <a:pt x="706" y="25"/>
                  <a:pt x="767" y="0"/>
                </a:cubicBezTo>
                <a:cubicBezTo>
                  <a:pt x="907" y="5"/>
                  <a:pt x="995" y="20"/>
                  <a:pt x="1121" y="29"/>
                </a:cubicBezTo>
                <a:cubicBezTo>
                  <a:pt x="1190" y="21"/>
                  <a:pt x="1261" y="32"/>
                  <a:pt x="1329" y="15"/>
                </a:cubicBezTo>
                <a:cubicBezTo>
                  <a:pt x="1420" y="24"/>
                  <a:pt x="1519" y="14"/>
                  <a:pt x="1606" y="44"/>
                </a:cubicBezTo>
                <a:cubicBezTo>
                  <a:pt x="1659" y="83"/>
                  <a:pt x="1701" y="136"/>
                  <a:pt x="1737" y="194"/>
                </a:cubicBezTo>
                <a:cubicBezTo>
                  <a:pt x="1752" y="219"/>
                  <a:pt x="1762" y="242"/>
                  <a:pt x="1780" y="267"/>
                </a:cubicBezTo>
                <a:cubicBezTo>
                  <a:pt x="1783" y="271"/>
                  <a:pt x="1790" y="281"/>
                  <a:pt x="1790" y="281"/>
                </a:cubicBezTo>
                <a:cubicBezTo>
                  <a:pt x="1801" y="316"/>
                  <a:pt x="1814" y="346"/>
                  <a:pt x="1824" y="383"/>
                </a:cubicBezTo>
                <a:cubicBezTo>
                  <a:pt x="1821" y="453"/>
                  <a:pt x="1839" y="543"/>
                  <a:pt x="1795" y="606"/>
                </a:cubicBezTo>
                <a:cubicBezTo>
                  <a:pt x="1778" y="655"/>
                  <a:pt x="1788" y="636"/>
                  <a:pt x="1771" y="664"/>
                </a:cubicBezTo>
                <a:cubicBezTo>
                  <a:pt x="1762" y="693"/>
                  <a:pt x="1762" y="726"/>
                  <a:pt x="1746" y="752"/>
                </a:cubicBezTo>
                <a:cubicBezTo>
                  <a:pt x="1745" y="755"/>
                  <a:pt x="1738" y="796"/>
                  <a:pt x="1737" y="800"/>
                </a:cubicBezTo>
                <a:cubicBezTo>
                  <a:pt x="1724" y="820"/>
                  <a:pt x="1701" y="833"/>
                  <a:pt x="1688" y="854"/>
                </a:cubicBezTo>
                <a:cubicBezTo>
                  <a:pt x="1659" y="895"/>
                  <a:pt x="1628" y="941"/>
                  <a:pt x="1586" y="970"/>
                </a:cubicBezTo>
                <a:cubicBezTo>
                  <a:pt x="1568" y="996"/>
                  <a:pt x="1541" y="1015"/>
                  <a:pt x="1519" y="1038"/>
                </a:cubicBezTo>
                <a:cubicBezTo>
                  <a:pt x="1482" y="1074"/>
                  <a:pt x="1434" y="1116"/>
                  <a:pt x="1383" y="1130"/>
                </a:cubicBezTo>
                <a:cubicBezTo>
                  <a:pt x="1318" y="1175"/>
                  <a:pt x="1208" y="1169"/>
                  <a:pt x="1140" y="1174"/>
                </a:cubicBezTo>
                <a:cubicBezTo>
                  <a:pt x="998" y="1172"/>
                  <a:pt x="855" y="1172"/>
                  <a:pt x="714" y="1169"/>
                </a:cubicBezTo>
                <a:cubicBezTo>
                  <a:pt x="694" y="1168"/>
                  <a:pt x="678" y="1150"/>
                  <a:pt x="660" y="1144"/>
                </a:cubicBezTo>
                <a:cubicBezTo>
                  <a:pt x="609" y="1125"/>
                  <a:pt x="565" y="1119"/>
                  <a:pt x="515" y="1106"/>
                </a:cubicBezTo>
                <a:cubicBezTo>
                  <a:pt x="497" y="1094"/>
                  <a:pt x="479" y="1091"/>
                  <a:pt x="462" y="1081"/>
                </a:cubicBezTo>
                <a:cubicBezTo>
                  <a:pt x="423" y="1057"/>
                  <a:pt x="400" y="1046"/>
                  <a:pt x="355" y="1033"/>
                </a:cubicBezTo>
                <a:cubicBezTo>
                  <a:pt x="276" y="981"/>
                  <a:pt x="377" y="1044"/>
                  <a:pt x="292" y="1004"/>
                </a:cubicBezTo>
                <a:cubicBezTo>
                  <a:pt x="247" y="983"/>
                  <a:pt x="206" y="955"/>
                  <a:pt x="161" y="936"/>
                </a:cubicBezTo>
                <a:cubicBezTo>
                  <a:pt x="144" y="928"/>
                  <a:pt x="143" y="933"/>
                  <a:pt x="127" y="921"/>
                </a:cubicBezTo>
                <a:cubicBezTo>
                  <a:pt x="46" y="859"/>
                  <a:pt x="153" y="932"/>
                  <a:pt x="93" y="892"/>
                </a:cubicBezTo>
                <a:cubicBezTo>
                  <a:pt x="83" y="865"/>
                  <a:pt x="92" y="887"/>
                  <a:pt x="69" y="854"/>
                </a:cubicBezTo>
                <a:cubicBezTo>
                  <a:pt x="61" y="844"/>
                  <a:pt x="49" y="824"/>
                  <a:pt x="49" y="824"/>
                </a:cubicBezTo>
                <a:cubicBezTo>
                  <a:pt x="42" y="793"/>
                  <a:pt x="35" y="772"/>
                  <a:pt x="16" y="747"/>
                </a:cubicBezTo>
                <a:cubicBezTo>
                  <a:pt x="16" y="737"/>
                  <a:pt x="0" y="458"/>
                  <a:pt x="54" y="349"/>
                </a:cubicBezTo>
                <a:cubicBezTo>
                  <a:pt x="73" y="308"/>
                  <a:pt x="89" y="266"/>
                  <a:pt x="113" y="228"/>
                </a:cubicBezTo>
                <a:cubicBezTo>
                  <a:pt x="124" y="209"/>
                  <a:pt x="134" y="180"/>
                  <a:pt x="161" y="19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08" name="Rectangle 4">
            <a:extLst>
              <a:ext uri="{FF2B5EF4-FFF2-40B4-BE49-F238E27FC236}">
                <a16:creationId xmlns:a16="http://schemas.microsoft.com/office/drawing/2014/main" id="{06B23D0F-F1CA-4998-BAB6-832035033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025" y="87312"/>
            <a:ext cx="10515600" cy="1325563"/>
          </a:xfrm>
        </p:spPr>
        <p:txBody>
          <a:bodyPr/>
          <a:lstStyle/>
          <a:p>
            <a:r>
              <a:rPr lang="en-US" altLang="en-US" dirty="0"/>
              <a:t>Cycle-Cut Intersection</a:t>
            </a:r>
          </a:p>
        </p:txBody>
      </p:sp>
      <p:sp>
        <p:nvSpPr>
          <p:cNvPr id="687109" name="Rectangle 5">
            <a:extLst>
              <a:ext uri="{FF2B5EF4-FFF2-40B4-BE49-F238E27FC236}">
                <a16:creationId xmlns:a16="http://schemas.microsoft.com/office/drawing/2014/main" id="{7B571D7F-7E0E-4197-B323-859AA7A3C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4363" y="1181895"/>
            <a:ext cx="10515600" cy="868363"/>
          </a:xfrm>
          <a:ln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342900" indent="-342900"/>
            <a:r>
              <a:rPr lang="en-US" altLang="en-US" dirty="0"/>
              <a:t>Lemma.  </a:t>
            </a:r>
            <a:r>
              <a:rPr lang="en-US" altLang="en-US" dirty="0">
                <a:solidFill>
                  <a:schemeClr val="tx1"/>
                </a:solidFill>
              </a:rPr>
              <a:t>A cycle and a cutset intersect in an even number of edges.</a:t>
            </a:r>
            <a:endParaRPr lang="en-US" altLang="en-US" dirty="0"/>
          </a:p>
          <a:p>
            <a:pPr marL="342900" indent="-342900"/>
            <a:endParaRPr lang="en-US" altLang="en-US" dirty="0"/>
          </a:p>
        </p:txBody>
      </p:sp>
      <p:sp>
        <p:nvSpPr>
          <p:cNvPr id="687110" name="Oval 6">
            <a:extLst>
              <a:ext uri="{FF2B5EF4-FFF2-40B4-BE49-F238E27FC236}">
                <a16:creationId xmlns:a16="http://schemas.microsoft.com/office/drawing/2014/main" id="{30138746-6061-4C53-A5A2-3AEBB1606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5" y="48812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11" name="Oval 7">
            <a:extLst>
              <a:ext uri="{FF2B5EF4-FFF2-40B4-BE49-F238E27FC236}">
                <a16:creationId xmlns:a16="http://schemas.microsoft.com/office/drawing/2014/main" id="{B46AAB52-B02C-4A91-A432-111F3F15E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50209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12" name="Oval 8">
            <a:extLst>
              <a:ext uri="{FF2B5EF4-FFF2-40B4-BE49-F238E27FC236}">
                <a16:creationId xmlns:a16="http://schemas.microsoft.com/office/drawing/2014/main" id="{53371F6B-2DD5-422B-8CA5-6433EED98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62401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13" name="Oval 9">
            <a:extLst>
              <a:ext uri="{FF2B5EF4-FFF2-40B4-BE49-F238E27FC236}">
                <a16:creationId xmlns:a16="http://schemas.microsoft.com/office/drawing/2014/main" id="{B87E5081-DF29-4AF6-B636-36AC6215C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75" y="61893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14" name="Oval 10">
            <a:extLst>
              <a:ext uri="{FF2B5EF4-FFF2-40B4-BE49-F238E27FC236}">
                <a16:creationId xmlns:a16="http://schemas.microsoft.com/office/drawing/2014/main" id="{4968B9C3-392F-40D0-8BD3-89FF187A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55543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15" name="Oval 11">
            <a:extLst>
              <a:ext uri="{FF2B5EF4-FFF2-40B4-BE49-F238E27FC236}">
                <a16:creationId xmlns:a16="http://schemas.microsoft.com/office/drawing/2014/main" id="{6C57D898-5677-4EA9-8CA0-93F8527AC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575" y="5451113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cxnSp>
        <p:nvCxnSpPr>
          <p:cNvPr id="687116" name="AutoShape 12">
            <a:extLst>
              <a:ext uri="{FF2B5EF4-FFF2-40B4-BE49-F238E27FC236}">
                <a16:creationId xmlns:a16="http://schemas.microsoft.com/office/drawing/2014/main" id="{1C7EDD45-ABF9-452D-97F9-C5FCF14E51A0}"/>
              </a:ext>
            </a:extLst>
          </p:cNvPr>
          <p:cNvCxnSpPr>
            <a:cxnSpLocks noChangeShapeType="1"/>
            <a:stCxn id="687111" idx="6"/>
            <a:endCxn id="687110" idx="2"/>
          </p:cNvCxnSpPr>
          <p:nvPr/>
        </p:nvCxnSpPr>
        <p:spPr bwMode="auto">
          <a:xfrm flipV="1">
            <a:off x="3521075" y="4919300"/>
            <a:ext cx="2387600" cy="1397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17" name="AutoShape 13">
            <a:extLst>
              <a:ext uri="{FF2B5EF4-FFF2-40B4-BE49-F238E27FC236}">
                <a16:creationId xmlns:a16="http://schemas.microsoft.com/office/drawing/2014/main" id="{269F2B60-3710-4561-B74B-1E6928AA75E0}"/>
              </a:ext>
            </a:extLst>
          </p:cNvPr>
          <p:cNvCxnSpPr>
            <a:cxnSpLocks noChangeShapeType="1"/>
            <a:stCxn id="687114" idx="6"/>
            <a:endCxn id="687115" idx="3"/>
          </p:cNvCxnSpPr>
          <p:nvPr/>
        </p:nvCxnSpPr>
        <p:spPr bwMode="auto">
          <a:xfrm flipV="1">
            <a:off x="3673476" y="5528900"/>
            <a:ext cx="2081213" cy="635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18" name="AutoShape 14">
            <a:extLst>
              <a:ext uri="{FF2B5EF4-FFF2-40B4-BE49-F238E27FC236}">
                <a16:creationId xmlns:a16="http://schemas.microsoft.com/office/drawing/2014/main" id="{07514A77-ACF6-4831-821B-F5567B35827A}"/>
              </a:ext>
            </a:extLst>
          </p:cNvPr>
          <p:cNvCxnSpPr>
            <a:cxnSpLocks noChangeShapeType="1"/>
            <a:stCxn id="687113" idx="2"/>
            <a:endCxn id="687112" idx="6"/>
          </p:cNvCxnSpPr>
          <p:nvPr/>
        </p:nvCxnSpPr>
        <p:spPr bwMode="auto">
          <a:xfrm flipH="1">
            <a:off x="2638425" y="6227400"/>
            <a:ext cx="2698750" cy="50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7119" name="Oval 15">
            <a:extLst>
              <a:ext uri="{FF2B5EF4-FFF2-40B4-BE49-F238E27FC236}">
                <a16:creationId xmlns:a16="http://schemas.microsoft.com/office/drawing/2014/main" id="{E0B39E68-0561-4D58-BB7C-592DF8804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59226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687120" name="Oval 16">
            <a:extLst>
              <a:ext uri="{FF2B5EF4-FFF2-40B4-BE49-F238E27FC236}">
                <a16:creationId xmlns:a16="http://schemas.microsoft.com/office/drawing/2014/main" id="{4F634CBB-5016-4555-A88A-0D64E15AF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5744800"/>
            <a:ext cx="76200" cy="762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cxnSp>
        <p:nvCxnSpPr>
          <p:cNvPr id="687121" name="AutoShape 17">
            <a:extLst>
              <a:ext uri="{FF2B5EF4-FFF2-40B4-BE49-F238E27FC236}">
                <a16:creationId xmlns:a16="http://schemas.microsoft.com/office/drawing/2014/main" id="{892A739C-C42D-436E-A02C-1562D367594F}"/>
              </a:ext>
            </a:extLst>
          </p:cNvPr>
          <p:cNvCxnSpPr>
            <a:cxnSpLocks noChangeShapeType="1"/>
            <a:stCxn id="687120" idx="2"/>
            <a:endCxn id="687119" idx="6"/>
          </p:cNvCxnSpPr>
          <p:nvPr/>
        </p:nvCxnSpPr>
        <p:spPr bwMode="auto">
          <a:xfrm flipH="1">
            <a:off x="3444875" y="5782900"/>
            <a:ext cx="1574800" cy="177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7122" name="Oval 18">
            <a:extLst>
              <a:ext uri="{FF2B5EF4-FFF2-40B4-BE49-F238E27FC236}">
                <a16:creationId xmlns:a16="http://schemas.microsoft.com/office/drawing/2014/main" id="{B3A8714B-70F1-4DFB-8211-EE6867BF03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17826" y="1943101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687123" name="Oval 19">
            <a:extLst>
              <a:ext uri="{FF2B5EF4-FFF2-40B4-BE49-F238E27FC236}">
                <a16:creationId xmlns:a16="http://schemas.microsoft.com/office/drawing/2014/main" id="{E5F6684F-7CB4-4291-92AF-D79C8EF8F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9038" y="1785938"/>
            <a:ext cx="246062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687124" name="Oval 20">
            <a:extLst>
              <a:ext uri="{FF2B5EF4-FFF2-40B4-BE49-F238E27FC236}">
                <a16:creationId xmlns:a16="http://schemas.microsoft.com/office/drawing/2014/main" id="{031BBE09-849A-44D5-94FA-0D72EEEC35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76951" y="3159126"/>
            <a:ext cx="246063" cy="246063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87125" name="Oval 21">
            <a:extLst>
              <a:ext uri="{FF2B5EF4-FFF2-40B4-BE49-F238E27FC236}">
                <a16:creationId xmlns:a16="http://schemas.microsoft.com/office/drawing/2014/main" id="{77F777C0-EFE4-433C-BB9D-7499CCC992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73463" y="1785938"/>
            <a:ext cx="246062" cy="24606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687126" name="Oval 22">
            <a:extLst>
              <a:ext uri="{FF2B5EF4-FFF2-40B4-BE49-F238E27FC236}">
                <a16:creationId xmlns:a16="http://schemas.microsoft.com/office/drawing/2014/main" id="{57F514EA-66EA-49AD-A4FE-00C7D07BC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43351" y="2320926"/>
            <a:ext cx="246063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6</a:t>
            </a:r>
          </a:p>
        </p:txBody>
      </p:sp>
      <p:sp>
        <p:nvSpPr>
          <p:cNvPr id="687127" name="Oval 23">
            <a:extLst>
              <a:ext uri="{FF2B5EF4-FFF2-40B4-BE49-F238E27FC236}">
                <a16:creationId xmlns:a16="http://schemas.microsoft.com/office/drawing/2014/main" id="{F0E7EFD5-9E4D-42C5-AFC4-A9494C89D1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2038" y="3209926"/>
            <a:ext cx="246062" cy="24606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7</a:t>
            </a:r>
          </a:p>
        </p:txBody>
      </p:sp>
      <p:sp>
        <p:nvSpPr>
          <p:cNvPr id="687128" name="Oval 24">
            <a:extLst>
              <a:ext uri="{FF2B5EF4-FFF2-40B4-BE49-F238E27FC236}">
                <a16:creationId xmlns:a16="http://schemas.microsoft.com/office/drawing/2014/main" id="{562F8F89-E329-4687-90AD-BCB26FB805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2163" y="2320925"/>
            <a:ext cx="246062" cy="2492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87129" name="Oval 25">
            <a:extLst>
              <a:ext uri="{FF2B5EF4-FFF2-40B4-BE49-F238E27FC236}">
                <a16:creationId xmlns:a16="http://schemas.microsoft.com/office/drawing/2014/main" id="{AB514692-EEF2-45A8-8DCF-3AA2D6A993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1826" y="2701926"/>
            <a:ext cx="246063" cy="246063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687130" name="AutoShape 26">
            <a:extLst>
              <a:ext uri="{FF2B5EF4-FFF2-40B4-BE49-F238E27FC236}">
                <a16:creationId xmlns:a16="http://schemas.microsoft.com/office/drawing/2014/main" id="{0BDE1CE0-006F-42A4-BF54-6920CBFC4ED9}"/>
              </a:ext>
            </a:extLst>
          </p:cNvPr>
          <p:cNvCxnSpPr>
            <a:cxnSpLocks noChangeShapeType="1"/>
            <a:stCxn id="687122" idx="6"/>
            <a:endCxn id="687125" idx="3"/>
          </p:cNvCxnSpPr>
          <p:nvPr/>
        </p:nvCxnSpPr>
        <p:spPr bwMode="auto">
          <a:xfrm flipV="1">
            <a:off x="3163889" y="1995489"/>
            <a:ext cx="446087" cy="71437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1" name="AutoShape 27">
            <a:extLst>
              <a:ext uri="{FF2B5EF4-FFF2-40B4-BE49-F238E27FC236}">
                <a16:creationId xmlns:a16="http://schemas.microsoft.com/office/drawing/2014/main" id="{815346F4-74CF-4AFD-A688-0E0B1A3459C2}"/>
              </a:ext>
            </a:extLst>
          </p:cNvPr>
          <p:cNvCxnSpPr>
            <a:cxnSpLocks noChangeShapeType="1"/>
            <a:stCxn id="687122" idx="5"/>
            <a:endCxn id="687126" idx="1"/>
          </p:cNvCxnSpPr>
          <p:nvPr/>
        </p:nvCxnSpPr>
        <p:spPr bwMode="auto">
          <a:xfrm>
            <a:off x="3127375" y="2152650"/>
            <a:ext cx="852488" cy="204788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2" name="AutoShape 28">
            <a:extLst>
              <a:ext uri="{FF2B5EF4-FFF2-40B4-BE49-F238E27FC236}">
                <a16:creationId xmlns:a16="http://schemas.microsoft.com/office/drawing/2014/main" id="{0ADBA7E4-760F-43AD-B452-4FDCF136A0A5}"/>
              </a:ext>
            </a:extLst>
          </p:cNvPr>
          <p:cNvCxnSpPr>
            <a:cxnSpLocks noChangeShapeType="1"/>
            <a:stCxn id="687122" idx="4"/>
            <a:endCxn id="687127" idx="0"/>
          </p:cNvCxnSpPr>
          <p:nvPr/>
        </p:nvCxnSpPr>
        <p:spPr bwMode="auto">
          <a:xfrm>
            <a:off x="3041651" y="2189163"/>
            <a:ext cx="684213" cy="1020762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3" name="AutoShape 29">
            <a:extLst>
              <a:ext uri="{FF2B5EF4-FFF2-40B4-BE49-F238E27FC236}">
                <a16:creationId xmlns:a16="http://schemas.microsoft.com/office/drawing/2014/main" id="{2F6B9EB3-71BF-491E-9464-24A2C598BB6D}"/>
              </a:ext>
            </a:extLst>
          </p:cNvPr>
          <p:cNvCxnSpPr>
            <a:cxnSpLocks noChangeShapeType="1"/>
            <a:stCxn id="687126" idx="7"/>
            <a:endCxn id="687123" idx="2"/>
          </p:cNvCxnSpPr>
          <p:nvPr/>
        </p:nvCxnSpPr>
        <p:spPr bwMode="auto">
          <a:xfrm flipV="1">
            <a:off x="4152900" y="1909764"/>
            <a:ext cx="2116138" cy="447675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4" name="AutoShape 30">
            <a:extLst>
              <a:ext uri="{FF2B5EF4-FFF2-40B4-BE49-F238E27FC236}">
                <a16:creationId xmlns:a16="http://schemas.microsoft.com/office/drawing/2014/main" id="{9E9B56D4-81C5-4601-95E0-19EACD434071}"/>
              </a:ext>
            </a:extLst>
          </p:cNvPr>
          <p:cNvCxnSpPr>
            <a:cxnSpLocks noChangeShapeType="1"/>
            <a:stCxn id="687128" idx="7"/>
            <a:endCxn id="687123" idx="4"/>
          </p:cNvCxnSpPr>
          <p:nvPr/>
        </p:nvCxnSpPr>
        <p:spPr bwMode="auto">
          <a:xfrm flipV="1">
            <a:off x="6081713" y="2032000"/>
            <a:ext cx="311150" cy="325438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5" name="AutoShape 31">
            <a:extLst>
              <a:ext uri="{FF2B5EF4-FFF2-40B4-BE49-F238E27FC236}">
                <a16:creationId xmlns:a16="http://schemas.microsoft.com/office/drawing/2014/main" id="{000E8315-C022-483A-BCC9-967E1C2E7C61}"/>
              </a:ext>
            </a:extLst>
          </p:cNvPr>
          <p:cNvCxnSpPr>
            <a:cxnSpLocks noChangeShapeType="1"/>
            <a:stCxn id="687126" idx="5"/>
            <a:endCxn id="687129" idx="1"/>
          </p:cNvCxnSpPr>
          <p:nvPr/>
        </p:nvCxnSpPr>
        <p:spPr bwMode="auto">
          <a:xfrm>
            <a:off x="4152900" y="2530476"/>
            <a:ext cx="325438" cy="207963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6" name="AutoShape 32">
            <a:extLst>
              <a:ext uri="{FF2B5EF4-FFF2-40B4-BE49-F238E27FC236}">
                <a16:creationId xmlns:a16="http://schemas.microsoft.com/office/drawing/2014/main" id="{635AE2A3-C422-4F3D-AA4E-02582FB0A62E}"/>
              </a:ext>
            </a:extLst>
          </p:cNvPr>
          <p:cNvCxnSpPr>
            <a:cxnSpLocks noChangeShapeType="1"/>
            <a:stCxn id="687129" idx="5"/>
            <a:endCxn id="687124" idx="2"/>
          </p:cNvCxnSpPr>
          <p:nvPr/>
        </p:nvCxnSpPr>
        <p:spPr bwMode="auto">
          <a:xfrm>
            <a:off x="4651376" y="2911476"/>
            <a:ext cx="1425575" cy="371475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7" name="AutoShape 33">
            <a:extLst>
              <a:ext uri="{FF2B5EF4-FFF2-40B4-BE49-F238E27FC236}">
                <a16:creationId xmlns:a16="http://schemas.microsoft.com/office/drawing/2014/main" id="{C2E8DE83-F422-4617-AEA6-1C90243825BA}"/>
              </a:ext>
            </a:extLst>
          </p:cNvPr>
          <p:cNvCxnSpPr>
            <a:cxnSpLocks noChangeShapeType="1"/>
            <a:stCxn id="687129" idx="6"/>
            <a:endCxn id="687128" idx="2"/>
          </p:cNvCxnSpPr>
          <p:nvPr/>
        </p:nvCxnSpPr>
        <p:spPr bwMode="auto">
          <a:xfrm flipV="1">
            <a:off x="4687889" y="2446338"/>
            <a:ext cx="1184275" cy="379412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8" name="AutoShape 34">
            <a:extLst>
              <a:ext uri="{FF2B5EF4-FFF2-40B4-BE49-F238E27FC236}">
                <a16:creationId xmlns:a16="http://schemas.microsoft.com/office/drawing/2014/main" id="{8BB4B68F-B47C-40D0-893D-948B2F1A2B42}"/>
              </a:ext>
            </a:extLst>
          </p:cNvPr>
          <p:cNvCxnSpPr>
            <a:cxnSpLocks noChangeShapeType="1"/>
            <a:stCxn id="687128" idx="4"/>
            <a:endCxn id="687124" idx="0"/>
          </p:cNvCxnSpPr>
          <p:nvPr/>
        </p:nvCxnSpPr>
        <p:spPr bwMode="auto">
          <a:xfrm>
            <a:off x="5995989" y="2570163"/>
            <a:ext cx="204787" cy="588962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39" name="AutoShape 35">
            <a:extLst>
              <a:ext uri="{FF2B5EF4-FFF2-40B4-BE49-F238E27FC236}">
                <a16:creationId xmlns:a16="http://schemas.microsoft.com/office/drawing/2014/main" id="{FD31BFC7-F126-4262-A0C7-175112088FAB}"/>
              </a:ext>
            </a:extLst>
          </p:cNvPr>
          <p:cNvCxnSpPr>
            <a:cxnSpLocks noChangeAspect="1" noChangeShapeType="1"/>
            <a:endCxn id="687129" idx="7"/>
          </p:cNvCxnSpPr>
          <p:nvPr/>
        </p:nvCxnSpPr>
        <p:spPr bwMode="auto">
          <a:xfrm flipH="1">
            <a:off x="4651375" y="2000250"/>
            <a:ext cx="1682750" cy="738188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40" name="AutoShape 36">
            <a:extLst>
              <a:ext uri="{FF2B5EF4-FFF2-40B4-BE49-F238E27FC236}">
                <a16:creationId xmlns:a16="http://schemas.microsoft.com/office/drawing/2014/main" id="{8491C312-9B99-4C1B-B061-FB303740E8A8}"/>
              </a:ext>
            </a:extLst>
          </p:cNvPr>
          <p:cNvCxnSpPr>
            <a:cxnSpLocks noChangeShapeType="1"/>
            <a:stCxn id="687126" idx="4"/>
            <a:endCxn id="687127" idx="7"/>
          </p:cNvCxnSpPr>
          <p:nvPr/>
        </p:nvCxnSpPr>
        <p:spPr bwMode="auto">
          <a:xfrm flipH="1">
            <a:off x="3811589" y="2566988"/>
            <a:ext cx="255587" cy="679450"/>
          </a:xfrm>
          <a:prstGeom prst="straightConnector1">
            <a:avLst/>
          </a:prstGeom>
          <a:noFill/>
          <a:ln w="158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41" name="AutoShape 37">
            <a:extLst>
              <a:ext uri="{FF2B5EF4-FFF2-40B4-BE49-F238E27FC236}">
                <a16:creationId xmlns:a16="http://schemas.microsoft.com/office/drawing/2014/main" id="{1D8B3B83-DE38-4B54-B22A-B71121EBA627}"/>
              </a:ext>
            </a:extLst>
          </p:cNvPr>
          <p:cNvCxnSpPr>
            <a:cxnSpLocks noChangeShapeType="1"/>
            <a:stCxn id="687127" idx="6"/>
            <a:endCxn id="687129" idx="2"/>
          </p:cNvCxnSpPr>
          <p:nvPr/>
        </p:nvCxnSpPr>
        <p:spPr bwMode="auto">
          <a:xfrm flipV="1">
            <a:off x="3848101" y="2825750"/>
            <a:ext cx="593725" cy="508000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42" name="AutoShape 38">
            <a:extLst>
              <a:ext uri="{FF2B5EF4-FFF2-40B4-BE49-F238E27FC236}">
                <a16:creationId xmlns:a16="http://schemas.microsoft.com/office/drawing/2014/main" id="{C761D7CD-920D-47B9-987E-499FC3BA4180}"/>
              </a:ext>
            </a:extLst>
          </p:cNvPr>
          <p:cNvCxnSpPr>
            <a:cxnSpLocks noChangeShapeType="1"/>
            <a:stCxn id="687125" idx="6"/>
            <a:endCxn id="687123" idx="1"/>
          </p:cNvCxnSpPr>
          <p:nvPr/>
        </p:nvCxnSpPr>
        <p:spPr bwMode="auto">
          <a:xfrm flipV="1">
            <a:off x="3819526" y="1822451"/>
            <a:ext cx="2486025" cy="87313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43" name="AutoShape 39">
            <a:extLst>
              <a:ext uri="{FF2B5EF4-FFF2-40B4-BE49-F238E27FC236}">
                <a16:creationId xmlns:a16="http://schemas.microsoft.com/office/drawing/2014/main" id="{E62DDDAF-A04B-4750-856E-FE4426F5E192}"/>
              </a:ext>
            </a:extLst>
          </p:cNvPr>
          <p:cNvCxnSpPr>
            <a:cxnSpLocks noChangeShapeType="1"/>
            <a:stCxn id="687127" idx="6"/>
            <a:endCxn id="687124" idx="3"/>
          </p:cNvCxnSpPr>
          <p:nvPr/>
        </p:nvCxnSpPr>
        <p:spPr bwMode="auto">
          <a:xfrm>
            <a:off x="3848101" y="3333751"/>
            <a:ext cx="2265363" cy="34925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7144" name="Text Box 40">
            <a:extLst>
              <a:ext uri="{FF2B5EF4-FFF2-40B4-BE49-F238E27FC236}">
                <a16:creationId xmlns:a16="http://schemas.microsoft.com/office/drawing/2014/main" id="{E0144887-BE18-422A-A9CA-3B7BBF8AC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119325"/>
            <a:ext cx="38100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</a:t>
            </a:r>
          </a:p>
        </p:txBody>
      </p:sp>
      <p:sp>
        <p:nvSpPr>
          <p:cNvPr id="687145" name="Text Box 41">
            <a:extLst>
              <a:ext uri="{FF2B5EF4-FFF2-40B4-BE49-F238E27FC236}">
                <a16:creationId xmlns:a16="http://schemas.microsoft.com/office/drawing/2014/main" id="{C4B02327-D78F-46D2-8A22-C18848BD8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5865450"/>
            <a:ext cx="83820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V - S</a:t>
            </a:r>
          </a:p>
        </p:txBody>
      </p:sp>
      <p:sp>
        <p:nvSpPr>
          <p:cNvPr id="687146" name="Text Box 42">
            <a:extLst>
              <a:ext uri="{FF2B5EF4-FFF2-40B4-BE49-F238E27FC236}">
                <a16:creationId xmlns:a16="http://schemas.microsoft.com/office/drawing/2014/main" id="{A15AFA68-99D9-4A7C-B011-BE926763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5" y="4563700"/>
            <a:ext cx="38100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</a:t>
            </a:r>
          </a:p>
        </p:txBody>
      </p:sp>
      <p:sp>
        <p:nvSpPr>
          <p:cNvPr id="687147" name="Freeform 43">
            <a:extLst>
              <a:ext uri="{FF2B5EF4-FFF2-40B4-BE49-F238E27FC236}">
                <a16:creationId xmlns:a16="http://schemas.microsoft.com/office/drawing/2014/main" id="{C9AAA6BF-A4E0-4BDD-A0B0-59DD165FE584}"/>
              </a:ext>
            </a:extLst>
          </p:cNvPr>
          <p:cNvSpPr>
            <a:spLocks/>
          </p:cNvSpPr>
          <p:nvPr/>
        </p:nvSpPr>
        <p:spPr bwMode="auto">
          <a:xfrm>
            <a:off x="1616075" y="4868500"/>
            <a:ext cx="1816100" cy="1447800"/>
          </a:xfrm>
          <a:custGeom>
            <a:avLst/>
            <a:gdLst>
              <a:gd name="T0" fmla="*/ 616 w 1144"/>
              <a:gd name="T1" fmla="*/ 912 h 912"/>
              <a:gd name="T2" fmla="*/ 568 w 1144"/>
              <a:gd name="T3" fmla="*/ 864 h 912"/>
              <a:gd name="T4" fmla="*/ 280 w 1144"/>
              <a:gd name="T5" fmla="*/ 864 h 912"/>
              <a:gd name="T6" fmla="*/ 40 w 1144"/>
              <a:gd name="T7" fmla="*/ 576 h 912"/>
              <a:gd name="T8" fmla="*/ 520 w 1144"/>
              <a:gd name="T9" fmla="*/ 432 h 912"/>
              <a:gd name="T10" fmla="*/ 472 w 1144"/>
              <a:gd name="T11" fmla="*/ 96 h 912"/>
              <a:gd name="T12" fmla="*/ 904 w 1144"/>
              <a:gd name="T13" fmla="*/ 0 h 912"/>
              <a:gd name="T14" fmla="*/ 1144 w 1144"/>
              <a:gd name="T15" fmla="*/ 96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44" h="912">
                <a:moveTo>
                  <a:pt x="616" y="912"/>
                </a:moveTo>
                <a:cubicBezTo>
                  <a:pt x="620" y="892"/>
                  <a:pt x="624" y="872"/>
                  <a:pt x="568" y="864"/>
                </a:cubicBezTo>
                <a:cubicBezTo>
                  <a:pt x="512" y="856"/>
                  <a:pt x="368" y="912"/>
                  <a:pt x="280" y="864"/>
                </a:cubicBezTo>
                <a:cubicBezTo>
                  <a:pt x="192" y="816"/>
                  <a:pt x="0" y="648"/>
                  <a:pt x="40" y="576"/>
                </a:cubicBezTo>
                <a:cubicBezTo>
                  <a:pt x="80" y="504"/>
                  <a:pt x="448" y="512"/>
                  <a:pt x="520" y="432"/>
                </a:cubicBezTo>
                <a:cubicBezTo>
                  <a:pt x="592" y="352"/>
                  <a:pt x="408" y="168"/>
                  <a:pt x="472" y="96"/>
                </a:cubicBezTo>
                <a:cubicBezTo>
                  <a:pt x="536" y="24"/>
                  <a:pt x="792" y="0"/>
                  <a:pt x="904" y="0"/>
                </a:cubicBezTo>
                <a:cubicBezTo>
                  <a:pt x="1016" y="0"/>
                  <a:pt x="1096" y="80"/>
                  <a:pt x="1144" y="96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7148" name="Freeform 44">
            <a:extLst>
              <a:ext uri="{FF2B5EF4-FFF2-40B4-BE49-F238E27FC236}">
                <a16:creationId xmlns:a16="http://schemas.microsoft.com/office/drawing/2014/main" id="{03999259-DDA2-400A-BB82-4FEB9149A8DE}"/>
              </a:ext>
            </a:extLst>
          </p:cNvPr>
          <p:cNvSpPr>
            <a:spLocks/>
          </p:cNvSpPr>
          <p:nvPr/>
        </p:nvSpPr>
        <p:spPr bwMode="auto">
          <a:xfrm>
            <a:off x="2555875" y="5389200"/>
            <a:ext cx="1028700" cy="596900"/>
          </a:xfrm>
          <a:custGeom>
            <a:avLst/>
            <a:gdLst>
              <a:gd name="T0" fmla="*/ 552 w 648"/>
              <a:gd name="T1" fmla="*/ 344 h 376"/>
              <a:gd name="T2" fmla="*/ 72 w 648"/>
              <a:gd name="T3" fmla="*/ 344 h 376"/>
              <a:gd name="T4" fmla="*/ 120 w 648"/>
              <a:gd name="T5" fmla="*/ 152 h 376"/>
              <a:gd name="T6" fmla="*/ 360 w 648"/>
              <a:gd name="T7" fmla="*/ 8 h 376"/>
              <a:gd name="T8" fmla="*/ 504 w 648"/>
              <a:gd name="T9" fmla="*/ 200 h 376"/>
              <a:gd name="T10" fmla="*/ 648 w 648"/>
              <a:gd name="T11" fmla="*/ 152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8" h="376">
                <a:moveTo>
                  <a:pt x="552" y="344"/>
                </a:moveTo>
                <a:cubicBezTo>
                  <a:pt x="348" y="360"/>
                  <a:pt x="144" y="376"/>
                  <a:pt x="72" y="344"/>
                </a:cubicBezTo>
                <a:cubicBezTo>
                  <a:pt x="0" y="312"/>
                  <a:pt x="72" y="208"/>
                  <a:pt x="120" y="152"/>
                </a:cubicBezTo>
                <a:cubicBezTo>
                  <a:pt x="168" y="96"/>
                  <a:pt x="296" y="0"/>
                  <a:pt x="360" y="8"/>
                </a:cubicBezTo>
                <a:cubicBezTo>
                  <a:pt x="424" y="16"/>
                  <a:pt x="456" y="176"/>
                  <a:pt x="504" y="200"/>
                </a:cubicBezTo>
                <a:cubicBezTo>
                  <a:pt x="552" y="224"/>
                  <a:pt x="600" y="188"/>
                  <a:pt x="648" y="15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7149" name="Freeform 45">
            <a:extLst>
              <a:ext uri="{FF2B5EF4-FFF2-40B4-BE49-F238E27FC236}">
                <a16:creationId xmlns:a16="http://schemas.microsoft.com/office/drawing/2014/main" id="{FFADA73C-D224-4BF7-B4AB-7367DD8C2157}"/>
              </a:ext>
            </a:extLst>
          </p:cNvPr>
          <p:cNvSpPr>
            <a:spLocks/>
          </p:cNvSpPr>
          <p:nvPr/>
        </p:nvSpPr>
        <p:spPr bwMode="auto">
          <a:xfrm>
            <a:off x="5756275" y="4919300"/>
            <a:ext cx="1028700" cy="863600"/>
          </a:xfrm>
          <a:custGeom>
            <a:avLst/>
            <a:gdLst>
              <a:gd name="T0" fmla="*/ 0 w 648"/>
              <a:gd name="T1" fmla="*/ 336 h 544"/>
              <a:gd name="T2" fmla="*/ 48 w 648"/>
              <a:gd name="T3" fmla="*/ 384 h 544"/>
              <a:gd name="T4" fmla="*/ 192 w 648"/>
              <a:gd name="T5" fmla="*/ 432 h 544"/>
              <a:gd name="T6" fmla="*/ 528 w 648"/>
              <a:gd name="T7" fmla="*/ 528 h 544"/>
              <a:gd name="T8" fmla="*/ 624 w 648"/>
              <a:gd name="T9" fmla="*/ 336 h 544"/>
              <a:gd name="T10" fmla="*/ 384 w 648"/>
              <a:gd name="T11" fmla="*/ 240 h 544"/>
              <a:gd name="T12" fmla="*/ 384 w 648"/>
              <a:gd name="T13" fmla="*/ 96 h 544"/>
              <a:gd name="T14" fmla="*/ 144 w 648"/>
              <a:gd name="T15" fmla="*/ 0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8" h="544">
                <a:moveTo>
                  <a:pt x="0" y="336"/>
                </a:moveTo>
                <a:cubicBezTo>
                  <a:pt x="8" y="352"/>
                  <a:pt x="16" y="368"/>
                  <a:pt x="48" y="384"/>
                </a:cubicBezTo>
                <a:cubicBezTo>
                  <a:pt x="80" y="400"/>
                  <a:pt x="112" y="408"/>
                  <a:pt x="192" y="432"/>
                </a:cubicBezTo>
                <a:cubicBezTo>
                  <a:pt x="272" y="456"/>
                  <a:pt x="456" y="544"/>
                  <a:pt x="528" y="528"/>
                </a:cubicBezTo>
                <a:cubicBezTo>
                  <a:pt x="600" y="512"/>
                  <a:pt x="648" y="384"/>
                  <a:pt x="624" y="336"/>
                </a:cubicBezTo>
                <a:cubicBezTo>
                  <a:pt x="600" y="288"/>
                  <a:pt x="424" y="280"/>
                  <a:pt x="384" y="240"/>
                </a:cubicBezTo>
                <a:cubicBezTo>
                  <a:pt x="344" y="200"/>
                  <a:pt x="424" y="136"/>
                  <a:pt x="384" y="96"/>
                </a:cubicBezTo>
                <a:cubicBezTo>
                  <a:pt x="344" y="56"/>
                  <a:pt x="244" y="28"/>
                  <a:pt x="144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7150" name="Freeform 46">
            <a:extLst>
              <a:ext uri="{FF2B5EF4-FFF2-40B4-BE49-F238E27FC236}">
                <a16:creationId xmlns:a16="http://schemas.microsoft.com/office/drawing/2014/main" id="{7F65C646-5B45-4CAA-9DB0-A512A7E401D1}"/>
              </a:ext>
            </a:extLst>
          </p:cNvPr>
          <p:cNvSpPr>
            <a:spLocks/>
          </p:cNvSpPr>
          <p:nvPr/>
        </p:nvSpPr>
        <p:spPr bwMode="auto">
          <a:xfrm>
            <a:off x="5032375" y="5694000"/>
            <a:ext cx="1092200" cy="800100"/>
          </a:xfrm>
          <a:custGeom>
            <a:avLst/>
            <a:gdLst>
              <a:gd name="T0" fmla="*/ 0 w 688"/>
              <a:gd name="T1" fmla="*/ 56 h 504"/>
              <a:gd name="T2" fmla="*/ 288 w 688"/>
              <a:gd name="T3" fmla="*/ 8 h 504"/>
              <a:gd name="T4" fmla="*/ 624 w 688"/>
              <a:gd name="T5" fmla="*/ 104 h 504"/>
              <a:gd name="T6" fmla="*/ 576 w 688"/>
              <a:gd name="T7" fmla="*/ 248 h 504"/>
              <a:gd name="T8" fmla="*/ 672 w 688"/>
              <a:gd name="T9" fmla="*/ 344 h 504"/>
              <a:gd name="T10" fmla="*/ 624 w 688"/>
              <a:gd name="T11" fmla="*/ 488 h 504"/>
              <a:gd name="T12" fmla="*/ 288 w 688"/>
              <a:gd name="T13" fmla="*/ 440 h 504"/>
              <a:gd name="T14" fmla="*/ 240 w 688"/>
              <a:gd name="T15" fmla="*/ 344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88" h="504">
                <a:moveTo>
                  <a:pt x="0" y="56"/>
                </a:moveTo>
                <a:cubicBezTo>
                  <a:pt x="92" y="28"/>
                  <a:pt x="184" y="0"/>
                  <a:pt x="288" y="8"/>
                </a:cubicBezTo>
                <a:cubicBezTo>
                  <a:pt x="392" y="16"/>
                  <a:pt x="576" y="64"/>
                  <a:pt x="624" y="104"/>
                </a:cubicBezTo>
                <a:cubicBezTo>
                  <a:pt x="672" y="144"/>
                  <a:pt x="568" y="208"/>
                  <a:pt x="576" y="248"/>
                </a:cubicBezTo>
                <a:cubicBezTo>
                  <a:pt x="584" y="288"/>
                  <a:pt x="664" y="304"/>
                  <a:pt x="672" y="344"/>
                </a:cubicBezTo>
                <a:cubicBezTo>
                  <a:pt x="680" y="384"/>
                  <a:pt x="688" y="472"/>
                  <a:pt x="624" y="488"/>
                </a:cubicBezTo>
                <a:cubicBezTo>
                  <a:pt x="560" y="504"/>
                  <a:pt x="352" y="464"/>
                  <a:pt x="288" y="440"/>
                </a:cubicBezTo>
                <a:cubicBezTo>
                  <a:pt x="224" y="416"/>
                  <a:pt x="232" y="380"/>
                  <a:pt x="240" y="344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cxnSp>
        <p:nvCxnSpPr>
          <p:cNvPr id="687151" name="AutoShape 47">
            <a:extLst>
              <a:ext uri="{FF2B5EF4-FFF2-40B4-BE49-F238E27FC236}">
                <a16:creationId xmlns:a16="http://schemas.microsoft.com/office/drawing/2014/main" id="{A0E211B9-7231-45FC-97AF-15C38A7134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14800" y="2595564"/>
            <a:ext cx="325438" cy="192087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7152" name="AutoShape 48">
            <a:extLst>
              <a:ext uri="{FF2B5EF4-FFF2-40B4-BE49-F238E27FC236}">
                <a16:creationId xmlns:a16="http://schemas.microsoft.com/office/drawing/2014/main" id="{21666BE9-4DFB-4162-B341-12C45D39957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32513" y="2065338"/>
            <a:ext cx="311150" cy="309562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7153" name="Rectangle 49">
            <a:extLst>
              <a:ext uri="{FF2B5EF4-FFF2-40B4-BE49-F238E27FC236}">
                <a16:creationId xmlns:a16="http://schemas.microsoft.com/office/drawing/2014/main" id="{1007CD92-8298-47A9-A642-64CB70E5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1" y="1858419"/>
            <a:ext cx="4043362" cy="10710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square" lIns="92075" tIns="73152" rIns="92075" bIns="73152" anchor="ctr">
            <a:spAutoFit/>
          </a:bodyPr>
          <a:lstStyle/>
          <a:p>
            <a:r>
              <a:rPr lang="en-US" altLang="en-US" sz="2000" dirty="0"/>
              <a:t>Cycle  C = 1-2, 2-3, 3-4, 4-5, 5-6, 6-1</a:t>
            </a:r>
            <a:br>
              <a:rPr lang="en-US" altLang="en-US" sz="2000" dirty="0"/>
            </a:br>
            <a:r>
              <a:rPr lang="en-US" altLang="en-US" sz="2000" dirty="0"/>
              <a:t>Cutset D = 3-4, 3-5, 5-6, 5-7, 7-8 </a:t>
            </a:r>
            <a:br>
              <a:rPr lang="en-US" altLang="en-US" sz="2000" dirty="0"/>
            </a:br>
            <a:r>
              <a:rPr lang="en-US" altLang="en-US" sz="2000" dirty="0"/>
              <a:t>Intersection = 3-4, 5-6</a:t>
            </a: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5716524E-0DC4-4643-889F-F98864C72BB3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3394509"/>
            <a:ext cx="10515600" cy="1397795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endParaRPr lang="en-US" altLang="en-US" dirty="0"/>
          </a:p>
          <a:p>
            <a:pPr marL="342900" indent="-342900"/>
            <a:r>
              <a:rPr lang="en-US" altLang="en-US" dirty="0"/>
              <a:t>Proof. By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>
            <a:extLst>
              <a:ext uri="{FF2B5EF4-FFF2-40B4-BE49-F238E27FC236}">
                <a16:creationId xmlns:a16="http://schemas.microsoft.com/office/drawing/2014/main" id="{DBB3ABAB-8369-4D1B-8EBA-2C019F9F8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1" y="0"/>
            <a:ext cx="10515600" cy="1325563"/>
          </a:xfrm>
        </p:spPr>
        <p:txBody>
          <a:bodyPr/>
          <a:lstStyle/>
          <a:p>
            <a:r>
              <a:rPr lang="en-US" altLang="en-US" dirty="0"/>
              <a:t>Key properties </a:t>
            </a:r>
          </a:p>
        </p:txBody>
      </p:sp>
      <p:sp>
        <p:nvSpPr>
          <p:cNvPr id="683011" name="Rectangle 3">
            <a:extLst>
              <a:ext uri="{FF2B5EF4-FFF2-40B4-BE49-F238E27FC236}">
                <a16:creationId xmlns:a16="http://schemas.microsoft.com/office/drawing/2014/main" id="{267AE286-A294-4ED2-B38E-2074854D1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8" y="1362870"/>
            <a:ext cx="10515600" cy="1451557"/>
          </a:xfrm>
        </p:spPr>
        <p:txBody>
          <a:bodyPr/>
          <a:lstStyle/>
          <a:p>
            <a:r>
              <a:rPr lang="en-US" altLang="en-US" dirty="0"/>
              <a:t>Simplifying assumption.  </a:t>
            </a:r>
            <a:r>
              <a:rPr lang="en-US" altLang="en-US" dirty="0">
                <a:solidFill>
                  <a:schemeClr val="tx1"/>
                </a:solidFill>
              </a:rPr>
              <a:t>All edge costs </a:t>
            </a:r>
            <a:r>
              <a:rPr lang="en-US" altLang="en-US" dirty="0" err="1">
                <a:solidFill>
                  <a:schemeClr val="tx1"/>
                </a:solidFill>
              </a:rPr>
              <a:t>c</a:t>
            </a:r>
            <a:r>
              <a:rPr lang="en-US" altLang="en-US" baseline="-25000" dirty="0" err="1">
                <a:solidFill>
                  <a:schemeClr val="tx1"/>
                </a:solidFill>
              </a:rPr>
              <a:t>e</a:t>
            </a:r>
            <a:r>
              <a:rPr lang="en-US" altLang="en-US" dirty="0">
                <a:solidFill>
                  <a:schemeClr val="tx1"/>
                </a:solidFill>
              </a:rPr>
              <a:t> are distinct.</a:t>
            </a:r>
          </a:p>
          <a:p>
            <a:r>
              <a:rPr lang="en-US" altLang="en-US" dirty="0"/>
              <a:t>Cut property.  </a:t>
            </a:r>
            <a:r>
              <a:rPr lang="en-US" altLang="en-US" dirty="0">
                <a:solidFill>
                  <a:schemeClr val="tx1"/>
                </a:solidFill>
              </a:rPr>
              <a:t>Let S be any subset of nodes, and let e be the min cost edge with exactly one endpoint in S.  T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hen the (any) MST contains e.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83014" name="Oval 6">
            <a:extLst>
              <a:ext uri="{FF2B5EF4-FFF2-40B4-BE49-F238E27FC236}">
                <a16:creationId xmlns:a16="http://schemas.microsoft.com/office/drawing/2014/main" id="{FB788A0E-1E90-4B90-92B1-668C33D93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527" y="4409069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5" name="Oval 7">
            <a:extLst>
              <a:ext uri="{FF2B5EF4-FFF2-40B4-BE49-F238E27FC236}">
                <a16:creationId xmlns:a16="http://schemas.microsoft.com/office/drawing/2014/main" id="{CD1F0A1E-7928-46A8-8C68-56D67EBFC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47364" y="4240794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6" name="Oval 8">
            <a:extLst>
              <a:ext uri="{FF2B5EF4-FFF2-40B4-BE49-F238E27FC236}">
                <a16:creationId xmlns:a16="http://schemas.microsoft.com/office/drawing/2014/main" id="{8A1EB734-F765-41C9-84A2-69E5941FB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87002" y="5285369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7" name="Oval 9">
            <a:extLst>
              <a:ext uri="{FF2B5EF4-FFF2-40B4-BE49-F238E27FC236}">
                <a16:creationId xmlns:a16="http://schemas.microsoft.com/office/drawing/2014/main" id="{A088A77B-76F9-41AB-A4A7-353471F96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2963" y="4216982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8" name="Oval 10">
            <a:extLst>
              <a:ext uri="{FF2B5EF4-FFF2-40B4-BE49-F238E27FC236}">
                <a16:creationId xmlns:a16="http://schemas.microsoft.com/office/drawing/2014/main" id="{B226D87D-6616-4A79-9B15-A10AD874E9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85213" y="4644019"/>
            <a:ext cx="179388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19" name="Oval 11">
            <a:extLst>
              <a:ext uri="{FF2B5EF4-FFF2-40B4-BE49-F238E27FC236}">
                <a16:creationId xmlns:a16="http://schemas.microsoft.com/office/drawing/2014/main" id="{27668D2A-7587-4A33-B9E4-DAA7330BB2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6502" y="5285369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20" name="Oval 12">
            <a:extLst>
              <a:ext uri="{FF2B5EF4-FFF2-40B4-BE49-F238E27FC236}">
                <a16:creationId xmlns:a16="http://schemas.microsoft.com/office/drawing/2014/main" id="{6B0B6A4F-EE54-4139-8E0F-929E307CA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1102" y="4602743"/>
            <a:ext cx="179387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21" name="Oval 13">
            <a:extLst>
              <a:ext uri="{FF2B5EF4-FFF2-40B4-BE49-F238E27FC236}">
                <a16:creationId xmlns:a16="http://schemas.microsoft.com/office/drawing/2014/main" id="{C93F968C-DF0C-4678-BF15-9053C07DE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96402" y="4913894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3022" name="AutoShape 14">
            <a:extLst>
              <a:ext uri="{FF2B5EF4-FFF2-40B4-BE49-F238E27FC236}">
                <a16:creationId xmlns:a16="http://schemas.microsoft.com/office/drawing/2014/main" id="{020AB20C-3197-48B6-9AF3-44D600E39562}"/>
              </a:ext>
            </a:extLst>
          </p:cNvPr>
          <p:cNvCxnSpPr>
            <a:cxnSpLocks noChangeShapeType="1"/>
            <a:stCxn id="683014" idx="6"/>
            <a:endCxn id="683017" idx="3"/>
          </p:cNvCxnSpPr>
          <p:nvPr/>
        </p:nvCxnSpPr>
        <p:spPr bwMode="auto">
          <a:xfrm flipV="1">
            <a:off x="5862913" y="4359856"/>
            <a:ext cx="427038" cy="13335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4" name="AutoShape 16">
            <a:extLst>
              <a:ext uri="{FF2B5EF4-FFF2-40B4-BE49-F238E27FC236}">
                <a16:creationId xmlns:a16="http://schemas.microsoft.com/office/drawing/2014/main" id="{A47693BA-B7FB-4763-8851-422AF6CE8851}"/>
              </a:ext>
            </a:extLst>
          </p:cNvPr>
          <p:cNvCxnSpPr>
            <a:cxnSpLocks noChangeShapeType="1"/>
            <a:stCxn id="683019" idx="1"/>
            <a:endCxn id="683014" idx="4"/>
          </p:cNvCxnSpPr>
          <p:nvPr/>
        </p:nvCxnSpPr>
        <p:spPr bwMode="auto">
          <a:xfrm flipH="1" flipV="1">
            <a:off x="5774014" y="4577344"/>
            <a:ext cx="879475" cy="7334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7" name="AutoShape 19">
            <a:extLst>
              <a:ext uri="{FF2B5EF4-FFF2-40B4-BE49-F238E27FC236}">
                <a16:creationId xmlns:a16="http://schemas.microsoft.com/office/drawing/2014/main" id="{2AB602D3-13D8-4A3D-85DB-2180D2BCCE94}"/>
              </a:ext>
            </a:extLst>
          </p:cNvPr>
          <p:cNvCxnSpPr>
            <a:cxnSpLocks noChangeShapeType="1"/>
            <a:stCxn id="683015" idx="4"/>
            <a:endCxn id="683016" idx="0"/>
          </p:cNvCxnSpPr>
          <p:nvPr/>
        </p:nvCxnSpPr>
        <p:spPr bwMode="auto">
          <a:xfrm flipH="1">
            <a:off x="8177489" y="4409068"/>
            <a:ext cx="360363" cy="8763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8" name="AutoShape 20">
            <a:extLst>
              <a:ext uri="{FF2B5EF4-FFF2-40B4-BE49-F238E27FC236}">
                <a16:creationId xmlns:a16="http://schemas.microsoft.com/office/drawing/2014/main" id="{DCAB4B60-C53B-4D18-83BF-3DEB23B97F0D}"/>
              </a:ext>
            </a:extLst>
          </p:cNvPr>
          <p:cNvCxnSpPr>
            <a:cxnSpLocks noChangeShapeType="1"/>
            <a:stCxn id="683016" idx="2"/>
            <a:endCxn id="683019" idx="6"/>
          </p:cNvCxnSpPr>
          <p:nvPr/>
        </p:nvCxnSpPr>
        <p:spPr bwMode="auto">
          <a:xfrm flipH="1">
            <a:off x="6805889" y="5371093"/>
            <a:ext cx="1281113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29" name="AutoShape 21">
            <a:extLst>
              <a:ext uri="{FF2B5EF4-FFF2-40B4-BE49-F238E27FC236}">
                <a16:creationId xmlns:a16="http://schemas.microsoft.com/office/drawing/2014/main" id="{5CD453D5-705F-4D74-BE92-ADCC1DD23061}"/>
              </a:ext>
            </a:extLst>
          </p:cNvPr>
          <p:cNvCxnSpPr>
            <a:cxnSpLocks noChangeShapeType="1"/>
            <a:stCxn id="683017" idx="6"/>
            <a:endCxn id="683015" idx="1"/>
          </p:cNvCxnSpPr>
          <p:nvPr/>
        </p:nvCxnSpPr>
        <p:spPr bwMode="auto">
          <a:xfrm flipV="1">
            <a:off x="6442351" y="4266194"/>
            <a:ext cx="2032000" cy="3492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30" name="Text Box 22">
            <a:extLst>
              <a:ext uri="{FF2B5EF4-FFF2-40B4-BE49-F238E27FC236}">
                <a16:creationId xmlns:a16="http://schemas.microsoft.com/office/drawing/2014/main" id="{4F907139-B641-4CE6-ABCB-BC988DD01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738" y="4164593"/>
            <a:ext cx="2349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f </a:t>
            </a:r>
          </a:p>
        </p:txBody>
      </p:sp>
      <p:sp>
        <p:nvSpPr>
          <p:cNvPr id="683033" name="Rectangle 25">
            <a:extLst>
              <a:ext uri="{FF2B5EF4-FFF2-40B4-BE49-F238E27FC236}">
                <a16:creationId xmlns:a16="http://schemas.microsoft.com/office/drawing/2014/main" id="{62722E8D-001C-4615-B0BA-42D660E4A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826" y="3856618"/>
            <a:ext cx="30938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C</a:t>
            </a:r>
          </a:p>
        </p:txBody>
      </p:sp>
      <p:sp>
        <p:nvSpPr>
          <p:cNvPr id="683034" name="Freeform 26">
            <a:extLst>
              <a:ext uri="{FF2B5EF4-FFF2-40B4-BE49-F238E27FC236}">
                <a16:creationId xmlns:a16="http://schemas.microsoft.com/office/drawing/2014/main" id="{7DF23DD2-02B3-4549-A723-A823EDABCD77}"/>
              </a:ext>
            </a:extLst>
          </p:cNvPr>
          <p:cNvSpPr>
            <a:spLocks/>
          </p:cNvSpPr>
          <p:nvPr/>
        </p:nvSpPr>
        <p:spPr bwMode="auto">
          <a:xfrm>
            <a:off x="2718076" y="4020132"/>
            <a:ext cx="1897062" cy="1620837"/>
          </a:xfrm>
          <a:custGeom>
            <a:avLst/>
            <a:gdLst>
              <a:gd name="T0" fmla="*/ 970 w 1195"/>
              <a:gd name="T1" fmla="*/ 0 h 1021"/>
              <a:gd name="T2" fmla="*/ 1083 w 1195"/>
              <a:gd name="T3" fmla="*/ 57 h 1021"/>
              <a:gd name="T4" fmla="*/ 1121 w 1195"/>
              <a:gd name="T5" fmla="*/ 82 h 1021"/>
              <a:gd name="T6" fmla="*/ 1089 w 1195"/>
              <a:gd name="T7" fmla="*/ 676 h 1021"/>
              <a:gd name="T8" fmla="*/ 1064 w 1195"/>
              <a:gd name="T9" fmla="*/ 795 h 1021"/>
              <a:gd name="T10" fmla="*/ 970 w 1195"/>
              <a:gd name="T11" fmla="*/ 983 h 1021"/>
              <a:gd name="T12" fmla="*/ 920 w 1195"/>
              <a:gd name="T13" fmla="*/ 1021 h 1021"/>
              <a:gd name="T14" fmla="*/ 745 w 1195"/>
              <a:gd name="T15" fmla="*/ 1014 h 1021"/>
              <a:gd name="T16" fmla="*/ 708 w 1195"/>
              <a:gd name="T17" fmla="*/ 1002 h 1021"/>
              <a:gd name="T18" fmla="*/ 670 w 1195"/>
              <a:gd name="T19" fmla="*/ 977 h 1021"/>
              <a:gd name="T20" fmla="*/ 657 w 1195"/>
              <a:gd name="T21" fmla="*/ 958 h 1021"/>
              <a:gd name="T22" fmla="*/ 582 w 1195"/>
              <a:gd name="T23" fmla="*/ 902 h 1021"/>
              <a:gd name="T24" fmla="*/ 545 w 1195"/>
              <a:gd name="T25" fmla="*/ 870 h 1021"/>
              <a:gd name="T26" fmla="*/ 150 w 1195"/>
              <a:gd name="T27" fmla="*/ 789 h 1021"/>
              <a:gd name="T28" fmla="*/ 113 w 1195"/>
              <a:gd name="T29" fmla="*/ 777 h 1021"/>
              <a:gd name="T30" fmla="*/ 94 w 1195"/>
              <a:gd name="T31" fmla="*/ 770 h 1021"/>
              <a:gd name="T32" fmla="*/ 56 w 1195"/>
              <a:gd name="T33" fmla="*/ 758 h 1021"/>
              <a:gd name="T34" fmla="*/ 38 w 1195"/>
              <a:gd name="T35" fmla="*/ 752 h 1021"/>
              <a:gd name="T36" fmla="*/ 0 w 1195"/>
              <a:gd name="T37" fmla="*/ 695 h 1021"/>
              <a:gd name="T38" fmla="*/ 38 w 1195"/>
              <a:gd name="T39" fmla="*/ 564 h 1021"/>
              <a:gd name="T40" fmla="*/ 81 w 1195"/>
              <a:gd name="T41" fmla="*/ 520 h 1021"/>
              <a:gd name="T42" fmla="*/ 219 w 1195"/>
              <a:gd name="T43" fmla="*/ 495 h 1021"/>
              <a:gd name="T44" fmla="*/ 357 w 1195"/>
              <a:gd name="T45" fmla="*/ 476 h 1021"/>
              <a:gd name="T46" fmla="*/ 513 w 1195"/>
              <a:gd name="T47" fmla="*/ 432 h 1021"/>
              <a:gd name="T48" fmla="*/ 589 w 1195"/>
              <a:gd name="T49" fmla="*/ 351 h 1021"/>
              <a:gd name="T50" fmla="*/ 645 w 1195"/>
              <a:gd name="T51" fmla="*/ 276 h 1021"/>
              <a:gd name="T52" fmla="*/ 726 w 1195"/>
              <a:gd name="T53" fmla="*/ 169 h 1021"/>
              <a:gd name="T54" fmla="*/ 814 w 1195"/>
              <a:gd name="T55" fmla="*/ 94 h 1021"/>
              <a:gd name="T56" fmla="*/ 833 w 1195"/>
              <a:gd name="T57" fmla="*/ 75 h 1021"/>
              <a:gd name="T58" fmla="*/ 852 w 1195"/>
              <a:gd name="T59" fmla="*/ 63 h 1021"/>
              <a:gd name="T60" fmla="*/ 970 w 1195"/>
              <a:gd name="T61" fmla="*/ 0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95" h="1021">
                <a:moveTo>
                  <a:pt x="970" y="0"/>
                </a:moveTo>
                <a:cubicBezTo>
                  <a:pt x="1048" y="11"/>
                  <a:pt x="1021" y="16"/>
                  <a:pt x="1083" y="57"/>
                </a:cubicBezTo>
                <a:cubicBezTo>
                  <a:pt x="1096" y="65"/>
                  <a:pt x="1121" y="82"/>
                  <a:pt x="1121" y="82"/>
                </a:cubicBezTo>
                <a:cubicBezTo>
                  <a:pt x="1195" y="303"/>
                  <a:pt x="1143" y="481"/>
                  <a:pt x="1089" y="676"/>
                </a:cubicBezTo>
                <a:cubicBezTo>
                  <a:pt x="1084" y="718"/>
                  <a:pt x="1074" y="754"/>
                  <a:pt x="1064" y="795"/>
                </a:cubicBezTo>
                <a:cubicBezTo>
                  <a:pt x="1046" y="867"/>
                  <a:pt x="1038" y="940"/>
                  <a:pt x="970" y="983"/>
                </a:cubicBezTo>
                <a:cubicBezTo>
                  <a:pt x="956" y="1006"/>
                  <a:pt x="945" y="1012"/>
                  <a:pt x="920" y="1021"/>
                </a:cubicBezTo>
                <a:cubicBezTo>
                  <a:pt x="862" y="1019"/>
                  <a:pt x="803" y="1019"/>
                  <a:pt x="745" y="1014"/>
                </a:cubicBezTo>
                <a:cubicBezTo>
                  <a:pt x="732" y="1013"/>
                  <a:pt x="708" y="1002"/>
                  <a:pt x="708" y="1002"/>
                </a:cubicBezTo>
                <a:cubicBezTo>
                  <a:pt x="695" y="994"/>
                  <a:pt x="683" y="985"/>
                  <a:pt x="670" y="977"/>
                </a:cubicBezTo>
                <a:cubicBezTo>
                  <a:pt x="664" y="973"/>
                  <a:pt x="662" y="964"/>
                  <a:pt x="657" y="958"/>
                </a:cubicBezTo>
                <a:cubicBezTo>
                  <a:pt x="639" y="936"/>
                  <a:pt x="609" y="910"/>
                  <a:pt x="582" y="902"/>
                </a:cubicBezTo>
                <a:cubicBezTo>
                  <a:pt x="560" y="867"/>
                  <a:pt x="583" y="897"/>
                  <a:pt x="545" y="870"/>
                </a:cubicBezTo>
                <a:cubicBezTo>
                  <a:pt x="390" y="761"/>
                  <a:pt x="409" y="795"/>
                  <a:pt x="150" y="789"/>
                </a:cubicBezTo>
                <a:cubicBezTo>
                  <a:pt x="138" y="785"/>
                  <a:pt x="125" y="781"/>
                  <a:pt x="113" y="777"/>
                </a:cubicBezTo>
                <a:cubicBezTo>
                  <a:pt x="107" y="775"/>
                  <a:pt x="100" y="772"/>
                  <a:pt x="94" y="770"/>
                </a:cubicBezTo>
                <a:cubicBezTo>
                  <a:pt x="81" y="766"/>
                  <a:pt x="69" y="762"/>
                  <a:pt x="56" y="758"/>
                </a:cubicBezTo>
                <a:cubicBezTo>
                  <a:pt x="50" y="756"/>
                  <a:pt x="38" y="752"/>
                  <a:pt x="38" y="752"/>
                </a:cubicBezTo>
                <a:cubicBezTo>
                  <a:pt x="24" y="731"/>
                  <a:pt x="8" y="719"/>
                  <a:pt x="0" y="695"/>
                </a:cubicBezTo>
                <a:cubicBezTo>
                  <a:pt x="5" y="626"/>
                  <a:pt x="4" y="614"/>
                  <a:pt x="38" y="564"/>
                </a:cubicBezTo>
                <a:cubicBezTo>
                  <a:pt x="68" y="520"/>
                  <a:pt x="48" y="531"/>
                  <a:pt x="81" y="520"/>
                </a:cubicBezTo>
                <a:cubicBezTo>
                  <a:pt x="127" y="489"/>
                  <a:pt x="152" y="499"/>
                  <a:pt x="219" y="495"/>
                </a:cubicBezTo>
                <a:cubicBezTo>
                  <a:pt x="269" y="479"/>
                  <a:pt x="296" y="480"/>
                  <a:pt x="357" y="476"/>
                </a:cubicBezTo>
                <a:cubicBezTo>
                  <a:pt x="409" y="459"/>
                  <a:pt x="460" y="445"/>
                  <a:pt x="513" y="432"/>
                </a:cubicBezTo>
                <a:cubicBezTo>
                  <a:pt x="545" y="412"/>
                  <a:pt x="548" y="377"/>
                  <a:pt x="589" y="351"/>
                </a:cubicBezTo>
                <a:cubicBezTo>
                  <a:pt x="607" y="323"/>
                  <a:pt x="626" y="302"/>
                  <a:pt x="645" y="276"/>
                </a:cubicBezTo>
                <a:cubicBezTo>
                  <a:pt x="660" y="230"/>
                  <a:pt x="686" y="198"/>
                  <a:pt x="726" y="169"/>
                </a:cubicBezTo>
                <a:cubicBezTo>
                  <a:pt x="751" y="133"/>
                  <a:pt x="784" y="124"/>
                  <a:pt x="814" y="94"/>
                </a:cubicBezTo>
                <a:cubicBezTo>
                  <a:pt x="820" y="88"/>
                  <a:pt x="826" y="81"/>
                  <a:pt x="833" y="75"/>
                </a:cubicBezTo>
                <a:cubicBezTo>
                  <a:pt x="839" y="70"/>
                  <a:pt x="846" y="68"/>
                  <a:pt x="852" y="63"/>
                </a:cubicBezTo>
                <a:cubicBezTo>
                  <a:pt x="902" y="18"/>
                  <a:pt x="899" y="0"/>
                  <a:pt x="97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3035" name="Freeform 27">
            <a:extLst>
              <a:ext uri="{FF2B5EF4-FFF2-40B4-BE49-F238E27FC236}">
                <a16:creationId xmlns:a16="http://schemas.microsoft.com/office/drawing/2014/main" id="{8E3E5E5A-7548-417D-8485-F1C7EC4B878F}"/>
              </a:ext>
            </a:extLst>
          </p:cNvPr>
          <p:cNvSpPr>
            <a:spLocks/>
          </p:cNvSpPr>
          <p:nvPr/>
        </p:nvSpPr>
        <p:spPr bwMode="auto">
          <a:xfrm>
            <a:off x="986114" y="4123318"/>
            <a:ext cx="1387475" cy="1487488"/>
          </a:xfrm>
          <a:custGeom>
            <a:avLst/>
            <a:gdLst>
              <a:gd name="T0" fmla="*/ 122 w 874"/>
              <a:gd name="T1" fmla="*/ 141 h 937"/>
              <a:gd name="T2" fmla="*/ 236 w 874"/>
              <a:gd name="T3" fmla="*/ 111 h 937"/>
              <a:gd name="T4" fmla="*/ 349 w 874"/>
              <a:gd name="T5" fmla="*/ 48 h 937"/>
              <a:gd name="T6" fmla="*/ 518 w 874"/>
              <a:gd name="T7" fmla="*/ 10 h 937"/>
              <a:gd name="T8" fmla="*/ 793 w 874"/>
              <a:gd name="T9" fmla="*/ 29 h 937"/>
              <a:gd name="T10" fmla="*/ 825 w 874"/>
              <a:gd name="T11" fmla="*/ 111 h 937"/>
              <a:gd name="T12" fmla="*/ 850 w 874"/>
              <a:gd name="T13" fmla="*/ 186 h 937"/>
              <a:gd name="T14" fmla="*/ 837 w 874"/>
              <a:gd name="T15" fmla="*/ 555 h 937"/>
              <a:gd name="T16" fmla="*/ 843 w 874"/>
              <a:gd name="T17" fmla="*/ 611 h 937"/>
              <a:gd name="T18" fmla="*/ 743 w 874"/>
              <a:gd name="T19" fmla="*/ 843 h 937"/>
              <a:gd name="T20" fmla="*/ 662 w 874"/>
              <a:gd name="T21" fmla="*/ 937 h 937"/>
              <a:gd name="T22" fmla="*/ 518 w 874"/>
              <a:gd name="T23" fmla="*/ 912 h 937"/>
              <a:gd name="T24" fmla="*/ 480 w 874"/>
              <a:gd name="T25" fmla="*/ 887 h 937"/>
              <a:gd name="T26" fmla="*/ 468 w 874"/>
              <a:gd name="T27" fmla="*/ 868 h 937"/>
              <a:gd name="T28" fmla="*/ 449 w 874"/>
              <a:gd name="T29" fmla="*/ 856 h 937"/>
              <a:gd name="T30" fmla="*/ 386 w 874"/>
              <a:gd name="T31" fmla="*/ 793 h 937"/>
              <a:gd name="T32" fmla="*/ 374 w 874"/>
              <a:gd name="T33" fmla="*/ 774 h 937"/>
              <a:gd name="T34" fmla="*/ 355 w 874"/>
              <a:gd name="T35" fmla="*/ 762 h 937"/>
              <a:gd name="T36" fmla="*/ 330 w 874"/>
              <a:gd name="T37" fmla="*/ 724 h 937"/>
              <a:gd name="T38" fmla="*/ 311 w 874"/>
              <a:gd name="T39" fmla="*/ 705 h 937"/>
              <a:gd name="T40" fmla="*/ 248 w 874"/>
              <a:gd name="T41" fmla="*/ 665 h 937"/>
              <a:gd name="T42" fmla="*/ 204 w 874"/>
              <a:gd name="T43" fmla="*/ 602 h 937"/>
              <a:gd name="T44" fmla="*/ 151 w 874"/>
              <a:gd name="T45" fmla="*/ 573 h 937"/>
              <a:gd name="T46" fmla="*/ 132 w 874"/>
              <a:gd name="T47" fmla="*/ 539 h 937"/>
              <a:gd name="T48" fmla="*/ 69 w 874"/>
              <a:gd name="T49" fmla="*/ 480 h 937"/>
              <a:gd name="T50" fmla="*/ 6 w 874"/>
              <a:gd name="T51" fmla="*/ 335 h 937"/>
              <a:gd name="T52" fmla="*/ 30 w 874"/>
              <a:gd name="T53" fmla="*/ 219 h 937"/>
              <a:gd name="T54" fmla="*/ 122 w 874"/>
              <a:gd name="T55" fmla="*/ 141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74" h="937">
                <a:moveTo>
                  <a:pt x="122" y="141"/>
                </a:moveTo>
                <a:cubicBezTo>
                  <a:pt x="146" y="129"/>
                  <a:pt x="210" y="117"/>
                  <a:pt x="236" y="111"/>
                </a:cubicBezTo>
                <a:cubicBezTo>
                  <a:pt x="270" y="87"/>
                  <a:pt x="311" y="66"/>
                  <a:pt x="349" y="48"/>
                </a:cubicBezTo>
                <a:cubicBezTo>
                  <a:pt x="398" y="25"/>
                  <a:pt x="465" y="22"/>
                  <a:pt x="518" y="10"/>
                </a:cubicBezTo>
                <a:cubicBezTo>
                  <a:pt x="603" y="13"/>
                  <a:pt x="706" y="0"/>
                  <a:pt x="793" y="29"/>
                </a:cubicBezTo>
                <a:cubicBezTo>
                  <a:pt x="804" y="58"/>
                  <a:pt x="807" y="85"/>
                  <a:pt x="825" y="111"/>
                </a:cubicBezTo>
                <a:cubicBezTo>
                  <a:pt x="833" y="136"/>
                  <a:pt x="841" y="161"/>
                  <a:pt x="850" y="186"/>
                </a:cubicBezTo>
                <a:cubicBezTo>
                  <a:pt x="863" y="308"/>
                  <a:pt x="874" y="437"/>
                  <a:pt x="837" y="555"/>
                </a:cubicBezTo>
                <a:cubicBezTo>
                  <a:pt x="839" y="574"/>
                  <a:pt x="843" y="592"/>
                  <a:pt x="843" y="611"/>
                </a:cubicBezTo>
                <a:cubicBezTo>
                  <a:pt x="843" y="715"/>
                  <a:pt x="797" y="764"/>
                  <a:pt x="743" y="843"/>
                </a:cubicBezTo>
                <a:cubicBezTo>
                  <a:pt x="729" y="886"/>
                  <a:pt x="708" y="922"/>
                  <a:pt x="662" y="937"/>
                </a:cubicBezTo>
                <a:cubicBezTo>
                  <a:pt x="610" y="933"/>
                  <a:pt x="567" y="927"/>
                  <a:pt x="518" y="912"/>
                </a:cubicBezTo>
                <a:cubicBezTo>
                  <a:pt x="505" y="904"/>
                  <a:pt x="493" y="895"/>
                  <a:pt x="480" y="887"/>
                </a:cubicBezTo>
                <a:cubicBezTo>
                  <a:pt x="474" y="883"/>
                  <a:pt x="473" y="873"/>
                  <a:pt x="468" y="868"/>
                </a:cubicBezTo>
                <a:cubicBezTo>
                  <a:pt x="463" y="863"/>
                  <a:pt x="455" y="860"/>
                  <a:pt x="449" y="856"/>
                </a:cubicBezTo>
                <a:cubicBezTo>
                  <a:pt x="433" y="832"/>
                  <a:pt x="410" y="808"/>
                  <a:pt x="386" y="793"/>
                </a:cubicBezTo>
                <a:cubicBezTo>
                  <a:pt x="382" y="787"/>
                  <a:pt x="379" y="779"/>
                  <a:pt x="374" y="774"/>
                </a:cubicBezTo>
                <a:cubicBezTo>
                  <a:pt x="369" y="769"/>
                  <a:pt x="360" y="768"/>
                  <a:pt x="355" y="762"/>
                </a:cubicBezTo>
                <a:cubicBezTo>
                  <a:pt x="345" y="751"/>
                  <a:pt x="341" y="735"/>
                  <a:pt x="330" y="724"/>
                </a:cubicBezTo>
                <a:cubicBezTo>
                  <a:pt x="324" y="718"/>
                  <a:pt x="317" y="711"/>
                  <a:pt x="311" y="705"/>
                </a:cubicBezTo>
                <a:cubicBezTo>
                  <a:pt x="294" y="654"/>
                  <a:pt x="280" y="714"/>
                  <a:pt x="248" y="665"/>
                </a:cubicBezTo>
                <a:cubicBezTo>
                  <a:pt x="229" y="637"/>
                  <a:pt x="224" y="631"/>
                  <a:pt x="204" y="602"/>
                </a:cubicBezTo>
                <a:cubicBezTo>
                  <a:pt x="198" y="583"/>
                  <a:pt x="160" y="590"/>
                  <a:pt x="151" y="573"/>
                </a:cubicBezTo>
                <a:cubicBezTo>
                  <a:pt x="142" y="563"/>
                  <a:pt x="146" y="555"/>
                  <a:pt x="132" y="539"/>
                </a:cubicBezTo>
                <a:cubicBezTo>
                  <a:pt x="118" y="523"/>
                  <a:pt x="90" y="514"/>
                  <a:pt x="69" y="480"/>
                </a:cubicBezTo>
                <a:cubicBezTo>
                  <a:pt x="64" y="446"/>
                  <a:pt x="5" y="372"/>
                  <a:pt x="6" y="335"/>
                </a:cubicBezTo>
                <a:cubicBezTo>
                  <a:pt x="0" y="292"/>
                  <a:pt x="11" y="251"/>
                  <a:pt x="30" y="219"/>
                </a:cubicBezTo>
                <a:cubicBezTo>
                  <a:pt x="39" y="172"/>
                  <a:pt x="132" y="184"/>
                  <a:pt x="122" y="1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3036" name="Oval 28">
            <a:extLst>
              <a:ext uri="{FF2B5EF4-FFF2-40B4-BE49-F238E27FC236}">
                <a16:creationId xmlns:a16="http://schemas.microsoft.com/office/drawing/2014/main" id="{6BA9849E-8AB6-4FB7-952A-C0FD120D3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4577" y="4439232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7" name="Oval 29">
            <a:extLst>
              <a:ext uri="{FF2B5EF4-FFF2-40B4-BE49-F238E27FC236}">
                <a16:creationId xmlns:a16="http://schemas.microsoft.com/office/drawing/2014/main" id="{2D3C0A1A-9602-47DB-8C87-8C2972818B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8414" y="4270957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8" name="Oval 30">
            <a:extLst>
              <a:ext uri="{FF2B5EF4-FFF2-40B4-BE49-F238E27FC236}">
                <a16:creationId xmlns:a16="http://schemas.microsoft.com/office/drawing/2014/main" id="{B021C081-E0E9-4CD5-9DF0-BCF406CA52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677" y="5315531"/>
            <a:ext cx="179387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39" name="Oval 31">
            <a:extLst>
              <a:ext uri="{FF2B5EF4-FFF2-40B4-BE49-F238E27FC236}">
                <a16:creationId xmlns:a16="http://schemas.microsoft.com/office/drawing/2014/main" id="{A71E54DC-ED9D-408F-9EF8-221762D55E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4013" y="4270957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0" name="Oval 32">
            <a:extLst>
              <a:ext uri="{FF2B5EF4-FFF2-40B4-BE49-F238E27FC236}">
                <a16:creationId xmlns:a16="http://schemas.microsoft.com/office/drawing/2014/main" id="{70EEFC2D-3911-484F-B79E-5B2EC5000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40213" y="4682119"/>
            <a:ext cx="179388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1" name="Oval 33">
            <a:extLst>
              <a:ext uri="{FF2B5EF4-FFF2-40B4-BE49-F238E27FC236}">
                <a16:creationId xmlns:a16="http://schemas.microsoft.com/office/drawing/2014/main" id="{AEB48AEF-CDCB-4885-AF76-75744FC5BD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3052" y="5315531"/>
            <a:ext cx="179387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2" name="Oval 34">
            <a:extLst>
              <a:ext uri="{FF2B5EF4-FFF2-40B4-BE49-F238E27FC236}">
                <a16:creationId xmlns:a16="http://schemas.microsoft.com/office/drawing/2014/main" id="{F62E4C72-B5F6-4537-85DB-81184F9A22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4388" y="4802768"/>
            <a:ext cx="179388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3043" name="Oval 35">
            <a:extLst>
              <a:ext uri="{FF2B5EF4-FFF2-40B4-BE49-F238E27FC236}">
                <a16:creationId xmlns:a16="http://schemas.microsoft.com/office/drawing/2014/main" id="{BCA6CD71-989D-4284-987A-A22B3A20ED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5577" y="4920244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3050" name="AutoShape 42">
            <a:extLst>
              <a:ext uri="{FF2B5EF4-FFF2-40B4-BE49-F238E27FC236}">
                <a16:creationId xmlns:a16="http://schemas.microsoft.com/office/drawing/2014/main" id="{7C7C3B26-5AA9-43F6-82DF-01628BB9D486}"/>
              </a:ext>
            </a:extLst>
          </p:cNvPr>
          <p:cNvCxnSpPr>
            <a:cxnSpLocks noChangeShapeType="1"/>
            <a:stCxn id="683038" idx="2"/>
            <a:endCxn id="683041" idx="6"/>
          </p:cNvCxnSpPr>
          <p:nvPr/>
        </p:nvCxnSpPr>
        <p:spPr bwMode="auto">
          <a:xfrm flipH="1">
            <a:off x="2062438" y="5401256"/>
            <a:ext cx="1900238" cy="0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51" name="AutoShape 43">
            <a:extLst>
              <a:ext uri="{FF2B5EF4-FFF2-40B4-BE49-F238E27FC236}">
                <a16:creationId xmlns:a16="http://schemas.microsoft.com/office/drawing/2014/main" id="{3ADB7D71-783F-42A4-9185-06383BAEEC69}"/>
              </a:ext>
            </a:extLst>
          </p:cNvPr>
          <p:cNvCxnSpPr>
            <a:cxnSpLocks noChangeShapeType="1"/>
            <a:stCxn id="683039" idx="6"/>
            <a:endCxn id="683037" idx="1"/>
          </p:cNvCxnSpPr>
          <p:nvPr/>
        </p:nvCxnSpPr>
        <p:spPr bwMode="auto">
          <a:xfrm flipV="1">
            <a:off x="2143401" y="4296357"/>
            <a:ext cx="2032000" cy="58737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55" name="Rectangle 47">
            <a:extLst>
              <a:ext uri="{FF2B5EF4-FFF2-40B4-BE49-F238E27FC236}">
                <a16:creationId xmlns:a16="http://schemas.microsoft.com/office/drawing/2014/main" id="{E65B22F1-9213-45C2-9507-53FC6F69E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064" y="4502731"/>
            <a:ext cx="29174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S</a:t>
            </a:r>
          </a:p>
        </p:txBody>
      </p:sp>
      <p:cxnSp>
        <p:nvCxnSpPr>
          <p:cNvPr id="683056" name="AutoShape 48">
            <a:extLst>
              <a:ext uri="{FF2B5EF4-FFF2-40B4-BE49-F238E27FC236}">
                <a16:creationId xmlns:a16="http://schemas.microsoft.com/office/drawing/2014/main" id="{C698C020-AC09-404A-86C7-5DFFAA03665A}"/>
              </a:ext>
            </a:extLst>
          </p:cNvPr>
          <p:cNvCxnSpPr>
            <a:cxnSpLocks noChangeShapeType="1"/>
            <a:stCxn id="683040" idx="6"/>
            <a:endCxn id="683043" idx="2"/>
          </p:cNvCxnSpPr>
          <p:nvPr/>
        </p:nvCxnSpPr>
        <p:spPr bwMode="auto">
          <a:xfrm>
            <a:off x="2219602" y="4767844"/>
            <a:ext cx="815975" cy="238125"/>
          </a:xfrm>
          <a:prstGeom prst="straightConnector1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3057" name="Rectangle 49">
            <a:extLst>
              <a:ext uri="{FF2B5EF4-FFF2-40B4-BE49-F238E27FC236}">
                <a16:creationId xmlns:a16="http://schemas.microsoft.com/office/drawing/2014/main" id="{E72FE59A-6B56-4B2F-80C3-3D56522B6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877" y="5804481"/>
            <a:ext cx="1558119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e is in the MST</a:t>
            </a:r>
          </a:p>
        </p:txBody>
      </p:sp>
      <p:sp>
        <p:nvSpPr>
          <p:cNvPr id="683054" name="Text Box 46">
            <a:extLst>
              <a:ext uri="{FF2B5EF4-FFF2-40B4-BE49-F238E27FC236}">
                <a16:creationId xmlns:a16="http://schemas.microsoft.com/office/drawing/2014/main" id="{E3694FB7-F0BC-45AA-B459-13D570DFB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463" y="4726568"/>
            <a:ext cx="1587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e</a:t>
            </a:r>
          </a:p>
        </p:txBody>
      </p:sp>
      <p:sp>
        <p:nvSpPr>
          <p:cNvPr id="683058" name="Rectangle 50">
            <a:extLst>
              <a:ext uri="{FF2B5EF4-FFF2-40B4-BE49-F238E27FC236}">
                <a16:creationId xmlns:a16="http://schemas.microsoft.com/office/drawing/2014/main" id="{A505CB6F-82CC-45AB-98E1-FE7F75C8F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327" y="5821943"/>
            <a:ext cx="188673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f is not in the MST</a:t>
            </a:r>
          </a:p>
        </p:txBody>
      </p:sp>
      <p:cxnSp>
        <p:nvCxnSpPr>
          <p:cNvPr id="683059" name="AutoShape 51">
            <a:extLst>
              <a:ext uri="{FF2B5EF4-FFF2-40B4-BE49-F238E27FC236}">
                <a16:creationId xmlns:a16="http://schemas.microsoft.com/office/drawing/2014/main" id="{C36EAD51-34DB-43FC-9A1E-146DC0DB08C3}"/>
              </a:ext>
            </a:extLst>
          </p:cNvPr>
          <p:cNvCxnSpPr>
            <a:cxnSpLocks noChangeShapeType="1"/>
            <a:stCxn id="683036" idx="6"/>
            <a:endCxn id="683040" idx="1"/>
          </p:cNvCxnSpPr>
          <p:nvPr/>
        </p:nvCxnSpPr>
        <p:spPr bwMode="auto">
          <a:xfrm>
            <a:off x="1563963" y="4523368"/>
            <a:ext cx="503238" cy="1841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0" name="AutoShape 52">
            <a:extLst>
              <a:ext uri="{FF2B5EF4-FFF2-40B4-BE49-F238E27FC236}">
                <a16:creationId xmlns:a16="http://schemas.microsoft.com/office/drawing/2014/main" id="{B6EA4322-33DC-452B-8C95-3D30479D58D7}"/>
              </a:ext>
            </a:extLst>
          </p:cNvPr>
          <p:cNvCxnSpPr>
            <a:cxnSpLocks noChangeShapeType="1"/>
            <a:stCxn id="683036" idx="5"/>
            <a:endCxn id="683041" idx="1"/>
          </p:cNvCxnSpPr>
          <p:nvPr/>
        </p:nvCxnSpPr>
        <p:spPr bwMode="auto">
          <a:xfrm>
            <a:off x="1536976" y="4582107"/>
            <a:ext cx="373062" cy="758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1" name="AutoShape 53">
            <a:extLst>
              <a:ext uri="{FF2B5EF4-FFF2-40B4-BE49-F238E27FC236}">
                <a16:creationId xmlns:a16="http://schemas.microsoft.com/office/drawing/2014/main" id="{F7B94508-FEB7-458A-9143-C2CFA3AAFFB9}"/>
              </a:ext>
            </a:extLst>
          </p:cNvPr>
          <p:cNvCxnSpPr>
            <a:cxnSpLocks noChangeShapeType="1"/>
            <a:stCxn id="683039" idx="4"/>
            <a:endCxn id="683040" idx="0"/>
          </p:cNvCxnSpPr>
          <p:nvPr/>
        </p:nvCxnSpPr>
        <p:spPr bwMode="auto">
          <a:xfrm>
            <a:off x="2054501" y="4439232"/>
            <a:ext cx="76200" cy="24288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2" name="AutoShape 54">
            <a:extLst>
              <a:ext uri="{FF2B5EF4-FFF2-40B4-BE49-F238E27FC236}">
                <a16:creationId xmlns:a16="http://schemas.microsoft.com/office/drawing/2014/main" id="{13216C3A-5947-47D2-9608-3B61C416A893}"/>
              </a:ext>
            </a:extLst>
          </p:cNvPr>
          <p:cNvCxnSpPr>
            <a:cxnSpLocks noChangeShapeType="1"/>
            <a:stCxn id="683040" idx="4"/>
            <a:endCxn id="683041" idx="0"/>
          </p:cNvCxnSpPr>
          <p:nvPr/>
        </p:nvCxnSpPr>
        <p:spPr bwMode="auto">
          <a:xfrm flipH="1">
            <a:off x="1973539" y="4851981"/>
            <a:ext cx="157163" cy="46355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3" name="AutoShape 55">
            <a:extLst>
              <a:ext uri="{FF2B5EF4-FFF2-40B4-BE49-F238E27FC236}">
                <a16:creationId xmlns:a16="http://schemas.microsoft.com/office/drawing/2014/main" id="{83571909-9862-49B2-A857-66C11423266D}"/>
              </a:ext>
            </a:extLst>
          </p:cNvPr>
          <p:cNvCxnSpPr>
            <a:cxnSpLocks noChangeShapeType="1"/>
            <a:stCxn id="683037" idx="4"/>
            <a:endCxn id="683038" idx="0"/>
          </p:cNvCxnSpPr>
          <p:nvPr/>
        </p:nvCxnSpPr>
        <p:spPr bwMode="auto">
          <a:xfrm flipH="1">
            <a:off x="4053163" y="4439231"/>
            <a:ext cx="185738" cy="8763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4" name="AutoShape 56">
            <a:extLst>
              <a:ext uri="{FF2B5EF4-FFF2-40B4-BE49-F238E27FC236}">
                <a16:creationId xmlns:a16="http://schemas.microsoft.com/office/drawing/2014/main" id="{40577DA9-6227-4455-A7F8-18AA4B6CDC64}"/>
              </a:ext>
            </a:extLst>
          </p:cNvPr>
          <p:cNvCxnSpPr>
            <a:cxnSpLocks noChangeShapeType="1"/>
            <a:stCxn id="683042" idx="2"/>
            <a:endCxn id="683043" idx="6"/>
          </p:cNvCxnSpPr>
          <p:nvPr/>
        </p:nvCxnSpPr>
        <p:spPr bwMode="auto">
          <a:xfrm flipH="1">
            <a:off x="3214964" y="4888494"/>
            <a:ext cx="479425" cy="11747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5" name="AutoShape 57">
            <a:extLst>
              <a:ext uri="{FF2B5EF4-FFF2-40B4-BE49-F238E27FC236}">
                <a16:creationId xmlns:a16="http://schemas.microsoft.com/office/drawing/2014/main" id="{F1CB8D7C-E93D-48B4-86E3-51A3C9DF9290}"/>
              </a:ext>
            </a:extLst>
          </p:cNvPr>
          <p:cNvCxnSpPr>
            <a:cxnSpLocks noChangeShapeType="1"/>
            <a:stCxn id="683017" idx="5"/>
            <a:endCxn id="683018" idx="1"/>
          </p:cNvCxnSpPr>
          <p:nvPr/>
        </p:nvCxnSpPr>
        <p:spPr bwMode="auto">
          <a:xfrm>
            <a:off x="6415363" y="4359856"/>
            <a:ext cx="96838" cy="30956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6" name="AutoShape 58">
            <a:extLst>
              <a:ext uri="{FF2B5EF4-FFF2-40B4-BE49-F238E27FC236}">
                <a16:creationId xmlns:a16="http://schemas.microsoft.com/office/drawing/2014/main" id="{5E3535EC-C793-4AD6-873E-4B5B49B9BD2D}"/>
              </a:ext>
            </a:extLst>
          </p:cNvPr>
          <p:cNvCxnSpPr>
            <a:cxnSpLocks noChangeShapeType="1"/>
            <a:stCxn id="683015" idx="2"/>
            <a:endCxn id="683018" idx="6"/>
          </p:cNvCxnSpPr>
          <p:nvPr/>
        </p:nvCxnSpPr>
        <p:spPr bwMode="auto">
          <a:xfrm flipH="1">
            <a:off x="6664601" y="4324931"/>
            <a:ext cx="1782762" cy="4048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7" name="AutoShape 59">
            <a:extLst>
              <a:ext uri="{FF2B5EF4-FFF2-40B4-BE49-F238E27FC236}">
                <a16:creationId xmlns:a16="http://schemas.microsoft.com/office/drawing/2014/main" id="{3E2C0D25-1324-44DF-B803-D4C28FBE97E9}"/>
              </a:ext>
            </a:extLst>
          </p:cNvPr>
          <p:cNvCxnSpPr>
            <a:cxnSpLocks noChangeShapeType="1"/>
            <a:stCxn id="683021" idx="2"/>
            <a:endCxn id="683018" idx="5"/>
          </p:cNvCxnSpPr>
          <p:nvPr/>
        </p:nvCxnSpPr>
        <p:spPr bwMode="auto">
          <a:xfrm flipH="1" flipV="1">
            <a:off x="6637613" y="4788482"/>
            <a:ext cx="458788" cy="211137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8" name="AutoShape 60">
            <a:extLst>
              <a:ext uri="{FF2B5EF4-FFF2-40B4-BE49-F238E27FC236}">
                <a16:creationId xmlns:a16="http://schemas.microsoft.com/office/drawing/2014/main" id="{0E8BC0B8-D1F9-4FD4-B20E-55FD47CEE039}"/>
              </a:ext>
            </a:extLst>
          </p:cNvPr>
          <p:cNvCxnSpPr>
            <a:cxnSpLocks noChangeShapeType="1"/>
            <a:stCxn id="683021" idx="3"/>
            <a:endCxn id="683019" idx="7"/>
          </p:cNvCxnSpPr>
          <p:nvPr/>
        </p:nvCxnSpPr>
        <p:spPr bwMode="auto">
          <a:xfrm flipH="1">
            <a:off x="6778902" y="5058356"/>
            <a:ext cx="344487" cy="2524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69" name="AutoShape 61">
            <a:extLst>
              <a:ext uri="{FF2B5EF4-FFF2-40B4-BE49-F238E27FC236}">
                <a16:creationId xmlns:a16="http://schemas.microsoft.com/office/drawing/2014/main" id="{F1257A43-34DD-4235-B8AD-F28D9146FAE5}"/>
              </a:ext>
            </a:extLst>
          </p:cNvPr>
          <p:cNvCxnSpPr>
            <a:cxnSpLocks noChangeShapeType="1"/>
            <a:stCxn id="683016" idx="1"/>
            <a:endCxn id="683021" idx="5"/>
          </p:cNvCxnSpPr>
          <p:nvPr/>
        </p:nvCxnSpPr>
        <p:spPr bwMode="auto">
          <a:xfrm flipH="1" flipV="1">
            <a:off x="7248802" y="5058356"/>
            <a:ext cx="865187" cy="252412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70" name="AutoShape 62">
            <a:extLst>
              <a:ext uri="{FF2B5EF4-FFF2-40B4-BE49-F238E27FC236}">
                <a16:creationId xmlns:a16="http://schemas.microsoft.com/office/drawing/2014/main" id="{C3CE2110-7858-4437-865C-8B1DE6AA0D3E}"/>
              </a:ext>
            </a:extLst>
          </p:cNvPr>
          <p:cNvCxnSpPr>
            <a:cxnSpLocks noChangeShapeType="1"/>
            <a:stCxn id="683020" idx="3"/>
            <a:endCxn id="683021" idx="6"/>
          </p:cNvCxnSpPr>
          <p:nvPr/>
        </p:nvCxnSpPr>
        <p:spPr bwMode="auto">
          <a:xfrm flipH="1">
            <a:off x="7275788" y="4748794"/>
            <a:ext cx="622300" cy="250825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3071" name="AutoShape 63">
            <a:extLst>
              <a:ext uri="{FF2B5EF4-FFF2-40B4-BE49-F238E27FC236}">
                <a16:creationId xmlns:a16="http://schemas.microsoft.com/office/drawing/2014/main" id="{DD760F1B-63C0-4AEA-A6FB-64D0FAF85E79}"/>
              </a:ext>
            </a:extLst>
          </p:cNvPr>
          <p:cNvCxnSpPr>
            <a:cxnSpLocks noChangeShapeType="1"/>
            <a:stCxn id="683018" idx="2"/>
            <a:endCxn id="683014" idx="5"/>
          </p:cNvCxnSpPr>
          <p:nvPr/>
        </p:nvCxnSpPr>
        <p:spPr bwMode="auto">
          <a:xfrm flipH="1" flipV="1">
            <a:off x="5835927" y="4551943"/>
            <a:ext cx="649287" cy="177800"/>
          </a:xfrm>
          <a:prstGeom prst="straightConnector1">
            <a:avLst/>
          </a:prstGeom>
          <a:noFill/>
          <a:ln w="9525">
            <a:solidFill>
              <a:schemeClr val="hlink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0" name="Rectangle 3">
            <a:extLst>
              <a:ext uri="{FF2B5EF4-FFF2-40B4-BE49-F238E27FC236}">
                <a16:creationId xmlns:a16="http://schemas.microsoft.com/office/drawing/2014/main" id="{27FCC14F-4F83-4082-AA4F-AB4FA94901FA}"/>
              </a:ext>
            </a:extLst>
          </p:cNvPr>
          <p:cNvSpPr txBox="1">
            <a:spLocks noChangeArrowheads="1"/>
          </p:cNvSpPr>
          <p:nvPr/>
        </p:nvSpPr>
        <p:spPr>
          <a:xfrm>
            <a:off x="425727" y="2914438"/>
            <a:ext cx="10515600" cy="1086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Cycle property.  Let C be any cycle, and let f be the max cost edge belonging to C.  Then the (any) MST does not contain f.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4" grpId="0" animBg="1"/>
      <p:bldP spid="683015" grpId="0" animBg="1"/>
      <p:bldP spid="683016" grpId="0" animBg="1"/>
      <p:bldP spid="683017" grpId="0" animBg="1"/>
      <p:bldP spid="683018" grpId="0" animBg="1"/>
      <p:bldP spid="683019" grpId="0" animBg="1"/>
      <p:bldP spid="683020" grpId="0" animBg="1"/>
      <p:bldP spid="683021" grpId="0" animBg="1"/>
      <p:bldP spid="683030" grpId="0" animBg="1"/>
      <p:bldP spid="683033" grpId="0"/>
      <p:bldP spid="683058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>
            <a:extLst>
              <a:ext uri="{FF2B5EF4-FFF2-40B4-BE49-F238E27FC236}">
                <a16:creationId xmlns:a16="http://schemas.microsoft.com/office/drawing/2014/main" id="{507D7387-F748-4B0D-B173-A432E82DA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363" y="91929"/>
            <a:ext cx="10515600" cy="1325563"/>
          </a:xfrm>
        </p:spPr>
        <p:txBody>
          <a:bodyPr/>
          <a:lstStyle/>
          <a:p>
            <a:r>
              <a:rPr lang="en-US" altLang="en-US" dirty="0"/>
              <a:t>Cut Property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EF207CCA-40FC-41DA-80CE-F46716A06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363" y="1325562"/>
            <a:ext cx="8921462" cy="1325563"/>
          </a:xfrm>
        </p:spPr>
        <p:txBody>
          <a:bodyPr>
            <a:normAutofit/>
          </a:bodyPr>
          <a:lstStyle/>
          <a:p>
            <a:r>
              <a:rPr lang="en-US" altLang="en-US" dirty="0"/>
              <a:t>Cut property:  </a:t>
            </a:r>
            <a:r>
              <a:rPr lang="en-US" altLang="en-US" dirty="0">
                <a:solidFill>
                  <a:schemeClr val="tx1"/>
                </a:solidFill>
              </a:rPr>
              <a:t>Let S be any subset of nodes, and let e be the min cost edge with exactly one endpoint in S</a:t>
            </a: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. Then the MST T* contains e.</a:t>
            </a:r>
          </a:p>
        </p:txBody>
      </p:sp>
      <p:sp>
        <p:nvSpPr>
          <p:cNvPr id="684036" name="Freeform 4">
            <a:extLst>
              <a:ext uri="{FF2B5EF4-FFF2-40B4-BE49-F238E27FC236}">
                <a16:creationId xmlns:a16="http://schemas.microsoft.com/office/drawing/2014/main" id="{6BAD9D5A-E94D-4918-91B0-6F6A2A96AA31}"/>
              </a:ext>
            </a:extLst>
          </p:cNvPr>
          <p:cNvSpPr>
            <a:spLocks/>
          </p:cNvSpPr>
          <p:nvPr/>
        </p:nvSpPr>
        <p:spPr bwMode="auto">
          <a:xfrm>
            <a:off x="6900574" y="4821381"/>
            <a:ext cx="1897062" cy="1620838"/>
          </a:xfrm>
          <a:custGeom>
            <a:avLst/>
            <a:gdLst>
              <a:gd name="T0" fmla="*/ 970 w 1195"/>
              <a:gd name="T1" fmla="*/ 0 h 1021"/>
              <a:gd name="T2" fmla="*/ 1083 w 1195"/>
              <a:gd name="T3" fmla="*/ 57 h 1021"/>
              <a:gd name="T4" fmla="*/ 1121 w 1195"/>
              <a:gd name="T5" fmla="*/ 82 h 1021"/>
              <a:gd name="T6" fmla="*/ 1089 w 1195"/>
              <a:gd name="T7" fmla="*/ 676 h 1021"/>
              <a:gd name="T8" fmla="*/ 1064 w 1195"/>
              <a:gd name="T9" fmla="*/ 795 h 1021"/>
              <a:gd name="T10" fmla="*/ 970 w 1195"/>
              <a:gd name="T11" fmla="*/ 983 h 1021"/>
              <a:gd name="T12" fmla="*/ 920 w 1195"/>
              <a:gd name="T13" fmla="*/ 1021 h 1021"/>
              <a:gd name="T14" fmla="*/ 745 w 1195"/>
              <a:gd name="T15" fmla="*/ 1014 h 1021"/>
              <a:gd name="T16" fmla="*/ 708 w 1195"/>
              <a:gd name="T17" fmla="*/ 1002 h 1021"/>
              <a:gd name="T18" fmla="*/ 670 w 1195"/>
              <a:gd name="T19" fmla="*/ 977 h 1021"/>
              <a:gd name="T20" fmla="*/ 657 w 1195"/>
              <a:gd name="T21" fmla="*/ 958 h 1021"/>
              <a:gd name="T22" fmla="*/ 582 w 1195"/>
              <a:gd name="T23" fmla="*/ 902 h 1021"/>
              <a:gd name="T24" fmla="*/ 545 w 1195"/>
              <a:gd name="T25" fmla="*/ 870 h 1021"/>
              <a:gd name="T26" fmla="*/ 150 w 1195"/>
              <a:gd name="T27" fmla="*/ 789 h 1021"/>
              <a:gd name="T28" fmla="*/ 113 w 1195"/>
              <a:gd name="T29" fmla="*/ 777 h 1021"/>
              <a:gd name="T30" fmla="*/ 94 w 1195"/>
              <a:gd name="T31" fmla="*/ 770 h 1021"/>
              <a:gd name="T32" fmla="*/ 56 w 1195"/>
              <a:gd name="T33" fmla="*/ 758 h 1021"/>
              <a:gd name="T34" fmla="*/ 38 w 1195"/>
              <a:gd name="T35" fmla="*/ 752 h 1021"/>
              <a:gd name="T36" fmla="*/ 0 w 1195"/>
              <a:gd name="T37" fmla="*/ 695 h 1021"/>
              <a:gd name="T38" fmla="*/ 38 w 1195"/>
              <a:gd name="T39" fmla="*/ 564 h 1021"/>
              <a:gd name="T40" fmla="*/ 81 w 1195"/>
              <a:gd name="T41" fmla="*/ 520 h 1021"/>
              <a:gd name="T42" fmla="*/ 219 w 1195"/>
              <a:gd name="T43" fmla="*/ 495 h 1021"/>
              <a:gd name="T44" fmla="*/ 357 w 1195"/>
              <a:gd name="T45" fmla="*/ 476 h 1021"/>
              <a:gd name="T46" fmla="*/ 513 w 1195"/>
              <a:gd name="T47" fmla="*/ 432 h 1021"/>
              <a:gd name="T48" fmla="*/ 589 w 1195"/>
              <a:gd name="T49" fmla="*/ 351 h 1021"/>
              <a:gd name="T50" fmla="*/ 645 w 1195"/>
              <a:gd name="T51" fmla="*/ 276 h 1021"/>
              <a:gd name="T52" fmla="*/ 726 w 1195"/>
              <a:gd name="T53" fmla="*/ 169 h 1021"/>
              <a:gd name="T54" fmla="*/ 814 w 1195"/>
              <a:gd name="T55" fmla="*/ 94 h 1021"/>
              <a:gd name="T56" fmla="*/ 833 w 1195"/>
              <a:gd name="T57" fmla="*/ 75 h 1021"/>
              <a:gd name="T58" fmla="*/ 852 w 1195"/>
              <a:gd name="T59" fmla="*/ 63 h 1021"/>
              <a:gd name="T60" fmla="*/ 970 w 1195"/>
              <a:gd name="T61" fmla="*/ 0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95" h="1021">
                <a:moveTo>
                  <a:pt x="970" y="0"/>
                </a:moveTo>
                <a:cubicBezTo>
                  <a:pt x="1048" y="11"/>
                  <a:pt x="1021" y="16"/>
                  <a:pt x="1083" y="57"/>
                </a:cubicBezTo>
                <a:cubicBezTo>
                  <a:pt x="1096" y="65"/>
                  <a:pt x="1121" y="82"/>
                  <a:pt x="1121" y="82"/>
                </a:cubicBezTo>
                <a:cubicBezTo>
                  <a:pt x="1195" y="303"/>
                  <a:pt x="1143" y="481"/>
                  <a:pt x="1089" y="676"/>
                </a:cubicBezTo>
                <a:cubicBezTo>
                  <a:pt x="1084" y="718"/>
                  <a:pt x="1074" y="754"/>
                  <a:pt x="1064" y="795"/>
                </a:cubicBezTo>
                <a:cubicBezTo>
                  <a:pt x="1046" y="867"/>
                  <a:pt x="1038" y="940"/>
                  <a:pt x="970" y="983"/>
                </a:cubicBezTo>
                <a:cubicBezTo>
                  <a:pt x="956" y="1006"/>
                  <a:pt x="945" y="1012"/>
                  <a:pt x="920" y="1021"/>
                </a:cubicBezTo>
                <a:cubicBezTo>
                  <a:pt x="862" y="1019"/>
                  <a:pt x="803" y="1019"/>
                  <a:pt x="745" y="1014"/>
                </a:cubicBezTo>
                <a:cubicBezTo>
                  <a:pt x="732" y="1013"/>
                  <a:pt x="708" y="1002"/>
                  <a:pt x="708" y="1002"/>
                </a:cubicBezTo>
                <a:cubicBezTo>
                  <a:pt x="695" y="994"/>
                  <a:pt x="683" y="985"/>
                  <a:pt x="670" y="977"/>
                </a:cubicBezTo>
                <a:cubicBezTo>
                  <a:pt x="664" y="973"/>
                  <a:pt x="662" y="964"/>
                  <a:pt x="657" y="958"/>
                </a:cubicBezTo>
                <a:cubicBezTo>
                  <a:pt x="639" y="936"/>
                  <a:pt x="609" y="910"/>
                  <a:pt x="582" y="902"/>
                </a:cubicBezTo>
                <a:cubicBezTo>
                  <a:pt x="560" y="867"/>
                  <a:pt x="583" y="897"/>
                  <a:pt x="545" y="870"/>
                </a:cubicBezTo>
                <a:cubicBezTo>
                  <a:pt x="390" y="761"/>
                  <a:pt x="409" y="795"/>
                  <a:pt x="150" y="789"/>
                </a:cubicBezTo>
                <a:cubicBezTo>
                  <a:pt x="138" y="785"/>
                  <a:pt x="125" y="781"/>
                  <a:pt x="113" y="777"/>
                </a:cubicBezTo>
                <a:cubicBezTo>
                  <a:pt x="107" y="775"/>
                  <a:pt x="100" y="772"/>
                  <a:pt x="94" y="770"/>
                </a:cubicBezTo>
                <a:cubicBezTo>
                  <a:pt x="81" y="766"/>
                  <a:pt x="69" y="762"/>
                  <a:pt x="56" y="758"/>
                </a:cubicBezTo>
                <a:cubicBezTo>
                  <a:pt x="50" y="756"/>
                  <a:pt x="38" y="752"/>
                  <a:pt x="38" y="752"/>
                </a:cubicBezTo>
                <a:cubicBezTo>
                  <a:pt x="24" y="731"/>
                  <a:pt x="8" y="719"/>
                  <a:pt x="0" y="695"/>
                </a:cubicBezTo>
                <a:cubicBezTo>
                  <a:pt x="5" y="626"/>
                  <a:pt x="4" y="614"/>
                  <a:pt x="38" y="564"/>
                </a:cubicBezTo>
                <a:cubicBezTo>
                  <a:pt x="68" y="520"/>
                  <a:pt x="48" y="531"/>
                  <a:pt x="81" y="520"/>
                </a:cubicBezTo>
                <a:cubicBezTo>
                  <a:pt x="127" y="489"/>
                  <a:pt x="152" y="499"/>
                  <a:pt x="219" y="495"/>
                </a:cubicBezTo>
                <a:cubicBezTo>
                  <a:pt x="269" y="479"/>
                  <a:pt x="296" y="480"/>
                  <a:pt x="357" y="476"/>
                </a:cubicBezTo>
                <a:cubicBezTo>
                  <a:pt x="409" y="459"/>
                  <a:pt x="460" y="445"/>
                  <a:pt x="513" y="432"/>
                </a:cubicBezTo>
                <a:cubicBezTo>
                  <a:pt x="545" y="412"/>
                  <a:pt x="548" y="377"/>
                  <a:pt x="589" y="351"/>
                </a:cubicBezTo>
                <a:cubicBezTo>
                  <a:pt x="607" y="323"/>
                  <a:pt x="626" y="302"/>
                  <a:pt x="645" y="276"/>
                </a:cubicBezTo>
                <a:cubicBezTo>
                  <a:pt x="660" y="230"/>
                  <a:pt x="686" y="198"/>
                  <a:pt x="726" y="169"/>
                </a:cubicBezTo>
                <a:cubicBezTo>
                  <a:pt x="751" y="133"/>
                  <a:pt x="784" y="124"/>
                  <a:pt x="814" y="94"/>
                </a:cubicBezTo>
                <a:cubicBezTo>
                  <a:pt x="820" y="88"/>
                  <a:pt x="826" y="81"/>
                  <a:pt x="833" y="75"/>
                </a:cubicBezTo>
                <a:cubicBezTo>
                  <a:pt x="839" y="70"/>
                  <a:pt x="846" y="68"/>
                  <a:pt x="852" y="63"/>
                </a:cubicBezTo>
                <a:cubicBezTo>
                  <a:pt x="902" y="18"/>
                  <a:pt x="899" y="0"/>
                  <a:pt x="97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4037" name="Freeform 5">
            <a:extLst>
              <a:ext uri="{FF2B5EF4-FFF2-40B4-BE49-F238E27FC236}">
                <a16:creationId xmlns:a16="http://schemas.microsoft.com/office/drawing/2014/main" id="{59BA75DD-FDE2-4D4B-804E-6D64E823AF3B}"/>
              </a:ext>
            </a:extLst>
          </p:cNvPr>
          <p:cNvSpPr>
            <a:spLocks/>
          </p:cNvSpPr>
          <p:nvPr/>
        </p:nvSpPr>
        <p:spPr bwMode="auto">
          <a:xfrm>
            <a:off x="5200362" y="4924570"/>
            <a:ext cx="1387475" cy="1487487"/>
          </a:xfrm>
          <a:custGeom>
            <a:avLst/>
            <a:gdLst>
              <a:gd name="T0" fmla="*/ 122 w 874"/>
              <a:gd name="T1" fmla="*/ 141 h 937"/>
              <a:gd name="T2" fmla="*/ 236 w 874"/>
              <a:gd name="T3" fmla="*/ 111 h 937"/>
              <a:gd name="T4" fmla="*/ 349 w 874"/>
              <a:gd name="T5" fmla="*/ 48 h 937"/>
              <a:gd name="T6" fmla="*/ 518 w 874"/>
              <a:gd name="T7" fmla="*/ 10 h 937"/>
              <a:gd name="T8" fmla="*/ 793 w 874"/>
              <a:gd name="T9" fmla="*/ 29 h 937"/>
              <a:gd name="T10" fmla="*/ 825 w 874"/>
              <a:gd name="T11" fmla="*/ 111 h 937"/>
              <a:gd name="T12" fmla="*/ 850 w 874"/>
              <a:gd name="T13" fmla="*/ 186 h 937"/>
              <a:gd name="T14" fmla="*/ 837 w 874"/>
              <a:gd name="T15" fmla="*/ 555 h 937"/>
              <a:gd name="T16" fmla="*/ 843 w 874"/>
              <a:gd name="T17" fmla="*/ 611 h 937"/>
              <a:gd name="T18" fmla="*/ 743 w 874"/>
              <a:gd name="T19" fmla="*/ 843 h 937"/>
              <a:gd name="T20" fmla="*/ 662 w 874"/>
              <a:gd name="T21" fmla="*/ 937 h 937"/>
              <a:gd name="T22" fmla="*/ 518 w 874"/>
              <a:gd name="T23" fmla="*/ 912 h 937"/>
              <a:gd name="T24" fmla="*/ 480 w 874"/>
              <a:gd name="T25" fmla="*/ 887 h 937"/>
              <a:gd name="T26" fmla="*/ 468 w 874"/>
              <a:gd name="T27" fmla="*/ 868 h 937"/>
              <a:gd name="T28" fmla="*/ 449 w 874"/>
              <a:gd name="T29" fmla="*/ 856 h 937"/>
              <a:gd name="T30" fmla="*/ 386 w 874"/>
              <a:gd name="T31" fmla="*/ 793 h 937"/>
              <a:gd name="T32" fmla="*/ 374 w 874"/>
              <a:gd name="T33" fmla="*/ 774 h 937"/>
              <a:gd name="T34" fmla="*/ 355 w 874"/>
              <a:gd name="T35" fmla="*/ 762 h 937"/>
              <a:gd name="T36" fmla="*/ 330 w 874"/>
              <a:gd name="T37" fmla="*/ 724 h 937"/>
              <a:gd name="T38" fmla="*/ 311 w 874"/>
              <a:gd name="T39" fmla="*/ 705 h 937"/>
              <a:gd name="T40" fmla="*/ 248 w 874"/>
              <a:gd name="T41" fmla="*/ 665 h 937"/>
              <a:gd name="T42" fmla="*/ 204 w 874"/>
              <a:gd name="T43" fmla="*/ 602 h 937"/>
              <a:gd name="T44" fmla="*/ 151 w 874"/>
              <a:gd name="T45" fmla="*/ 573 h 937"/>
              <a:gd name="T46" fmla="*/ 132 w 874"/>
              <a:gd name="T47" fmla="*/ 539 h 937"/>
              <a:gd name="T48" fmla="*/ 69 w 874"/>
              <a:gd name="T49" fmla="*/ 480 h 937"/>
              <a:gd name="T50" fmla="*/ 6 w 874"/>
              <a:gd name="T51" fmla="*/ 335 h 937"/>
              <a:gd name="T52" fmla="*/ 30 w 874"/>
              <a:gd name="T53" fmla="*/ 219 h 937"/>
              <a:gd name="T54" fmla="*/ 122 w 874"/>
              <a:gd name="T55" fmla="*/ 141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74" h="937">
                <a:moveTo>
                  <a:pt x="122" y="141"/>
                </a:moveTo>
                <a:cubicBezTo>
                  <a:pt x="146" y="129"/>
                  <a:pt x="210" y="117"/>
                  <a:pt x="236" y="111"/>
                </a:cubicBezTo>
                <a:cubicBezTo>
                  <a:pt x="270" y="87"/>
                  <a:pt x="311" y="66"/>
                  <a:pt x="349" y="48"/>
                </a:cubicBezTo>
                <a:cubicBezTo>
                  <a:pt x="398" y="25"/>
                  <a:pt x="465" y="22"/>
                  <a:pt x="518" y="10"/>
                </a:cubicBezTo>
                <a:cubicBezTo>
                  <a:pt x="603" y="13"/>
                  <a:pt x="706" y="0"/>
                  <a:pt x="793" y="29"/>
                </a:cubicBezTo>
                <a:cubicBezTo>
                  <a:pt x="804" y="58"/>
                  <a:pt x="807" y="85"/>
                  <a:pt x="825" y="111"/>
                </a:cubicBezTo>
                <a:cubicBezTo>
                  <a:pt x="833" y="136"/>
                  <a:pt x="841" y="161"/>
                  <a:pt x="850" y="186"/>
                </a:cubicBezTo>
                <a:cubicBezTo>
                  <a:pt x="863" y="308"/>
                  <a:pt x="874" y="437"/>
                  <a:pt x="837" y="555"/>
                </a:cubicBezTo>
                <a:cubicBezTo>
                  <a:pt x="839" y="574"/>
                  <a:pt x="843" y="592"/>
                  <a:pt x="843" y="611"/>
                </a:cubicBezTo>
                <a:cubicBezTo>
                  <a:pt x="843" y="715"/>
                  <a:pt x="797" y="764"/>
                  <a:pt x="743" y="843"/>
                </a:cubicBezTo>
                <a:cubicBezTo>
                  <a:pt x="729" y="886"/>
                  <a:pt x="708" y="922"/>
                  <a:pt x="662" y="937"/>
                </a:cubicBezTo>
                <a:cubicBezTo>
                  <a:pt x="610" y="933"/>
                  <a:pt x="567" y="927"/>
                  <a:pt x="518" y="912"/>
                </a:cubicBezTo>
                <a:cubicBezTo>
                  <a:pt x="505" y="904"/>
                  <a:pt x="493" y="895"/>
                  <a:pt x="480" y="887"/>
                </a:cubicBezTo>
                <a:cubicBezTo>
                  <a:pt x="474" y="883"/>
                  <a:pt x="473" y="873"/>
                  <a:pt x="468" y="868"/>
                </a:cubicBezTo>
                <a:cubicBezTo>
                  <a:pt x="463" y="863"/>
                  <a:pt x="455" y="860"/>
                  <a:pt x="449" y="856"/>
                </a:cubicBezTo>
                <a:cubicBezTo>
                  <a:pt x="433" y="832"/>
                  <a:pt x="410" y="808"/>
                  <a:pt x="386" y="793"/>
                </a:cubicBezTo>
                <a:cubicBezTo>
                  <a:pt x="382" y="787"/>
                  <a:pt x="379" y="779"/>
                  <a:pt x="374" y="774"/>
                </a:cubicBezTo>
                <a:cubicBezTo>
                  <a:pt x="369" y="769"/>
                  <a:pt x="360" y="768"/>
                  <a:pt x="355" y="762"/>
                </a:cubicBezTo>
                <a:cubicBezTo>
                  <a:pt x="345" y="751"/>
                  <a:pt x="341" y="735"/>
                  <a:pt x="330" y="724"/>
                </a:cubicBezTo>
                <a:cubicBezTo>
                  <a:pt x="324" y="718"/>
                  <a:pt x="317" y="711"/>
                  <a:pt x="311" y="705"/>
                </a:cubicBezTo>
                <a:cubicBezTo>
                  <a:pt x="294" y="654"/>
                  <a:pt x="280" y="714"/>
                  <a:pt x="248" y="665"/>
                </a:cubicBezTo>
                <a:cubicBezTo>
                  <a:pt x="229" y="637"/>
                  <a:pt x="224" y="631"/>
                  <a:pt x="204" y="602"/>
                </a:cubicBezTo>
                <a:cubicBezTo>
                  <a:pt x="198" y="583"/>
                  <a:pt x="160" y="590"/>
                  <a:pt x="151" y="573"/>
                </a:cubicBezTo>
                <a:cubicBezTo>
                  <a:pt x="142" y="563"/>
                  <a:pt x="146" y="555"/>
                  <a:pt x="132" y="539"/>
                </a:cubicBezTo>
                <a:cubicBezTo>
                  <a:pt x="118" y="523"/>
                  <a:pt x="90" y="514"/>
                  <a:pt x="69" y="480"/>
                </a:cubicBezTo>
                <a:cubicBezTo>
                  <a:pt x="64" y="446"/>
                  <a:pt x="5" y="372"/>
                  <a:pt x="6" y="335"/>
                </a:cubicBezTo>
                <a:cubicBezTo>
                  <a:pt x="0" y="292"/>
                  <a:pt x="11" y="251"/>
                  <a:pt x="30" y="219"/>
                </a:cubicBezTo>
                <a:cubicBezTo>
                  <a:pt x="39" y="172"/>
                  <a:pt x="132" y="184"/>
                  <a:pt x="122" y="1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4038" name="Oval 6">
            <a:extLst>
              <a:ext uri="{FF2B5EF4-FFF2-40B4-BE49-F238E27FC236}">
                <a16:creationId xmlns:a16="http://schemas.microsoft.com/office/drawing/2014/main" id="{4E801385-165F-44EA-92D4-ED56CF712C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8825" y="5240482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39" name="Oval 7">
            <a:extLst>
              <a:ext uri="{FF2B5EF4-FFF2-40B4-BE49-F238E27FC236}">
                <a16:creationId xmlns:a16="http://schemas.microsoft.com/office/drawing/2014/main" id="{BFB20215-D31D-4857-BB62-A7D2714C6A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2662" y="5072207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0" name="Oval 8">
            <a:extLst>
              <a:ext uri="{FF2B5EF4-FFF2-40B4-BE49-F238E27FC236}">
                <a16:creationId xmlns:a16="http://schemas.microsoft.com/office/drawing/2014/main" id="{0014285D-2080-44F5-8394-07AF92EFC0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6925" y="6116782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1" name="Oval 9">
            <a:extLst>
              <a:ext uri="{FF2B5EF4-FFF2-40B4-BE49-F238E27FC236}">
                <a16:creationId xmlns:a16="http://schemas.microsoft.com/office/drawing/2014/main" id="{AB3D9115-2220-4766-B57E-A8C2AFFDF2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8261" y="5072207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2" name="Oval 10">
            <a:extLst>
              <a:ext uri="{FF2B5EF4-FFF2-40B4-BE49-F238E27FC236}">
                <a16:creationId xmlns:a16="http://schemas.microsoft.com/office/drawing/2014/main" id="{04539D05-DD8F-44E6-80E0-F853AF603D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54461" y="5483369"/>
            <a:ext cx="179388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3" name="Oval 11">
            <a:extLst>
              <a:ext uri="{FF2B5EF4-FFF2-40B4-BE49-F238E27FC236}">
                <a16:creationId xmlns:a16="http://schemas.microsoft.com/office/drawing/2014/main" id="{9B9BA8EF-E106-4601-93DE-952FA47082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7300" y="6116782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4" name="Oval 12">
            <a:extLst>
              <a:ext uri="{FF2B5EF4-FFF2-40B4-BE49-F238E27FC236}">
                <a16:creationId xmlns:a16="http://schemas.microsoft.com/office/drawing/2014/main" id="{8DE85B1E-A3A9-47BA-BB8C-B416D41CB1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08636" y="5604019"/>
            <a:ext cx="179388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4045" name="Oval 13">
            <a:extLst>
              <a:ext uri="{FF2B5EF4-FFF2-40B4-BE49-F238E27FC236}">
                <a16:creationId xmlns:a16="http://schemas.microsoft.com/office/drawing/2014/main" id="{6DCF6A2A-408B-4172-9388-0A9EDB5C8D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1700" y="5745307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4046" name="AutoShape 14">
            <a:extLst>
              <a:ext uri="{FF2B5EF4-FFF2-40B4-BE49-F238E27FC236}">
                <a16:creationId xmlns:a16="http://schemas.microsoft.com/office/drawing/2014/main" id="{6A9010F7-5A99-4ECE-9BFE-8ECD27CA0523}"/>
              </a:ext>
            </a:extLst>
          </p:cNvPr>
          <p:cNvCxnSpPr>
            <a:cxnSpLocks noChangeShapeType="1"/>
            <a:stCxn id="684038" idx="6"/>
            <a:endCxn id="684041" idx="3"/>
          </p:cNvCxnSpPr>
          <p:nvPr/>
        </p:nvCxnSpPr>
        <p:spPr bwMode="auto">
          <a:xfrm flipV="1">
            <a:off x="5778211" y="5215081"/>
            <a:ext cx="427038" cy="1095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47" name="AutoShape 15">
            <a:extLst>
              <a:ext uri="{FF2B5EF4-FFF2-40B4-BE49-F238E27FC236}">
                <a16:creationId xmlns:a16="http://schemas.microsoft.com/office/drawing/2014/main" id="{20436809-C885-473F-9E04-3371FB45FA1C}"/>
              </a:ext>
            </a:extLst>
          </p:cNvPr>
          <p:cNvCxnSpPr>
            <a:cxnSpLocks noChangeShapeType="1"/>
            <a:stCxn id="684038" idx="5"/>
            <a:endCxn id="684042" idx="2"/>
          </p:cNvCxnSpPr>
          <p:nvPr/>
        </p:nvCxnSpPr>
        <p:spPr bwMode="auto">
          <a:xfrm>
            <a:off x="5751225" y="5383356"/>
            <a:ext cx="503237" cy="1857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48" name="AutoShape 16">
            <a:extLst>
              <a:ext uri="{FF2B5EF4-FFF2-40B4-BE49-F238E27FC236}">
                <a16:creationId xmlns:a16="http://schemas.microsoft.com/office/drawing/2014/main" id="{1ACCAAA5-F8F0-4163-9D23-B8512D8F08D0}"/>
              </a:ext>
            </a:extLst>
          </p:cNvPr>
          <p:cNvCxnSpPr>
            <a:cxnSpLocks noChangeShapeType="1"/>
            <a:stCxn id="684043" idx="1"/>
            <a:endCxn id="684038" idx="4"/>
          </p:cNvCxnSpPr>
          <p:nvPr/>
        </p:nvCxnSpPr>
        <p:spPr bwMode="auto">
          <a:xfrm flipH="1" flipV="1">
            <a:off x="5689312" y="5408757"/>
            <a:ext cx="4349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49" name="AutoShape 17">
            <a:extLst>
              <a:ext uri="{FF2B5EF4-FFF2-40B4-BE49-F238E27FC236}">
                <a16:creationId xmlns:a16="http://schemas.microsoft.com/office/drawing/2014/main" id="{1FF93CA7-602F-445B-8A20-4E0BDB7D0C17}"/>
              </a:ext>
            </a:extLst>
          </p:cNvPr>
          <p:cNvCxnSpPr>
            <a:cxnSpLocks noChangeShapeType="1"/>
            <a:stCxn id="684039" idx="3"/>
            <a:endCxn id="684044" idx="7"/>
          </p:cNvCxnSpPr>
          <p:nvPr/>
        </p:nvCxnSpPr>
        <p:spPr bwMode="auto">
          <a:xfrm flipH="1">
            <a:off x="8061037" y="5215081"/>
            <a:ext cx="328613" cy="414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50" name="AutoShape 18">
            <a:extLst>
              <a:ext uri="{FF2B5EF4-FFF2-40B4-BE49-F238E27FC236}">
                <a16:creationId xmlns:a16="http://schemas.microsoft.com/office/drawing/2014/main" id="{42A59397-5B75-4059-A130-73516988DEE5}"/>
              </a:ext>
            </a:extLst>
          </p:cNvPr>
          <p:cNvCxnSpPr>
            <a:cxnSpLocks noChangeShapeType="1"/>
            <a:stCxn id="684045" idx="6"/>
            <a:endCxn id="684044" idx="2"/>
          </p:cNvCxnSpPr>
          <p:nvPr/>
        </p:nvCxnSpPr>
        <p:spPr bwMode="auto">
          <a:xfrm flipV="1">
            <a:off x="7191086" y="5689745"/>
            <a:ext cx="717550" cy="141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51" name="AutoShape 19">
            <a:extLst>
              <a:ext uri="{FF2B5EF4-FFF2-40B4-BE49-F238E27FC236}">
                <a16:creationId xmlns:a16="http://schemas.microsoft.com/office/drawing/2014/main" id="{137EA462-886D-4876-A0D4-57A21AAA2A90}"/>
              </a:ext>
            </a:extLst>
          </p:cNvPr>
          <p:cNvCxnSpPr>
            <a:cxnSpLocks noChangeShapeType="1"/>
            <a:stCxn id="684039" idx="4"/>
            <a:endCxn id="684040" idx="0"/>
          </p:cNvCxnSpPr>
          <p:nvPr/>
        </p:nvCxnSpPr>
        <p:spPr bwMode="auto">
          <a:xfrm flipH="1">
            <a:off x="8267411" y="5240481"/>
            <a:ext cx="185738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52" name="AutoShape 20">
            <a:extLst>
              <a:ext uri="{FF2B5EF4-FFF2-40B4-BE49-F238E27FC236}">
                <a16:creationId xmlns:a16="http://schemas.microsoft.com/office/drawing/2014/main" id="{78699EB4-4CD8-46E2-AC0F-361BA577EEFF}"/>
              </a:ext>
            </a:extLst>
          </p:cNvPr>
          <p:cNvCxnSpPr>
            <a:cxnSpLocks noChangeShapeType="1"/>
            <a:stCxn id="684040" idx="2"/>
            <a:endCxn id="684043" idx="6"/>
          </p:cNvCxnSpPr>
          <p:nvPr/>
        </p:nvCxnSpPr>
        <p:spPr bwMode="auto">
          <a:xfrm flipH="1">
            <a:off x="6276686" y="6202506"/>
            <a:ext cx="1900238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4053" name="AutoShape 21">
            <a:extLst>
              <a:ext uri="{FF2B5EF4-FFF2-40B4-BE49-F238E27FC236}">
                <a16:creationId xmlns:a16="http://schemas.microsoft.com/office/drawing/2014/main" id="{93EE3590-8A27-46A1-BB7F-31DF37F07311}"/>
              </a:ext>
            </a:extLst>
          </p:cNvPr>
          <p:cNvCxnSpPr>
            <a:cxnSpLocks noChangeShapeType="1"/>
            <a:stCxn id="684041" idx="6"/>
            <a:endCxn id="684039" idx="1"/>
          </p:cNvCxnSpPr>
          <p:nvPr/>
        </p:nvCxnSpPr>
        <p:spPr bwMode="auto">
          <a:xfrm flipV="1">
            <a:off x="6357649" y="5097606"/>
            <a:ext cx="2032000" cy="587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4054" name="Text Box 22">
            <a:extLst>
              <a:ext uri="{FF2B5EF4-FFF2-40B4-BE49-F238E27FC236}">
                <a16:creationId xmlns:a16="http://schemas.microsoft.com/office/drawing/2014/main" id="{2DD92770-2428-4701-B4AC-DDF3D8FB4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3886" y="5034106"/>
            <a:ext cx="2349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f </a:t>
            </a:r>
          </a:p>
        </p:txBody>
      </p:sp>
      <p:sp>
        <p:nvSpPr>
          <p:cNvPr id="684055" name="Text Box 23">
            <a:extLst>
              <a:ext uri="{FF2B5EF4-FFF2-40B4-BE49-F238E27FC236}">
                <a16:creationId xmlns:a16="http://schemas.microsoft.com/office/drawing/2014/main" id="{7C67E2F8-8AD3-4476-BC43-9BACCB7FC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036" y="6345381"/>
            <a:ext cx="53340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 T*</a:t>
            </a:r>
          </a:p>
        </p:txBody>
      </p:sp>
      <p:sp>
        <p:nvSpPr>
          <p:cNvPr id="684056" name="Text Box 24">
            <a:extLst>
              <a:ext uri="{FF2B5EF4-FFF2-40B4-BE49-F238E27FC236}">
                <a16:creationId xmlns:a16="http://schemas.microsoft.com/office/drawing/2014/main" id="{07D71ED8-1130-432B-9BC1-D86FE2476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236" y="6067569"/>
            <a:ext cx="1587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e</a:t>
            </a:r>
          </a:p>
        </p:txBody>
      </p:sp>
      <p:sp>
        <p:nvSpPr>
          <p:cNvPr id="684057" name="Rectangle 25">
            <a:extLst>
              <a:ext uri="{FF2B5EF4-FFF2-40B4-BE49-F238E27FC236}">
                <a16:creationId xmlns:a16="http://schemas.microsoft.com/office/drawing/2014/main" id="{DEEA623D-AB59-4C17-80E8-21D3E9BA3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312" y="5303981"/>
            <a:ext cx="29174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S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DA6242E-B8BA-4353-BF24-6D02F4D323AE}"/>
              </a:ext>
            </a:extLst>
          </p:cNvPr>
          <p:cNvSpPr txBox="1">
            <a:spLocks noChangeArrowheads="1"/>
          </p:cNvSpPr>
          <p:nvPr/>
        </p:nvSpPr>
        <p:spPr>
          <a:xfrm>
            <a:off x="346363" y="2636753"/>
            <a:ext cx="8921462" cy="3430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ym typeface="Symbol" panose="05050102010706020507" pitchFamily="18" charset="2"/>
              </a:rPr>
              <a:t>Proof.  (exchange argument)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Suppose e does not belong to T*.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Adding e to T* creates a cycle C in T*.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Edge e is both in the cycle C and in the cutset D corresponding to S    there exists another edge, say f, that is in both C and D.</a:t>
            </a:r>
          </a:p>
          <a:p>
            <a:pPr lvl="1"/>
            <a:r>
              <a:rPr lang="en-US" altLang="en-US" dirty="0"/>
              <a:t>T' = T*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baseline="-25000" dirty="0"/>
              <a:t> </a:t>
            </a:r>
            <a:r>
              <a:rPr lang="en-US" altLang="en-US" dirty="0"/>
              <a:t>e</a:t>
            </a:r>
            <a:r>
              <a:rPr lang="en-US" altLang="en-US" baseline="-25000" dirty="0"/>
              <a:t> </a:t>
            </a:r>
            <a:r>
              <a:rPr lang="en-US" altLang="en-US" dirty="0"/>
              <a:t>} - {</a:t>
            </a:r>
            <a:r>
              <a:rPr lang="en-US" altLang="en-US" baseline="-25000" dirty="0"/>
              <a:t> </a:t>
            </a:r>
            <a:r>
              <a:rPr lang="en-US" altLang="en-US" dirty="0"/>
              <a:t>f</a:t>
            </a:r>
            <a:r>
              <a:rPr lang="en-US" altLang="en-US" baseline="-25000" dirty="0"/>
              <a:t> </a:t>
            </a:r>
            <a:r>
              <a:rPr lang="en-US" altLang="en-US" dirty="0"/>
              <a:t>} is also a spanning tree.</a:t>
            </a:r>
          </a:p>
          <a:p>
            <a:pPr lvl="1"/>
            <a:r>
              <a:rPr lang="en-US" altLang="en-US" dirty="0"/>
              <a:t>Since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e</a:t>
            </a:r>
            <a:r>
              <a:rPr lang="en-US" altLang="en-US" dirty="0"/>
              <a:t> &lt;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f</a:t>
            </a:r>
            <a:r>
              <a:rPr lang="en-US" altLang="en-US" dirty="0"/>
              <a:t>, cost(T') &lt; cost(T*).</a:t>
            </a:r>
          </a:p>
          <a:p>
            <a:pPr lvl="1"/>
            <a:r>
              <a:rPr lang="en-US" altLang="en-US" dirty="0"/>
              <a:t>This is a contradiction. </a:t>
            </a:r>
            <a:r>
              <a:rPr lang="en-US" altLang="en-US" dirty="0">
                <a:cs typeface="Lucida Grande" pitchFamily="48" charset="0"/>
              </a:rPr>
              <a:t>▪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6" grpId="0" animBg="1"/>
      <p:bldP spid="684037" grpId="0" animBg="1"/>
      <p:bldP spid="684038" grpId="0" animBg="1"/>
      <p:bldP spid="684039" grpId="0" animBg="1"/>
      <p:bldP spid="684040" grpId="0" animBg="1"/>
      <p:bldP spid="684041" grpId="0" animBg="1"/>
      <p:bldP spid="684042" grpId="0" animBg="1"/>
      <p:bldP spid="684043" grpId="0" animBg="1"/>
      <p:bldP spid="684044" grpId="0" animBg="1"/>
      <p:bldP spid="684045" grpId="0" animBg="1"/>
      <p:bldP spid="684054" grpId="0" animBg="1"/>
      <p:bldP spid="684055" grpId="0" animBg="1"/>
      <p:bldP spid="684056" grpId="0" animBg="1"/>
      <p:bldP spid="684057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78" name="Rectangle 26">
            <a:extLst>
              <a:ext uri="{FF2B5EF4-FFF2-40B4-BE49-F238E27FC236}">
                <a16:creationId xmlns:a16="http://schemas.microsoft.com/office/drawing/2014/main" id="{785FB495-F23A-46EB-9612-F2C68993B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309" y="54768"/>
            <a:ext cx="10515600" cy="1325563"/>
          </a:xfrm>
        </p:spPr>
        <p:txBody>
          <a:bodyPr/>
          <a:lstStyle/>
          <a:p>
            <a:r>
              <a:rPr lang="en-US" altLang="en-US" dirty="0"/>
              <a:t>Cycle Property</a:t>
            </a:r>
          </a:p>
        </p:txBody>
      </p:sp>
      <p:sp>
        <p:nvSpPr>
          <p:cNvPr id="689179" name="Rectangle 27">
            <a:extLst>
              <a:ext uri="{FF2B5EF4-FFF2-40B4-BE49-F238E27FC236}">
                <a16:creationId xmlns:a16="http://schemas.microsoft.com/office/drawing/2014/main" id="{4F523C6E-A316-406E-A473-DD84D3B79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418" y="1515269"/>
            <a:ext cx="10515600" cy="1075532"/>
          </a:xfrm>
        </p:spPr>
        <p:txBody>
          <a:bodyPr>
            <a:normAutofit/>
          </a:bodyPr>
          <a:lstStyle/>
          <a:p>
            <a:r>
              <a:rPr lang="en-US" altLang="en-US" dirty="0"/>
              <a:t>Cycle property:  </a:t>
            </a:r>
            <a:r>
              <a:rPr lang="en-US" altLang="en-US" dirty="0">
                <a:solidFill>
                  <a:schemeClr val="tx1"/>
                </a:solidFill>
              </a:rPr>
              <a:t>Let C be any cycle in G, and let f be the max cost edge belonging to C. Then the MST T* does not contain f.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689180" name="Freeform 28">
            <a:extLst>
              <a:ext uri="{FF2B5EF4-FFF2-40B4-BE49-F238E27FC236}">
                <a16:creationId xmlns:a16="http://schemas.microsoft.com/office/drawing/2014/main" id="{4379DE5B-BDEE-442B-A86C-A082D01607A7}"/>
              </a:ext>
            </a:extLst>
          </p:cNvPr>
          <p:cNvSpPr>
            <a:spLocks/>
          </p:cNvSpPr>
          <p:nvPr/>
        </p:nvSpPr>
        <p:spPr bwMode="auto">
          <a:xfrm>
            <a:off x="7102474" y="4897582"/>
            <a:ext cx="1897062" cy="1620838"/>
          </a:xfrm>
          <a:custGeom>
            <a:avLst/>
            <a:gdLst>
              <a:gd name="T0" fmla="*/ 970 w 1195"/>
              <a:gd name="T1" fmla="*/ 0 h 1021"/>
              <a:gd name="T2" fmla="*/ 1083 w 1195"/>
              <a:gd name="T3" fmla="*/ 57 h 1021"/>
              <a:gd name="T4" fmla="*/ 1121 w 1195"/>
              <a:gd name="T5" fmla="*/ 82 h 1021"/>
              <a:gd name="T6" fmla="*/ 1089 w 1195"/>
              <a:gd name="T7" fmla="*/ 676 h 1021"/>
              <a:gd name="T8" fmla="*/ 1064 w 1195"/>
              <a:gd name="T9" fmla="*/ 795 h 1021"/>
              <a:gd name="T10" fmla="*/ 970 w 1195"/>
              <a:gd name="T11" fmla="*/ 983 h 1021"/>
              <a:gd name="T12" fmla="*/ 920 w 1195"/>
              <a:gd name="T13" fmla="*/ 1021 h 1021"/>
              <a:gd name="T14" fmla="*/ 745 w 1195"/>
              <a:gd name="T15" fmla="*/ 1014 h 1021"/>
              <a:gd name="T16" fmla="*/ 708 w 1195"/>
              <a:gd name="T17" fmla="*/ 1002 h 1021"/>
              <a:gd name="T18" fmla="*/ 670 w 1195"/>
              <a:gd name="T19" fmla="*/ 977 h 1021"/>
              <a:gd name="T20" fmla="*/ 657 w 1195"/>
              <a:gd name="T21" fmla="*/ 958 h 1021"/>
              <a:gd name="T22" fmla="*/ 582 w 1195"/>
              <a:gd name="T23" fmla="*/ 902 h 1021"/>
              <a:gd name="T24" fmla="*/ 545 w 1195"/>
              <a:gd name="T25" fmla="*/ 870 h 1021"/>
              <a:gd name="T26" fmla="*/ 150 w 1195"/>
              <a:gd name="T27" fmla="*/ 789 h 1021"/>
              <a:gd name="T28" fmla="*/ 113 w 1195"/>
              <a:gd name="T29" fmla="*/ 777 h 1021"/>
              <a:gd name="T30" fmla="*/ 94 w 1195"/>
              <a:gd name="T31" fmla="*/ 770 h 1021"/>
              <a:gd name="T32" fmla="*/ 56 w 1195"/>
              <a:gd name="T33" fmla="*/ 758 h 1021"/>
              <a:gd name="T34" fmla="*/ 38 w 1195"/>
              <a:gd name="T35" fmla="*/ 752 h 1021"/>
              <a:gd name="T36" fmla="*/ 0 w 1195"/>
              <a:gd name="T37" fmla="*/ 695 h 1021"/>
              <a:gd name="T38" fmla="*/ 38 w 1195"/>
              <a:gd name="T39" fmla="*/ 564 h 1021"/>
              <a:gd name="T40" fmla="*/ 81 w 1195"/>
              <a:gd name="T41" fmla="*/ 520 h 1021"/>
              <a:gd name="T42" fmla="*/ 219 w 1195"/>
              <a:gd name="T43" fmla="*/ 495 h 1021"/>
              <a:gd name="T44" fmla="*/ 357 w 1195"/>
              <a:gd name="T45" fmla="*/ 476 h 1021"/>
              <a:gd name="T46" fmla="*/ 513 w 1195"/>
              <a:gd name="T47" fmla="*/ 432 h 1021"/>
              <a:gd name="T48" fmla="*/ 589 w 1195"/>
              <a:gd name="T49" fmla="*/ 351 h 1021"/>
              <a:gd name="T50" fmla="*/ 645 w 1195"/>
              <a:gd name="T51" fmla="*/ 276 h 1021"/>
              <a:gd name="T52" fmla="*/ 726 w 1195"/>
              <a:gd name="T53" fmla="*/ 169 h 1021"/>
              <a:gd name="T54" fmla="*/ 814 w 1195"/>
              <a:gd name="T55" fmla="*/ 94 h 1021"/>
              <a:gd name="T56" fmla="*/ 833 w 1195"/>
              <a:gd name="T57" fmla="*/ 75 h 1021"/>
              <a:gd name="T58" fmla="*/ 852 w 1195"/>
              <a:gd name="T59" fmla="*/ 63 h 1021"/>
              <a:gd name="T60" fmla="*/ 970 w 1195"/>
              <a:gd name="T61" fmla="*/ 0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95" h="1021">
                <a:moveTo>
                  <a:pt x="970" y="0"/>
                </a:moveTo>
                <a:cubicBezTo>
                  <a:pt x="1048" y="11"/>
                  <a:pt x="1021" y="16"/>
                  <a:pt x="1083" y="57"/>
                </a:cubicBezTo>
                <a:cubicBezTo>
                  <a:pt x="1096" y="65"/>
                  <a:pt x="1121" y="82"/>
                  <a:pt x="1121" y="82"/>
                </a:cubicBezTo>
                <a:cubicBezTo>
                  <a:pt x="1195" y="303"/>
                  <a:pt x="1143" y="481"/>
                  <a:pt x="1089" y="676"/>
                </a:cubicBezTo>
                <a:cubicBezTo>
                  <a:pt x="1084" y="718"/>
                  <a:pt x="1074" y="754"/>
                  <a:pt x="1064" y="795"/>
                </a:cubicBezTo>
                <a:cubicBezTo>
                  <a:pt x="1046" y="867"/>
                  <a:pt x="1038" y="940"/>
                  <a:pt x="970" y="983"/>
                </a:cubicBezTo>
                <a:cubicBezTo>
                  <a:pt x="956" y="1006"/>
                  <a:pt x="945" y="1012"/>
                  <a:pt x="920" y="1021"/>
                </a:cubicBezTo>
                <a:cubicBezTo>
                  <a:pt x="862" y="1019"/>
                  <a:pt x="803" y="1019"/>
                  <a:pt x="745" y="1014"/>
                </a:cubicBezTo>
                <a:cubicBezTo>
                  <a:pt x="732" y="1013"/>
                  <a:pt x="708" y="1002"/>
                  <a:pt x="708" y="1002"/>
                </a:cubicBezTo>
                <a:cubicBezTo>
                  <a:pt x="695" y="994"/>
                  <a:pt x="683" y="985"/>
                  <a:pt x="670" y="977"/>
                </a:cubicBezTo>
                <a:cubicBezTo>
                  <a:pt x="664" y="973"/>
                  <a:pt x="662" y="964"/>
                  <a:pt x="657" y="958"/>
                </a:cubicBezTo>
                <a:cubicBezTo>
                  <a:pt x="639" y="936"/>
                  <a:pt x="609" y="910"/>
                  <a:pt x="582" y="902"/>
                </a:cubicBezTo>
                <a:cubicBezTo>
                  <a:pt x="560" y="867"/>
                  <a:pt x="583" y="897"/>
                  <a:pt x="545" y="870"/>
                </a:cubicBezTo>
                <a:cubicBezTo>
                  <a:pt x="390" y="761"/>
                  <a:pt x="409" y="795"/>
                  <a:pt x="150" y="789"/>
                </a:cubicBezTo>
                <a:cubicBezTo>
                  <a:pt x="138" y="785"/>
                  <a:pt x="125" y="781"/>
                  <a:pt x="113" y="777"/>
                </a:cubicBezTo>
                <a:cubicBezTo>
                  <a:pt x="107" y="775"/>
                  <a:pt x="100" y="772"/>
                  <a:pt x="94" y="770"/>
                </a:cubicBezTo>
                <a:cubicBezTo>
                  <a:pt x="81" y="766"/>
                  <a:pt x="69" y="762"/>
                  <a:pt x="56" y="758"/>
                </a:cubicBezTo>
                <a:cubicBezTo>
                  <a:pt x="50" y="756"/>
                  <a:pt x="38" y="752"/>
                  <a:pt x="38" y="752"/>
                </a:cubicBezTo>
                <a:cubicBezTo>
                  <a:pt x="24" y="731"/>
                  <a:pt x="8" y="719"/>
                  <a:pt x="0" y="695"/>
                </a:cubicBezTo>
                <a:cubicBezTo>
                  <a:pt x="5" y="626"/>
                  <a:pt x="4" y="614"/>
                  <a:pt x="38" y="564"/>
                </a:cubicBezTo>
                <a:cubicBezTo>
                  <a:pt x="68" y="520"/>
                  <a:pt x="48" y="531"/>
                  <a:pt x="81" y="520"/>
                </a:cubicBezTo>
                <a:cubicBezTo>
                  <a:pt x="127" y="489"/>
                  <a:pt x="152" y="499"/>
                  <a:pt x="219" y="495"/>
                </a:cubicBezTo>
                <a:cubicBezTo>
                  <a:pt x="269" y="479"/>
                  <a:pt x="296" y="480"/>
                  <a:pt x="357" y="476"/>
                </a:cubicBezTo>
                <a:cubicBezTo>
                  <a:pt x="409" y="459"/>
                  <a:pt x="460" y="445"/>
                  <a:pt x="513" y="432"/>
                </a:cubicBezTo>
                <a:cubicBezTo>
                  <a:pt x="545" y="412"/>
                  <a:pt x="548" y="377"/>
                  <a:pt x="589" y="351"/>
                </a:cubicBezTo>
                <a:cubicBezTo>
                  <a:pt x="607" y="323"/>
                  <a:pt x="626" y="302"/>
                  <a:pt x="645" y="276"/>
                </a:cubicBezTo>
                <a:cubicBezTo>
                  <a:pt x="660" y="230"/>
                  <a:pt x="686" y="198"/>
                  <a:pt x="726" y="169"/>
                </a:cubicBezTo>
                <a:cubicBezTo>
                  <a:pt x="751" y="133"/>
                  <a:pt x="784" y="124"/>
                  <a:pt x="814" y="94"/>
                </a:cubicBezTo>
                <a:cubicBezTo>
                  <a:pt x="820" y="88"/>
                  <a:pt x="826" y="81"/>
                  <a:pt x="833" y="75"/>
                </a:cubicBezTo>
                <a:cubicBezTo>
                  <a:pt x="839" y="70"/>
                  <a:pt x="846" y="68"/>
                  <a:pt x="852" y="63"/>
                </a:cubicBezTo>
                <a:cubicBezTo>
                  <a:pt x="902" y="18"/>
                  <a:pt x="899" y="0"/>
                  <a:pt x="97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9181" name="Freeform 29">
            <a:extLst>
              <a:ext uri="{FF2B5EF4-FFF2-40B4-BE49-F238E27FC236}">
                <a16:creationId xmlns:a16="http://schemas.microsoft.com/office/drawing/2014/main" id="{47C7C92B-30E0-461D-9759-02C037329D55}"/>
              </a:ext>
            </a:extLst>
          </p:cNvPr>
          <p:cNvSpPr>
            <a:spLocks/>
          </p:cNvSpPr>
          <p:nvPr/>
        </p:nvSpPr>
        <p:spPr bwMode="auto">
          <a:xfrm>
            <a:off x="5402262" y="5000771"/>
            <a:ext cx="1387475" cy="1487487"/>
          </a:xfrm>
          <a:custGeom>
            <a:avLst/>
            <a:gdLst>
              <a:gd name="T0" fmla="*/ 122 w 874"/>
              <a:gd name="T1" fmla="*/ 141 h 937"/>
              <a:gd name="T2" fmla="*/ 236 w 874"/>
              <a:gd name="T3" fmla="*/ 111 h 937"/>
              <a:gd name="T4" fmla="*/ 349 w 874"/>
              <a:gd name="T5" fmla="*/ 48 h 937"/>
              <a:gd name="T6" fmla="*/ 518 w 874"/>
              <a:gd name="T7" fmla="*/ 10 h 937"/>
              <a:gd name="T8" fmla="*/ 793 w 874"/>
              <a:gd name="T9" fmla="*/ 29 h 937"/>
              <a:gd name="T10" fmla="*/ 825 w 874"/>
              <a:gd name="T11" fmla="*/ 111 h 937"/>
              <a:gd name="T12" fmla="*/ 850 w 874"/>
              <a:gd name="T13" fmla="*/ 186 h 937"/>
              <a:gd name="T14" fmla="*/ 837 w 874"/>
              <a:gd name="T15" fmla="*/ 555 h 937"/>
              <a:gd name="T16" fmla="*/ 843 w 874"/>
              <a:gd name="T17" fmla="*/ 611 h 937"/>
              <a:gd name="T18" fmla="*/ 743 w 874"/>
              <a:gd name="T19" fmla="*/ 843 h 937"/>
              <a:gd name="T20" fmla="*/ 662 w 874"/>
              <a:gd name="T21" fmla="*/ 937 h 937"/>
              <a:gd name="T22" fmla="*/ 518 w 874"/>
              <a:gd name="T23" fmla="*/ 912 h 937"/>
              <a:gd name="T24" fmla="*/ 480 w 874"/>
              <a:gd name="T25" fmla="*/ 887 h 937"/>
              <a:gd name="T26" fmla="*/ 468 w 874"/>
              <a:gd name="T27" fmla="*/ 868 h 937"/>
              <a:gd name="T28" fmla="*/ 449 w 874"/>
              <a:gd name="T29" fmla="*/ 856 h 937"/>
              <a:gd name="T30" fmla="*/ 386 w 874"/>
              <a:gd name="T31" fmla="*/ 793 h 937"/>
              <a:gd name="T32" fmla="*/ 374 w 874"/>
              <a:gd name="T33" fmla="*/ 774 h 937"/>
              <a:gd name="T34" fmla="*/ 355 w 874"/>
              <a:gd name="T35" fmla="*/ 762 h 937"/>
              <a:gd name="T36" fmla="*/ 330 w 874"/>
              <a:gd name="T37" fmla="*/ 724 h 937"/>
              <a:gd name="T38" fmla="*/ 311 w 874"/>
              <a:gd name="T39" fmla="*/ 705 h 937"/>
              <a:gd name="T40" fmla="*/ 248 w 874"/>
              <a:gd name="T41" fmla="*/ 665 h 937"/>
              <a:gd name="T42" fmla="*/ 204 w 874"/>
              <a:gd name="T43" fmla="*/ 602 h 937"/>
              <a:gd name="T44" fmla="*/ 151 w 874"/>
              <a:gd name="T45" fmla="*/ 573 h 937"/>
              <a:gd name="T46" fmla="*/ 132 w 874"/>
              <a:gd name="T47" fmla="*/ 539 h 937"/>
              <a:gd name="T48" fmla="*/ 69 w 874"/>
              <a:gd name="T49" fmla="*/ 480 h 937"/>
              <a:gd name="T50" fmla="*/ 6 w 874"/>
              <a:gd name="T51" fmla="*/ 335 h 937"/>
              <a:gd name="T52" fmla="*/ 30 w 874"/>
              <a:gd name="T53" fmla="*/ 219 h 937"/>
              <a:gd name="T54" fmla="*/ 122 w 874"/>
              <a:gd name="T55" fmla="*/ 141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74" h="937">
                <a:moveTo>
                  <a:pt x="122" y="141"/>
                </a:moveTo>
                <a:cubicBezTo>
                  <a:pt x="146" y="129"/>
                  <a:pt x="210" y="117"/>
                  <a:pt x="236" y="111"/>
                </a:cubicBezTo>
                <a:cubicBezTo>
                  <a:pt x="270" y="87"/>
                  <a:pt x="311" y="66"/>
                  <a:pt x="349" y="48"/>
                </a:cubicBezTo>
                <a:cubicBezTo>
                  <a:pt x="398" y="25"/>
                  <a:pt x="465" y="22"/>
                  <a:pt x="518" y="10"/>
                </a:cubicBezTo>
                <a:cubicBezTo>
                  <a:pt x="603" y="13"/>
                  <a:pt x="706" y="0"/>
                  <a:pt x="793" y="29"/>
                </a:cubicBezTo>
                <a:cubicBezTo>
                  <a:pt x="804" y="58"/>
                  <a:pt x="807" y="85"/>
                  <a:pt x="825" y="111"/>
                </a:cubicBezTo>
                <a:cubicBezTo>
                  <a:pt x="833" y="136"/>
                  <a:pt x="841" y="161"/>
                  <a:pt x="850" y="186"/>
                </a:cubicBezTo>
                <a:cubicBezTo>
                  <a:pt x="863" y="308"/>
                  <a:pt x="874" y="437"/>
                  <a:pt x="837" y="555"/>
                </a:cubicBezTo>
                <a:cubicBezTo>
                  <a:pt x="839" y="574"/>
                  <a:pt x="843" y="592"/>
                  <a:pt x="843" y="611"/>
                </a:cubicBezTo>
                <a:cubicBezTo>
                  <a:pt x="843" y="715"/>
                  <a:pt x="797" y="764"/>
                  <a:pt x="743" y="843"/>
                </a:cubicBezTo>
                <a:cubicBezTo>
                  <a:pt x="729" y="886"/>
                  <a:pt x="708" y="922"/>
                  <a:pt x="662" y="937"/>
                </a:cubicBezTo>
                <a:cubicBezTo>
                  <a:pt x="610" y="933"/>
                  <a:pt x="567" y="927"/>
                  <a:pt x="518" y="912"/>
                </a:cubicBezTo>
                <a:cubicBezTo>
                  <a:pt x="505" y="904"/>
                  <a:pt x="493" y="895"/>
                  <a:pt x="480" y="887"/>
                </a:cubicBezTo>
                <a:cubicBezTo>
                  <a:pt x="474" y="883"/>
                  <a:pt x="473" y="873"/>
                  <a:pt x="468" y="868"/>
                </a:cubicBezTo>
                <a:cubicBezTo>
                  <a:pt x="463" y="863"/>
                  <a:pt x="455" y="860"/>
                  <a:pt x="449" y="856"/>
                </a:cubicBezTo>
                <a:cubicBezTo>
                  <a:pt x="433" y="832"/>
                  <a:pt x="410" y="808"/>
                  <a:pt x="386" y="793"/>
                </a:cubicBezTo>
                <a:cubicBezTo>
                  <a:pt x="382" y="787"/>
                  <a:pt x="379" y="779"/>
                  <a:pt x="374" y="774"/>
                </a:cubicBezTo>
                <a:cubicBezTo>
                  <a:pt x="369" y="769"/>
                  <a:pt x="360" y="768"/>
                  <a:pt x="355" y="762"/>
                </a:cubicBezTo>
                <a:cubicBezTo>
                  <a:pt x="345" y="751"/>
                  <a:pt x="341" y="735"/>
                  <a:pt x="330" y="724"/>
                </a:cubicBezTo>
                <a:cubicBezTo>
                  <a:pt x="324" y="718"/>
                  <a:pt x="317" y="711"/>
                  <a:pt x="311" y="705"/>
                </a:cubicBezTo>
                <a:cubicBezTo>
                  <a:pt x="294" y="654"/>
                  <a:pt x="280" y="714"/>
                  <a:pt x="248" y="665"/>
                </a:cubicBezTo>
                <a:cubicBezTo>
                  <a:pt x="229" y="637"/>
                  <a:pt x="224" y="631"/>
                  <a:pt x="204" y="602"/>
                </a:cubicBezTo>
                <a:cubicBezTo>
                  <a:pt x="198" y="583"/>
                  <a:pt x="160" y="590"/>
                  <a:pt x="151" y="573"/>
                </a:cubicBezTo>
                <a:cubicBezTo>
                  <a:pt x="142" y="563"/>
                  <a:pt x="146" y="555"/>
                  <a:pt x="132" y="539"/>
                </a:cubicBezTo>
                <a:cubicBezTo>
                  <a:pt x="118" y="523"/>
                  <a:pt x="90" y="514"/>
                  <a:pt x="69" y="480"/>
                </a:cubicBezTo>
                <a:cubicBezTo>
                  <a:pt x="64" y="446"/>
                  <a:pt x="5" y="372"/>
                  <a:pt x="6" y="335"/>
                </a:cubicBezTo>
                <a:cubicBezTo>
                  <a:pt x="0" y="292"/>
                  <a:pt x="11" y="251"/>
                  <a:pt x="30" y="219"/>
                </a:cubicBezTo>
                <a:cubicBezTo>
                  <a:pt x="39" y="172"/>
                  <a:pt x="132" y="184"/>
                  <a:pt x="122" y="1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9182" name="Oval 30">
            <a:extLst>
              <a:ext uri="{FF2B5EF4-FFF2-40B4-BE49-F238E27FC236}">
                <a16:creationId xmlns:a16="http://schemas.microsoft.com/office/drawing/2014/main" id="{64C5FAE0-762F-4FDD-A5CE-9F0AB8057A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0725" y="5316683"/>
            <a:ext cx="179387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3" name="Oval 31">
            <a:extLst>
              <a:ext uri="{FF2B5EF4-FFF2-40B4-BE49-F238E27FC236}">
                <a16:creationId xmlns:a16="http://schemas.microsoft.com/office/drawing/2014/main" id="{F258940F-4A6D-4F0F-BA38-2667F7FCA1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64562" y="5148408"/>
            <a:ext cx="180975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4" name="Oval 32">
            <a:extLst>
              <a:ext uri="{FF2B5EF4-FFF2-40B4-BE49-F238E27FC236}">
                <a16:creationId xmlns:a16="http://schemas.microsoft.com/office/drawing/2014/main" id="{C3274D27-1BC7-4209-8456-BA384E2D3F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8825" y="6192983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5" name="Oval 33">
            <a:extLst>
              <a:ext uri="{FF2B5EF4-FFF2-40B4-BE49-F238E27FC236}">
                <a16:creationId xmlns:a16="http://schemas.microsoft.com/office/drawing/2014/main" id="{5BEBFF91-89B9-4DC3-9233-66495CF17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80161" y="5148408"/>
            <a:ext cx="179388" cy="168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6" name="Oval 34">
            <a:extLst>
              <a:ext uri="{FF2B5EF4-FFF2-40B4-BE49-F238E27FC236}">
                <a16:creationId xmlns:a16="http://schemas.microsoft.com/office/drawing/2014/main" id="{D1D8D411-F372-4620-975A-AE1BD1DED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56361" y="5559570"/>
            <a:ext cx="179388" cy="16986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7" name="Oval 35">
            <a:extLst>
              <a:ext uri="{FF2B5EF4-FFF2-40B4-BE49-F238E27FC236}">
                <a16:creationId xmlns:a16="http://schemas.microsoft.com/office/drawing/2014/main" id="{94CAB040-AB38-4FF7-984F-4DDBFF016C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99200" y="6192983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8" name="Oval 36">
            <a:extLst>
              <a:ext uri="{FF2B5EF4-FFF2-40B4-BE49-F238E27FC236}">
                <a16:creationId xmlns:a16="http://schemas.microsoft.com/office/drawing/2014/main" id="{587C661F-94B2-4610-89E6-CA08178433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10536" y="5680220"/>
            <a:ext cx="179388" cy="171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sp>
        <p:nvSpPr>
          <p:cNvPr id="689189" name="Oval 37">
            <a:extLst>
              <a:ext uri="{FF2B5EF4-FFF2-40B4-BE49-F238E27FC236}">
                <a16:creationId xmlns:a16="http://schemas.microsoft.com/office/drawing/2014/main" id="{E546BCF3-88E8-4CEC-BB5C-67B9B6135E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13600" y="5821508"/>
            <a:ext cx="179387" cy="16986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endParaRPr lang="en-US" altLang="en-US" sz="1400"/>
          </a:p>
        </p:txBody>
      </p:sp>
      <p:cxnSp>
        <p:nvCxnSpPr>
          <p:cNvPr id="689190" name="AutoShape 38">
            <a:extLst>
              <a:ext uri="{FF2B5EF4-FFF2-40B4-BE49-F238E27FC236}">
                <a16:creationId xmlns:a16="http://schemas.microsoft.com/office/drawing/2014/main" id="{FF8272EE-E520-4D4B-B475-AA699A896A9C}"/>
              </a:ext>
            </a:extLst>
          </p:cNvPr>
          <p:cNvCxnSpPr>
            <a:cxnSpLocks noChangeShapeType="1"/>
            <a:stCxn id="689182" idx="6"/>
            <a:endCxn id="689185" idx="3"/>
          </p:cNvCxnSpPr>
          <p:nvPr/>
        </p:nvCxnSpPr>
        <p:spPr bwMode="auto">
          <a:xfrm flipV="1">
            <a:off x="5980111" y="5291282"/>
            <a:ext cx="427038" cy="1095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1" name="AutoShape 39">
            <a:extLst>
              <a:ext uri="{FF2B5EF4-FFF2-40B4-BE49-F238E27FC236}">
                <a16:creationId xmlns:a16="http://schemas.microsoft.com/office/drawing/2014/main" id="{034D742E-9C0E-49AA-800A-11F303ECF9D3}"/>
              </a:ext>
            </a:extLst>
          </p:cNvPr>
          <p:cNvCxnSpPr>
            <a:cxnSpLocks noChangeShapeType="1"/>
            <a:stCxn id="689182" idx="5"/>
            <a:endCxn id="689186" idx="2"/>
          </p:cNvCxnSpPr>
          <p:nvPr/>
        </p:nvCxnSpPr>
        <p:spPr bwMode="auto">
          <a:xfrm>
            <a:off x="5953125" y="5459557"/>
            <a:ext cx="503237" cy="1857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2" name="AutoShape 40">
            <a:extLst>
              <a:ext uri="{FF2B5EF4-FFF2-40B4-BE49-F238E27FC236}">
                <a16:creationId xmlns:a16="http://schemas.microsoft.com/office/drawing/2014/main" id="{72EFD46E-1DD7-48AF-90D6-341CAF45EB70}"/>
              </a:ext>
            </a:extLst>
          </p:cNvPr>
          <p:cNvCxnSpPr>
            <a:cxnSpLocks noChangeShapeType="1"/>
            <a:stCxn id="689187" idx="1"/>
            <a:endCxn id="689182" idx="4"/>
          </p:cNvCxnSpPr>
          <p:nvPr/>
        </p:nvCxnSpPr>
        <p:spPr bwMode="auto">
          <a:xfrm flipH="1" flipV="1">
            <a:off x="5891212" y="5484958"/>
            <a:ext cx="4349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3" name="AutoShape 41">
            <a:extLst>
              <a:ext uri="{FF2B5EF4-FFF2-40B4-BE49-F238E27FC236}">
                <a16:creationId xmlns:a16="http://schemas.microsoft.com/office/drawing/2014/main" id="{D2DCCFC4-30E5-4B04-B9A7-17B6C3E33D58}"/>
              </a:ext>
            </a:extLst>
          </p:cNvPr>
          <p:cNvCxnSpPr>
            <a:cxnSpLocks noChangeShapeType="1"/>
            <a:stCxn id="689183" idx="3"/>
            <a:endCxn id="689188" idx="7"/>
          </p:cNvCxnSpPr>
          <p:nvPr/>
        </p:nvCxnSpPr>
        <p:spPr bwMode="auto">
          <a:xfrm flipH="1">
            <a:off x="8262937" y="5291282"/>
            <a:ext cx="328613" cy="414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4" name="AutoShape 42">
            <a:extLst>
              <a:ext uri="{FF2B5EF4-FFF2-40B4-BE49-F238E27FC236}">
                <a16:creationId xmlns:a16="http://schemas.microsoft.com/office/drawing/2014/main" id="{AF213740-DCDD-492C-A761-B79CBAD55F0B}"/>
              </a:ext>
            </a:extLst>
          </p:cNvPr>
          <p:cNvCxnSpPr>
            <a:cxnSpLocks noChangeShapeType="1"/>
            <a:stCxn id="689189" idx="6"/>
            <a:endCxn id="689188" idx="2"/>
          </p:cNvCxnSpPr>
          <p:nvPr/>
        </p:nvCxnSpPr>
        <p:spPr bwMode="auto">
          <a:xfrm flipV="1">
            <a:off x="7392986" y="5765946"/>
            <a:ext cx="717550" cy="141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5" name="AutoShape 43">
            <a:extLst>
              <a:ext uri="{FF2B5EF4-FFF2-40B4-BE49-F238E27FC236}">
                <a16:creationId xmlns:a16="http://schemas.microsoft.com/office/drawing/2014/main" id="{7EF73703-8C22-487B-BEFC-657FC2A28E1F}"/>
              </a:ext>
            </a:extLst>
          </p:cNvPr>
          <p:cNvCxnSpPr>
            <a:cxnSpLocks noChangeShapeType="1"/>
            <a:stCxn id="689183" idx="4"/>
            <a:endCxn id="689184" idx="0"/>
          </p:cNvCxnSpPr>
          <p:nvPr/>
        </p:nvCxnSpPr>
        <p:spPr bwMode="auto">
          <a:xfrm flipH="1">
            <a:off x="8469311" y="5316682"/>
            <a:ext cx="185738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6" name="AutoShape 44">
            <a:extLst>
              <a:ext uri="{FF2B5EF4-FFF2-40B4-BE49-F238E27FC236}">
                <a16:creationId xmlns:a16="http://schemas.microsoft.com/office/drawing/2014/main" id="{DB72BA5E-8EDF-4D36-A9EC-F25692ABA195}"/>
              </a:ext>
            </a:extLst>
          </p:cNvPr>
          <p:cNvCxnSpPr>
            <a:cxnSpLocks noChangeShapeType="1"/>
            <a:stCxn id="689184" idx="2"/>
            <a:endCxn id="689187" idx="6"/>
          </p:cNvCxnSpPr>
          <p:nvPr/>
        </p:nvCxnSpPr>
        <p:spPr bwMode="auto">
          <a:xfrm flipH="1">
            <a:off x="6478586" y="6278707"/>
            <a:ext cx="1900238" cy="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9197" name="AutoShape 45">
            <a:extLst>
              <a:ext uri="{FF2B5EF4-FFF2-40B4-BE49-F238E27FC236}">
                <a16:creationId xmlns:a16="http://schemas.microsoft.com/office/drawing/2014/main" id="{D54F6BCA-06D7-48C5-88E8-73DDD3D9028D}"/>
              </a:ext>
            </a:extLst>
          </p:cNvPr>
          <p:cNvCxnSpPr>
            <a:cxnSpLocks noChangeShapeType="1"/>
            <a:stCxn id="689185" idx="6"/>
            <a:endCxn id="689183" idx="1"/>
          </p:cNvCxnSpPr>
          <p:nvPr/>
        </p:nvCxnSpPr>
        <p:spPr bwMode="auto">
          <a:xfrm flipV="1">
            <a:off x="6559549" y="5173807"/>
            <a:ext cx="2032000" cy="587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9198" name="Text Box 46">
            <a:extLst>
              <a:ext uri="{FF2B5EF4-FFF2-40B4-BE49-F238E27FC236}">
                <a16:creationId xmlns:a16="http://schemas.microsoft.com/office/drawing/2014/main" id="{492F7CED-ECBA-4A5B-9EF6-39AA3F1C2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6" y="5110307"/>
            <a:ext cx="2349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f </a:t>
            </a:r>
          </a:p>
        </p:txBody>
      </p:sp>
      <p:sp>
        <p:nvSpPr>
          <p:cNvPr id="689199" name="Text Box 47">
            <a:extLst>
              <a:ext uri="{FF2B5EF4-FFF2-40B4-BE49-F238E27FC236}">
                <a16:creationId xmlns:a16="http://schemas.microsoft.com/office/drawing/2014/main" id="{BC9B3474-8979-46CD-9E4D-47C91A67A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936" y="6421582"/>
            <a:ext cx="53340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 T*</a:t>
            </a:r>
          </a:p>
        </p:txBody>
      </p:sp>
      <p:sp>
        <p:nvSpPr>
          <p:cNvPr id="689200" name="Text Box 48">
            <a:extLst>
              <a:ext uri="{FF2B5EF4-FFF2-40B4-BE49-F238E27FC236}">
                <a16:creationId xmlns:a16="http://schemas.microsoft.com/office/drawing/2014/main" id="{C3FC76B6-CEDD-47C9-95FC-AB1B6812E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136" y="6143770"/>
            <a:ext cx="158750" cy="2154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e</a:t>
            </a:r>
          </a:p>
        </p:txBody>
      </p:sp>
      <p:sp>
        <p:nvSpPr>
          <p:cNvPr id="689201" name="Rectangle 49">
            <a:extLst>
              <a:ext uri="{FF2B5EF4-FFF2-40B4-BE49-F238E27FC236}">
                <a16:creationId xmlns:a16="http://schemas.microsoft.com/office/drawing/2014/main" id="{AB0D4717-0726-4BAE-AA71-21409B665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212" y="5380182"/>
            <a:ext cx="29174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S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AE47784-D31A-4D3B-B467-3F379C9A4362}"/>
              </a:ext>
            </a:extLst>
          </p:cNvPr>
          <p:cNvSpPr txBox="1">
            <a:spLocks noChangeArrowheads="1"/>
          </p:cNvSpPr>
          <p:nvPr/>
        </p:nvSpPr>
        <p:spPr>
          <a:xfrm>
            <a:off x="436418" y="2631993"/>
            <a:ext cx="8921462" cy="32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ym typeface="Symbol" panose="05050102010706020507" pitchFamily="18" charset="2"/>
              </a:rPr>
              <a:t>Proof.  (exchange argument)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Suppose f belongs to T*.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Deleting f from T* creates a cut S in T*.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Edge f is both in the cycle C and in the cutset D corresponding to S    there exists another edge, say e, that is in both C and D.</a:t>
            </a:r>
          </a:p>
          <a:p>
            <a:pPr lvl="1"/>
            <a:r>
              <a:rPr lang="en-US" altLang="en-US" dirty="0"/>
              <a:t>T' = T*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{</a:t>
            </a:r>
            <a:r>
              <a:rPr lang="en-US" altLang="en-US" baseline="-25000" dirty="0"/>
              <a:t> </a:t>
            </a:r>
            <a:r>
              <a:rPr lang="en-US" altLang="en-US" dirty="0"/>
              <a:t>e</a:t>
            </a:r>
            <a:r>
              <a:rPr lang="en-US" altLang="en-US" baseline="-25000" dirty="0"/>
              <a:t> </a:t>
            </a:r>
            <a:r>
              <a:rPr lang="en-US" altLang="en-US" dirty="0"/>
              <a:t>} - {</a:t>
            </a:r>
            <a:r>
              <a:rPr lang="en-US" altLang="en-US" baseline="-25000" dirty="0"/>
              <a:t> </a:t>
            </a:r>
            <a:r>
              <a:rPr lang="en-US" altLang="en-US" dirty="0"/>
              <a:t>f</a:t>
            </a:r>
            <a:r>
              <a:rPr lang="en-US" altLang="en-US" baseline="-25000" dirty="0"/>
              <a:t> </a:t>
            </a:r>
            <a:r>
              <a:rPr lang="en-US" altLang="en-US" dirty="0"/>
              <a:t>} is also a spanning tree.</a:t>
            </a:r>
          </a:p>
          <a:p>
            <a:pPr lvl="1"/>
            <a:r>
              <a:rPr lang="en-US" altLang="en-US" dirty="0"/>
              <a:t>Since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e</a:t>
            </a:r>
            <a:r>
              <a:rPr lang="en-US" altLang="en-US" dirty="0"/>
              <a:t> &lt;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f</a:t>
            </a:r>
            <a:r>
              <a:rPr lang="en-US" altLang="en-US" dirty="0"/>
              <a:t>, cost(T') &lt; cost(T*).</a:t>
            </a:r>
          </a:p>
          <a:p>
            <a:pPr lvl="1"/>
            <a:r>
              <a:rPr lang="en-US" altLang="en-US" dirty="0"/>
              <a:t>This is a contradiction. </a:t>
            </a:r>
            <a:r>
              <a:rPr lang="en-US" altLang="en-US" dirty="0">
                <a:cs typeface="Lucida Grande" pitchFamily="48" charset="0"/>
              </a:rPr>
              <a:t>▪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80" grpId="0" animBg="1"/>
      <p:bldP spid="689181" grpId="0" animBg="1"/>
      <p:bldP spid="689182" grpId="0" animBg="1"/>
      <p:bldP spid="689183" grpId="0" animBg="1"/>
      <p:bldP spid="689184" grpId="0" animBg="1"/>
      <p:bldP spid="689185" grpId="0" animBg="1"/>
      <p:bldP spid="689186" grpId="0" animBg="1"/>
      <p:bldP spid="689187" grpId="0" animBg="1"/>
      <p:bldP spid="689188" grpId="0" animBg="1"/>
      <p:bldP spid="689189" grpId="0" animBg="1"/>
      <p:bldP spid="689198" grpId="0" animBg="1"/>
      <p:bldP spid="689199" grpId="0" animBg="1"/>
      <p:bldP spid="689200" grpId="0" animBg="1"/>
      <p:bldP spid="689201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29055" cy="4351338"/>
          </a:xfrm>
        </p:spPr>
        <p:txBody>
          <a:bodyPr>
            <a:normAutofit/>
          </a:bodyPr>
          <a:lstStyle/>
          <a:p>
            <a:r>
              <a:rPr lang="en-US" dirty="0"/>
              <a:t>Cuts &amp; cycles are important concepts for spanning trees</a:t>
            </a:r>
          </a:p>
          <a:p>
            <a:r>
              <a:rPr lang="en-US" dirty="0"/>
              <a:t>A spanning tree must cross every cut</a:t>
            </a:r>
          </a:p>
          <a:p>
            <a:r>
              <a:rPr lang="en-US" dirty="0"/>
              <a:t>A spanning tree must not contain any cycle</a:t>
            </a:r>
          </a:p>
          <a:p>
            <a:r>
              <a:rPr lang="en-US" dirty="0"/>
              <a:t>Main Takeaway: An MST must contain the lightest edge crossing a cut and must avoid the heaviest edge in any cycle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5137</TotalTime>
  <Words>643</Words>
  <Application>Microsoft Office PowerPoint</Application>
  <PresentationFormat>Widescreen</PresentationFormat>
  <Paragraphs>92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Calibri</vt:lpstr>
      <vt:lpstr>Office Theme</vt:lpstr>
      <vt:lpstr>Office Theme</vt:lpstr>
      <vt:lpstr>CS5800 – ALGORITHMS  MODULE 7. GREEDY ALGORITHMS - II  Lesson 2: Cycles &amp; Cuts</vt:lpstr>
      <vt:lpstr>Topics</vt:lpstr>
      <vt:lpstr>Cycles and Cuts</vt:lpstr>
      <vt:lpstr>Cycle-Cut Intersection</vt:lpstr>
      <vt:lpstr>Key properties </vt:lpstr>
      <vt:lpstr>Cut Property</vt:lpstr>
      <vt:lpstr>Cycle Property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20</cp:revision>
  <dcterms:created xsi:type="dcterms:W3CDTF">2019-09-13T03:48:54Z</dcterms:created>
  <dcterms:modified xsi:type="dcterms:W3CDTF">2020-09-14T14:40:38Z</dcterms:modified>
</cp:coreProperties>
</file>