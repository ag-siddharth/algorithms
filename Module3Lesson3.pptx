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1"/>
  </p:notesMasterIdLst>
  <p:sldIdLst>
    <p:sldId id="257" r:id="rId3"/>
    <p:sldId id="258" r:id="rId4"/>
    <p:sldId id="298" r:id="rId5"/>
    <p:sldId id="311" r:id="rId6"/>
    <p:sldId id="313" r:id="rId7"/>
    <p:sldId id="310" r:id="rId8"/>
    <p:sldId id="312" r:id="rId9"/>
    <p:sldId id="305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049E8B-79DC-4FD7-ADA3-20A46366E31A}" v="186" dt="2020-07-13T06:44:29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D9049E8B-79DC-4FD7-ADA3-20A46366E31A}"/>
    <pc:docChg chg="custSel modSld sldOrd">
      <pc:chgData name="Ravi Sundaram" userId="a7df020c0a403423" providerId="LiveId" clId="{D9049E8B-79DC-4FD7-ADA3-20A46366E31A}" dt="2020-07-13T06:44:29.752" v="140" actId="20577"/>
      <pc:docMkLst>
        <pc:docMk/>
      </pc:docMkLst>
      <pc:sldChg chg="modSp">
        <pc:chgData name="Ravi Sundaram" userId="a7df020c0a403423" providerId="LiveId" clId="{D9049E8B-79DC-4FD7-ADA3-20A46366E31A}" dt="2020-07-13T06:44:29.752" v="140" actId="20577"/>
        <pc:sldMkLst>
          <pc:docMk/>
          <pc:sldMk cId="0" sldId="310"/>
        </pc:sldMkLst>
        <pc:spChg chg="mod">
          <ac:chgData name="Ravi Sundaram" userId="a7df020c0a403423" providerId="LiveId" clId="{D9049E8B-79DC-4FD7-ADA3-20A46366E31A}" dt="2020-07-13T06:44:29.752" v="140" actId="20577"/>
          <ac:spMkLst>
            <pc:docMk/>
            <pc:sldMk cId="0" sldId="310"/>
            <ac:spMk id="64515" creationId="{97CB9085-2BF0-4765-A55F-F1BE3B554A4F}"/>
          </ac:spMkLst>
        </pc:spChg>
      </pc:sldChg>
      <pc:sldChg chg="modSp modAnim">
        <pc:chgData name="Ravi Sundaram" userId="a7df020c0a403423" providerId="LiveId" clId="{D9049E8B-79DC-4FD7-ADA3-20A46366E31A}" dt="2020-07-13T06:36:28.201" v="77"/>
        <pc:sldMkLst>
          <pc:docMk/>
          <pc:sldMk cId="0" sldId="311"/>
        </pc:sldMkLst>
        <pc:spChg chg="mod">
          <ac:chgData name="Ravi Sundaram" userId="a7df020c0a403423" providerId="LiveId" clId="{D9049E8B-79DC-4FD7-ADA3-20A46366E31A}" dt="2020-07-13T06:36:10.218" v="76" actId="20577"/>
          <ac:spMkLst>
            <pc:docMk/>
            <pc:sldMk cId="0" sldId="311"/>
            <ac:spMk id="65539" creationId="{CB8C8162-40DE-4691-A067-FCA98183D993}"/>
          </ac:spMkLst>
        </pc:spChg>
      </pc:sldChg>
      <pc:sldChg chg="ord">
        <pc:chgData name="Ravi Sundaram" userId="a7df020c0a403423" providerId="LiveId" clId="{D9049E8B-79DC-4FD7-ADA3-20A46366E31A}" dt="2020-07-13T06:33:44.206" v="0"/>
        <pc:sldMkLst>
          <pc:docMk/>
          <pc:sldMk cId="938264090" sldId="3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3. DIVIDE &amp; CONQUER - I</a:t>
            </a:r>
            <a:br>
              <a:rPr lang="en-US" sz="4000" dirty="0"/>
            </a:br>
            <a:br>
              <a:rPr lang="en-US" sz="4000" dirty="0"/>
            </a:br>
            <a:r>
              <a:rPr lang="en-US" sz="4000"/>
              <a:t>Lesson 3: Integer Multiplication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Integer multiplication – grade school</a:t>
            </a:r>
          </a:p>
          <a:p>
            <a:r>
              <a:rPr lang="en-US" dirty="0"/>
              <a:t>Naïve Divide &amp; Conquer</a:t>
            </a:r>
          </a:p>
          <a:p>
            <a:r>
              <a:rPr lang="en-US" dirty="0"/>
              <a:t>Karatsuba’s algorithm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1954-7867-4D76-B438-42D1FF47D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Multiplication over the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71CA-3D64-48C3-A1BF-F506485A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698"/>
            <a:ext cx="10515600" cy="56753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Naïve (grade school) multiplication is quadratic time 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US" dirty="0"/>
              <a:t>(lg A * lg B)</a:t>
            </a:r>
          </a:p>
          <a:p>
            <a:r>
              <a:rPr lang="en-US" dirty="0"/>
              <a:t>If both A and B are n-bit numbers then (naïve) multiplication is 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B3A848-BC4A-4C4C-98C0-0FF8FEB97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467" y="1690688"/>
            <a:ext cx="8826673" cy="393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8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9526063-D705-430D-B7F1-5EB984952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L1.</a:t>
            </a:r>
            <a:fld id="{669C2EBA-6D9A-43B1-89D0-C29B602EBAE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A123E0DA-541E-4FA9-B747-7EACDF106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Naïve Divide &amp; Conquer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CB8C8162-40DE-4691-A067-FCA98183D9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Let X = A B  and Y = C  D  where A,B,C and D are n/2 bit integers</a:t>
            </a:r>
          </a:p>
          <a:p>
            <a:endParaRPr lang="en-US" altLang="en-US" dirty="0"/>
          </a:p>
          <a:p>
            <a:r>
              <a:rPr lang="en-US" altLang="en-US" dirty="0"/>
              <a:t>Simple Method:  XY = (2</a:t>
            </a:r>
            <a:r>
              <a:rPr lang="en-US" altLang="en-US" baseline="30000" dirty="0"/>
              <a:t>n/2</a:t>
            </a:r>
            <a:r>
              <a:rPr lang="en-US" altLang="en-US" dirty="0"/>
              <a:t>A+B)(2</a:t>
            </a:r>
            <a:r>
              <a:rPr lang="en-US" altLang="en-US" baseline="30000" dirty="0"/>
              <a:t>n/2</a:t>
            </a:r>
            <a:r>
              <a:rPr lang="en-US" altLang="en-US" dirty="0"/>
              <a:t>C+D) </a:t>
            </a:r>
          </a:p>
          <a:p>
            <a:pPr marL="0" indent="0">
              <a:buNone/>
            </a:pPr>
            <a:r>
              <a:rPr lang="en-US" altLang="en-US" dirty="0"/>
              <a:t>                                       = 2</a:t>
            </a:r>
            <a:r>
              <a:rPr lang="en-US" altLang="en-US" baseline="30000" dirty="0"/>
              <a:t>n</a:t>
            </a:r>
            <a:r>
              <a:rPr lang="en-US" altLang="en-US" dirty="0"/>
              <a:t>A*C + 2</a:t>
            </a:r>
            <a:r>
              <a:rPr lang="en-US" altLang="en-US" baseline="30000" dirty="0"/>
              <a:t>n/2</a:t>
            </a:r>
            <a:r>
              <a:rPr lang="en-US" altLang="en-US" dirty="0"/>
              <a:t>(A*D+B*C) + B*D</a:t>
            </a:r>
          </a:p>
          <a:p>
            <a:endParaRPr lang="en-US" altLang="en-US" dirty="0"/>
          </a:p>
          <a:p>
            <a:r>
              <a:rPr lang="en-US" altLang="en-US" dirty="0"/>
              <a:t>Running Time Recurrence</a:t>
            </a:r>
          </a:p>
          <a:p>
            <a:pPr>
              <a:buFontTx/>
              <a:buNone/>
            </a:pPr>
            <a:r>
              <a:rPr lang="en-US" altLang="en-US" dirty="0"/>
              <a:t>   T(n) &lt; 4T(n/2) + 100n</a:t>
            </a:r>
          </a:p>
          <a:p>
            <a:pPr>
              <a:buFontTx/>
              <a:buNone/>
            </a:pPr>
            <a:endParaRPr lang="en-US" altLang="en-US" dirty="0"/>
          </a:p>
          <a:p>
            <a:r>
              <a:rPr lang="en-US" altLang="en-US" dirty="0"/>
              <a:t>Solution T(n) = </a:t>
            </a:r>
            <a:r>
              <a:rPr lang="en-US" altLang="en-US" dirty="0">
                <a:latin typeface="Symbol" panose="05050102010706020507" pitchFamily="18" charset="2"/>
              </a:rPr>
              <a:t>q</a:t>
            </a:r>
            <a:r>
              <a:rPr lang="en-US" altLang="en-US" dirty="0"/>
              <a:t>(n</a:t>
            </a:r>
            <a:r>
              <a:rPr lang="en-US" altLang="en-US" baseline="30000" dirty="0"/>
              <a:t>2</a:t>
            </a:r>
            <a:r>
              <a:rPr lang="en-US" altLang="en-US" dirty="0"/>
              <a:t>)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651C0084-A973-4A43-A366-36CBC824C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231" y="1825625"/>
            <a:ext cx="621918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135929E4-5778-4760-B7C5-3A1B9E2AE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743" y="1825625"/>
            <a:ext cx="702906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2" name="Line 6">
            <a:extLst>
              <a:ext uri="{FF2B5EF4-FFF2-40B4-BE49-F238E27FC236}">
                <a16:creationId xmlns:a16="http://schemas.microsoft.com/office/drawing/2014/main" id="{A698289B-54EC-451F-8397-3860E5227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8894" y="182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3" name="Line 7">
            <a:extLst>
              <a:ext uri="{FF2B5EF4-FFF2-40B4-BE49-F238E27FC236}">
                <a16:creationId xmlns:a16="http://schemas.microsoft.com/office/drawing/2014/main" id="{CF76601B-7887-4098-BA66-544AABD78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1384" y="1825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Karatsuba’s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 Famous Russian mathematician Andrey Kolmogorov conjectured that the grade school algorithm was asymptotically optimal</a:t>
            </a:r>
          </a:p>
          <a:p>
            <a:endParaRPr lang="en-US" dirty="0"/>
          </a:p>
          <a:p>
            <a:r>
              <a:rPr lang="en-US" dirty="0"/>
              <a:t>Posed it as a conjecture in his seminar at Moscow State Univ in 1960</a:t>
            </a:r>
          </a:p>
          <a:p>
            <a:endParaRPr lang="en-US" dirty="0"/>
          </a:p>
          <a:p>
            <a:r>
              <a:rPr lang="en-US" dirty="0"/>
              <a:t>23 </a:t>
            </a:r>
            <a:r>
              <a:rPr lang="en-US" dirty="0" err="1"/>
              <a:t>yr</a:t>
            </a:r>
            <a:r>
              <a:rPr lang="en-US" dirty="0"/>
              <a:t> old Karatsuba solved it within a week and the seminar was terminated!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93826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B5949EC-A866-42DC-A96C-E611BE6F6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L1.</a:t>
            </a:r>
            <a:fld id="{D3DB429B-5CB9-48FD-A68B-A67E8B309CA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D09B116D-97CE-466D-A9A0-CA976C7FB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Karatsuba’s Algorithm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7CB9085-2BF0-4765-A55F-F1BE3B554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Let X = A   B  and Y = C  D  where A,B,C and D are n/2 bit integers</a:t>
            </a:r>
          </a:p>
          <a:p>
            <a:endParaRPr lang="en-US" altLang="en-US" dirty="0"/>
          </a:p>
          <a:p>
            <a:r>
              <a:rPr lang="en-US" altLang="en-US" dirty="0"/>
              <a:t>Karatsuba:  </a:t>
            </a:r>
          </a:p>
          <a:p>
            <a:pPr>
              <a:buFontTx/>
              <a:buNone/>
            </a:pPr>
            <a:r>
              <a:rPr lang="en-US" altLang="en-US" dirty="0"/>
              <a:t>    Compute A</a:t>
            </a:r>
            <a:r>
              <a:rPr lang="en-US" altLang="en-US" dirty="0">
                <a:solidFill>
                  <a:srgbClr val="FF0000"/>
                </a:solidFill>
              </a:rPr>
              <a:t>*</a:t>
            </a:r>
            <a:r>
              <a:rPr lang="en-US" altLang="en-US" dirty="0"/>
              <a:t>C, B</a:t>
            </a:r>
            <a:r>
              <a:rPr lang="en-US" altLang="en-US" dirty="0">
                <a:solidFill>
                  <a:srgbClr val="FF0000"/>
                </a:solidFill>
              </a:rPr>
              <a:t>*</a:t>
            </a:r>
            <a:r>
              <a:rPr lang="en-US" altLang="en-US" dirty="0"/>
              <a:t>D and use AD + BC = (A+B)</a:t>
            </a:r>
            <a:r>
              <a:rPr lang="en-US" altLang="en-US" dirty="0">
                <a:solidFill>
                  <a:srgbClr val="FF0000"/>
                </a:solidFill>
              </a:rPr>
              <a:t>*</a:t>
            </a:r>
            <a:r>
              <a:rPr lang="en-US" altLang="en-US" dirty="0"/>
              <a:t>(C+D) – AC – BD</a:t>
            </a:r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     XY </a:t>
            </a:r>
            <a:r>
              <a:rPr lang="en-US" altLang="en-US"/>
              <a:t>= 2</a:t>
            </a:r>
            <a:r>
              <a:rPr lang="en-US" altLang="en-US" baseline="30000"/>
              <a:t>n</a:t>
            </a:r>
            <a:r>
              <a:rPr lang="en-US" altLang="en-US"/>
              <a:t>AC + 2</a:t>
            </a:r>
            <a:r>
              <a:rPr lang="en-US" altLang="en-US" baseline="30000"/>
              <a:t>n</a:t>
            </a:r>
            <a:r>
              <a:rPr lang="en-US" altLang="en-US" baseline="30000" dirty="0"/>
              <a:t>/2</a:t>
            </a:r>
            <a:r>
              <a:rPr lang="en-US" altLang="en-US"/>
              <a:t>(AD + BC) + BD</a:t>
            </a: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	 Reduced from 4 to 3 multiplications. </a:t>
            </a:r>
          </a:p>
          <a:p>
            <a:pPr>
              <a:buFontTx/>
              <a:buNone/>
            </a:pPr>
            <a:r>
              <a:rPr lang="en-US" altLang="en-US" dirty="0"/>
              <a:t>    Remember - addition and subtraction are linear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D9091997-8BFC-43A7-9C03-FCA6D5095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2116" y="1825625"/>
            <a:ext cx="914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4A868763-79CD-4F7F-8C52-0B9458F91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996" y="1837945"/>
            <a:ext cx="838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8" name="Line 6">
            <a:extLst>
              <a:ext uri="{FF2B5EF4-FFF2-40B4-BE49-F238E27FC236}">
                <a16:creationId xmlns:a16="http://schemas.microsoft.com/office/drawing/2014/main" id="{67809DB7-819D-45C9-93F1-6584FA9DE5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6122" y="1825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9" name="Line 7">
            <a:extLst>
              <a:ext uri="{FF2B5EF4-FFF2-40B4-BE49-F238E27FC236}">
                <a16:creationId xmlns:a16="http://schemas.microsoft.com/office/drawing/2014/main" id="{FC9E2824-91E7-4053-8735-E3FE84779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1045" y="1825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B5949EC-A866-42DC-A96C-E611BE6F6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L1.</a:t>
            </a:r>
            <a:fld id="{D3DB429B-5CB9-48FD-A68B-A67E8B309CA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D09B116D-97CE-466D-A9A0-CA976C7FB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Karatsuba’s Algorithm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7CB9085-2BF0-4765-A55F-F1BE3B554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endParaRPr lang="en-US" altLang="en-US" dirty="0"/>
          </a:p>
          <a:p>
            <a:r>
              <a:rPr lang="en-US" altLang="en-US" dirty="0"/>
              <a:t>Running Time Recurrence</a:t>
            </a:r>
          </a:p>
          <a:p>
            <a:pPr>
              <a:buFontTx/>
              <a:buNone/>
            </a:pPr>
            <a:r>
              <a:rPr lang="en-US" altLang="en-US" dirty="0"/>
              <a:t>            T(n) &lt; 3T(n/2) + 100n</a:t>
            </a:r>
          </a:p>
          <a:p>
            <a:pPr>
              <a:buFontTx/>
              <a:buNone/>
            </a:pPr>
            <a:endParaRPr lang="en-US" altLang="en-US" dirty="0"/>
          </a:p>
          <a:p>
            <a:r>
              <a:rPr lang="en-US" altLang="en-US" dirty="0"/>
              <a:t> Solution: </a:t>
            </a:r>
            <a:r>
              <a:rPr lang="en-US" altLang="en-US" dirty="0">
                <a:latin typeface="Symbol" panose="05050102010706020507" pitchFamily="18" charset="2"/>
              </a:rPr>
              <a:t>T</a:t>
            </a:r>
            <a:r>
              <a:rPr lang="en-US" altLang="en-US" dirty="0"/>
              <a:t>(n) = O(n </a:t>
            </a:r>
            <a:r>
              <a:rPr lang="en-US" altLang="en-US" baseline="30000" dirty="0"/>
              <a:t>lg 3</a:t>
            </a:r>
            <a:r>
              <a:rPr lang="en-US" altLang="en-US" dirty="0"/>
              <a:t>)= O(n</a:t>
            </a:r>
            <a:r>
              <a:rPr lang="en-US" altLang="en-US" baseline="30000" dirty="0"/>
              <a:t>1.58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317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C0EF-92F3-4DD3-9656-EC5DA238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FA41-EDF3-4D89-812E-85BCE7B8A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Divide &amp; Conquer is only an approach. </a:t>
            </a:r>
          </a:p>
          <a:p>
            <a:r>
              <a:rPr lang="en-US" dirty="0"/>
              <a:t>Cleverness continues to play a very important role in how to realize the Divide and Conquer steps</a:t>
            </a:r>
          </a:p>
          <a:p>
            <a:r>
              <a:rPr lang="en-US" dirty="0"/>
              <a:t>In a recent breakthrough (Harvey, van der </a:t>
            </a:r>
            <a:r>
              <a:rPr lang="en-US" dirty="0" err="1"/>
              <a:t>Hoeven</a:t>
            </a:r>
            <a:r>
              <a:rPr lang="en-US" dirty="0"/>
              <a:t> 2019) the complexity of integer multiplication and division of n-bit numbers is now at O(n log n)  </a:t>
            </a:r>
          </a:p>
          <a:p>
            <a:r>
              <a:rPr lang="en-US" dirty="0"/>
              <a:t>Main takeaway: An understanding of recurrence equations (Master Theorem) is crucial for designing fast algorithms.</a:t>
            </a:r>
          </a:p>
        </p:txBody>
      </p:sp>
    </p:spTree>
    <p:extLst>
      <p:ext uri="{BB962C8B-B14F-4D97-AF65-F5344CB8AC3E}">
        <p14:creationId xmlns:p14="http://schemas.microsoft.com/office/powerpoint/2010/main" val="345559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387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 Light</vt:lpstr>
      <vt:lpstr>Symbol</vt:lpstr>
      <vt:lpstr>Cambria</vt:lpstr>
      <vt:lpstr>Calibri</vt:lpstr>
      <vt:lpstr>Arial</vt:lpstr>
      <vt:lpstr>Office Theme</vt:lpstr>
      <vt:lpstr>Office Theme</vt:lpstr>
      <vt:lpstr>CS5800 – ALGORITHMS  MODULE 3. DIVIDE &amp; CONQUER - I  Lesson 3: Integer Multiplication</vt:lpstr>
      <vt:lpstr>Topics</vt:lpstr>
      <vt:lpstr>3. Multiplication over the integers</vt:lpstr>
      <vt:lpstr>Naïve Divide &amp; Conquer</vt:lpstr>
      <vt:lpstr>Karatsuba’s Algorithm</vt:lpstr>
      <vt:lpstr>Karatsuba’s Algorithm</vt:lpstr>
      <vt:lpstr>Karatsuba’s Algorithm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Sundaram, Ravi</cp:lastModifiedBy>
  <cp:revision>12</cp:revision>
  <dcterms:created xsi:type="dcterms:W3CDTF">2019-09-13T03:48:54Z</dcterms:created>
  <dcterms:modified xsi:type="dcterms:W3CDTF">2020-07-13T06:44:46Z</dcterms:modified>
</cp:coreProperties>
</file>