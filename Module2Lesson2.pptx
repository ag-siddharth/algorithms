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4"/>
  </p:notesMasterIdLst>
  <p:sldIdLst>
    <p:sldId id="305" r:id="rId3"/>
    <p:sldId id="306" r:id="rId4"/>
    <p:sldId id="259" r:id="rId5"/>
    <p:sldId id="275" r:id="rId6"/>
    <p:sldId id="307" r:id="rId7"/>
    <p:sldId id="276" r:id="rId8"/>
    <p:sldId id="281" r:id="rId9"/>
    <p:sldId id="277" r:id="rId10"/>
    <p:sldId id="278" r:id="rId11"/>
    <p:sldId id="279" r:id="rId12"/>
    <p:sldId id="308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E95980-4778-4AC1-A66B-12544F328C0F}" v="368" dt="2020-07-13T05:06:39.6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CFE95980-4778-4AC1-A66B-12544F328C0F}"/>
    <pc:docChg chg="modSld">
      <pc:chgData name="Ravi Sundaram" userId="a7df020c0a403423" providerId="LiveId" clId="{CFE95980-4778-4AC1-A66B-12544F328C0F}" dt="2020-07-13T05:06:39.688" v="76" actId="20577"/>
      <pc:docMkLst>
        <pc:docMk/>
      </pc:docMkLst>
      <pc:sldChg chg="modSp">
        <pc:chgData name="Ravi Sundaram" userId="a7df020c0a403423" providerId="LiveId" clId="{CFE95980-4778-4AC1-A66B-12544F328C0F}" dt="2020-07-13T05:04:35.919" v="5" actId="20577"/>
        <pc:sldMkLst>
          <pc:docMk/>
          <pc:sldMk cId="2070658356" sldId="259"/>
        </pc:sldMkLst>
        <pc:spChg chg="mod">
          <ac:chgData name="Ravi Sundaram" userId="a7df020c0a403423" providerId="LiveId" clId="{CFE95980-4778-4AC1-A66B-12544F328C0F}" dt="2020-07-13T05:04:35.919" v="5" actId="20577"/>
          <ac:spMkLst>
            <pc:docMk/>
            <pc:sldMk cId="2070658356" sldId="259"/>
            <ac:spMk id="3" creationId="{1C4EFA41-EDF3-4D89-812E-85BCE7B8A73E}"/>
          </ac:spMkLst>
        </pc:spChg>
      </pc:sldChg>
      <pc:sldChg chg="modSp">
        <pc:chgData name="Ravi Sundaram" userId="a7df020c0a403423" providerId="LiveId" clId="{CFE95980-4778-4AC1-A66B-12544F328C0F}" dt="2020-07-13T05:06:39.688" v="76" actId="20577"/>
        <pc:sldMkLst>
          <pc:docMk/>
          <pc:sldMk cId="827947371" sldId="277"/>
        </pc:sldMkLst>
        <pc:spChg chg="mod">
          <ac:chgData name="Ravi Sundaram" userId="a7df020c0a403423" providerId="LiveId" clId="{CFE95980-4778-4AC1-A66B-12544F328C0F}" dt="2020-07-13T05:06:39.688" v="76" actId="20577"/>
          <ac:spMkLst>
            <pc:docMk/>
            <pc:sldMk cId="827947371" sldId="277"/>
            <ac:spMk id="3" creationId="{D1ABB30D-3C89-4BFC-AFAC-452865E270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07-Sep-20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2. COMPLEXITY </a:t>
            </a:r>
            <a:br>
              <a:rPr lang="en-US" sz="4000" dirty="0"/>
            </a:br>
            <a:r>
              <a:rPr lang="en-US" sz="4000" dirty="0"/>
              <a:t>(AND COMPUTABILITY &amp;</a:t>
            </a:r>
            <a:br>
              <a:rPr lang="en-US" sz="4000" dirty="0"/>
            </a:br>
            <a:r>
              <a:rPr lang="en-US" sz="4000" dirty="0"/>
              <a:t>CRYPTOGRAPHY)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Lesson 2: GCD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322567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GCD</a:t>
            </a:r>
          </a:p>
          <a:p>
            <a:r>
              <a:rPr lang="en-US" dirty="0"/>
              <a:t>Primes &amp; Composites </a:t>
            </a:r>
          </a:p>
          <a:p>
            <a:r>
              <a:rPr lang="en-US" dirty="0"/>
              <a:t>Fundamental Theorem of Arithmetic</a:t>
            </a:r>
          </a:p>
          <a:p>
            <a:r>
              <a:rPr lang="en-US" dirty="0"/>
              <a:t>Factoring</a:t>
            </a:r>
          </a:p>
          <a:p>
            <a:r>
              <a:rPr lang="en-US" dirty="0"/>
              <a:t>Euclid’s Algorithm</a:t>
            </a:r>
          </a:p>
          <a:p>
            <a:pPr lvl="1"/>
            <a:r>
              <a:rPr lang="en-US" dirty="0"/>
              <a:t>Correctness</a:t>
            </a:r>
          </a:p>
          <a:p>
            <a:pPr lvl="1"/>
            <a:r>
              <a:rPr lang="en-US" dirty="0"/>
              <a:t>Complexity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3216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C0EF-92F3-4DD3-9656-EC5DA238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EFA41-EDF3-4D89-812E-85BCE7B8A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GCD(A,B) = largest number D such that D is a divisor of A and D is a divisor of B</a:t>
            </a:r>
          </a:p>
          <a:p>
            <a:pPr lvl="1"/>
            <a:endParaRPr lang="en-US" dirty="0"/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GCD(12, 30) = 6</a:t>
            </a:r>
          </a:p>
          <a:p>
            <a:pPr lvl="1"/>
            <a:r>
              <a:rPr lang="en-US" dirty="0"/>
              <a:t>GCD(2257, 3337) = ?</a:t>
            </a:r>
          </a:p>
          <a:p>
            <a:endParaRPr lang="en-US" dirty="0"/>
          </a:p>
          <a:p>
            <a:r>
              <a:rPr lang="en-US" dirty="0"/>
              <a:t>Why do we care about GCD? </a:t>
            </a:r>
          </a:p>
          <a:p>
            <a:pPr lvl="1"/>
            <a:r>
              <a:rPr lang="en-US" dirty="0"/>
              <a:t>Basic operation in modular arithmetic</a:t>
            </a:r>
          </a:p>
          <a:p>
            <a:pPr lvl="1"/>
            <a:r>
              <a:rPr lang="en-US" dirty="0"/>
              <a:t>Crucial for cryptography</a:t>
            </a:r>
          </a:p>
        </p:txBody>
      </p:sp>
    </p:spTree>
    <p:extLst>
      <p:ext uri="{BB962C8B-B14F-4D97-AF65-F5344CB8AC3E}">
        <p14:creationId xmlns:p14="http://schemas.microsoft.com/office/powerpoint/2010/main" val="207065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D9F2-6C6A-4676-9660-283A960F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Primes &amp; Composites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0B34-6E29-4A7F-960A-918791A4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Prime – number that is divisible only by 1 and itself</a:t>
            </a:r>
          </a:p>
          <a:p>
            <a:pPr lvl="1"/>
            <a:r>
              <a:rPr lang="en-US" dirty="0"/>
              <a:t>2, 3, 5, 7, 11, 13, …</a:t>
            </a:r>
          </a:p>
          <a:p>
            <a:pPr lvl="1"/>
            <a:r>
              <a:rPr lang="en-US" dirty="0"/>
              <a:t>Composite – opposite of prime (1 is neither prime nor composite)</a:t>
            </a:r>
          </a:p>
          <a:p>
            <a:pPr lvl="1"/>
            <a:r>
              <a:rPr lang="en-US" dirty="0"/>
              <a:t>4, 6, 8, 9, 10, …</a:t>
            </a:r>
          </a:p>
          <a:p>
            <a:pPr lvl="1"/>
            <a:endParaRPr lang="en-US" dirty="0"/>
          </a:p>
          <a:p>
            <a:r>
              <a:rPr lang="en-US" dirty="0"/>
              <a:t>How many primes are there? </a:t>
            </a:r>
          </a:p>
          <a:p>
            <a:pPr lvl="1"/>
            <a:r>
              <a:rPr lang="en-US" dirty="0"/>
              <a:t>Infinite number</a:t>
            </a:r>
          </a:p>
          <a:p>
            <a:pPr lvl="1"/>
            <a:endParaRPr lang="en-US" dirty="0"/>
          </a:p>
          <a:p>
            <a:r>
              <a:rPr lang="en-US" dirty="0"/>
              <a:t>Why are primes special? </a:t>
            </a:r>
          </a:p>
          <a:p>
            <a:pPr lvl="1"/>
            <a:r>
              <a:rPr lang="en-US" dirty="0" err="1"/>
              <a:t>primes:numbers</a:t>
            </a:r>
            <a:r>
              <a:rPr lang="en-US" dirty="0"/>
              <a:t> :: </a:t>
            </a:r>
            <a:r>
              <a:rPr lang="en-US" dirty="0" err="1"/>
              <a:t>atoms:molecules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88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D9F2-6C6A-4676-9660-283A960F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Theorem of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10B34-6E29-4A7F-960A-918791A4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Fundamental theorem of arithmetic</a:t>
            </a:r>
          </a:p>
          <a:p>
            <a:pPr lvl="1"/>
            <a:r>
              <a:rPr lang="en-US" dirty="0"/>
              <a:t>Every number can be written uniquely as the product of primes</a:t>
            </a:r>
          </a:p>
          <a:p>
            <a:pPr lvl="1"/>
            <a:endParaRPr lang="en-US" dirty="0"/>
          </a:p>
          <a:p>
            <a:r>
              <a:rPr lang="en-US" dirty="0"/>
              <a:t>     12 = 2</a:t>
            </a:r>
            <a:r>
              <a:rPr lang="en-US" baseline="30000" dirty="0"/>
              <a:t>2 </a:t>
            </a:r>
            <a:r>
              <a:rPr lang="en-US" dirty="0"/>
              <a:t>x 3                    30 = 2 x 3 x 5                    GCD(12, 30) = 2 x 3</a:t>
            </a:r>
          </a:p>
          <a:p>
            <a:r>
              <a:rPr lang="en-US" dirty="0"/>
              <a:t>2257 = 37*61              3337 = 47*71               GCD(2257, 3337) = 1</a:t>
            </a:r>
          </a:p>
          <a:p>
            <a:endParaRPr lang="en-US" dirty="0"/>
          </a:p>
          <a:p>
            <a:r>
              <a:rPr lang="en-US" dirty="0"/>
              <a:t> A = p</a:t>
            </a:r>
            <a:r>
              <a:rPr lang="en-US" baseline="-25000" dirty="0"/>
              <a:t>1</a:t>
            </a:r>
            <a:r>
              <a:rPr lang="el-GR" baseline="30000" dirty="0"/>
              <a:t>α</a:t>
            </a:r>
            <a:r>
              <a:rPr lang="en-US" baseline="30000" dirty="0"/>
              <a:t>1</a:t>
            </a:r>
            <a:r>
              <a:rPr lang="en-US" dirty="0"/>
              <a:t> x  p</a:t>
            </a:r>
            <a:r>
              <a:rPr lang="en-US" baseline="-25000" dirty="0"/>
              <a:t>2</a:t>
            </a:r>
            <a:r>
              <a:rPr lang="el-GR" baseline="30000" dirty="0"/>
              <a:t>α</a:t>
            </a:r>
            <a:r>
              <a:rPr lang="en-US" baseline="30000" dirty="0"/>
              <a:t>2 </a:t>
            </a:r>
            <a:r>
              <a:rPr lang="en-US" dirty="0"/>
              <a:t>….,          B = p</a:t>
            </a:r>
            <a:r>
              <a:rPr lang="en-US" baseline="-25000" dirty="0"/>
              <a:t>1</a:t>
            </a:r>
            <a:r>
              <a:rPr lang="el-GR" baseline="30000" dirty="0"/>
              <a:t>β</a:t>
            </a:r>
            <a:r>
              <a:rPr lang="en-US" baseline="30000" dirty="0"/>
              <a:t>1</a:t>
            </a:r>
            <a:r>
              <a:rPr lang="en-US" dirty="0"/>
              <a:t> x p</a:t>
            </a:r>
            <a:r>
              <a:rPr lang="en-US" baseline="-25000" dirty="0"/>
              <a:t>2</a:t>
            </a:r>
            <a:r>
              <a:rPr lang="el-GR" baseline="30000" dirty="0"/>
              <a:t>β</a:t>
            </a:r>
            <a:r>
              <a:rPr lang="en-US" baseline="30000" dirty="0"/>
              <a:t>2</a:t>
            </a:r>
            <a:r>
              <a:rPr lang="en-US" dirty="0"/>
              <a:t>…</a:t>
            </a:r>
            <a:r>
              <a:rPr lang="en-US" baseline="30000" dirty="0"/>
              <a:t>   </a:t>
            </a:r>
          </a:p>
          <a:p>
            <a:r>
              <a:rPr lang="en-US" dirty="0"/>
              <a:t>GCD(A,B) = p</a:t>
            </a:r>
            <a:r>
              <a:rPr lang="en-US" baseline="-25000" dirty="0"/>
              <a:t>1</a:t>
            </a:r>
            <a:r>
              <a:rPr lang="en-US" baseline="30000" dirty="0"/>
              <a:t>min(</a:t>
            </a:r>
            <a:r>
              <a:rPr lang="el-GR" baseline="30000" dirty="0"/>
              <a:t>α</a:t>
            </a:r>
            <a:r>
              <a:rPr lang="en-US" baseline="30000" dirty="0"/>
              <a:t>1, </a:t>
            </a:r>
            <a:r>
              <a:rPr lang="el-GR" baseline="30000" dirty="0"/>
              <a:t>β</a:t>
            </a:r>
            <a:r>
              <a:rPr lang="en-US" baseline="30000" dirty="0"/>
              <a:t>1 )</a:t>
            </a:r>
            <a:r>
              <a:rPr lang="en-US" dirty="0"/>
              <a:t> x p</a:t>
            </a:r>
            <a:r>
              <a:rPr lang="en-US" baseline="-25000" dirty="0"/>
              <a:t>2</a:t>
            </a:r>
            <a:r>
              <a:rPr lang="en-US" baseline="30000" dirty="0"/>
              <a:t>min(</a:t>
            </a:r>
            <a:r>
              <a:rPr lang="el-GR" baseline="30000" dirty="0"/>
              <a:t>α</a:t>
            </a:r>
            <a:r>
              <a:rPr lang="en-US" baseline="30000" dirty="0"/>
              <a:t>2,</a:t>
            </a:r>
            <a:r>
              <a:rPr lang="el-GR" baseline="30000" dirty="0"/>
              <a:t> β</a:t>
            </a:r>
            <a:r>
              <a:rPr lang="en-US" baseline="30000" dirty="0"/>
              <a:t>2)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9549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4820-556B-47FD-BE15-6F0FFA78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F53DA-C7BF-4778-9EE4-7158DB036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Proposed Algorithm for computing GCD(A,B)</a:t>
            </a:r>
          </a:p>
          <a:p>
            <a:pPr lvl="1"/>
            <a:r>
              <a:rPr lang="en-US" dirty="0"/>
              <a:t>Factor A and B and use the formula</a:t>
            </a:r>
          </a:p>
          <a:p>
            <a:pPr lvl="1"/>
            <a:r>
              <a:rPr lang="en-US" dirty="0"/>
              <a:t>Begs the question: how do you factor A?</a:t>
            </a:r>
          </a:p>
          <a:p>
            <a:pPr lvl="1"/>
            <a:endParaRPr lang="en-US" dirty="0"/>
          </a:p>
          <a:p>
            <a:r>
              <a:rPr lang="en-US" dirty="0"/>
              <a:t>Proposed Algorithm to factor A</a:t>
            </a:r>
          </a:p>
          <a:p>
            <a:pPr lvl="1"/>
            <a:r>
              <a:rPr lang="en-US" dirty="0"/>
              <a:t>Try all prime numbers up to √A</a:t>
            </a:r>
          </a:p>
          <a:p>
            <a:pPr lvl="1"/>
            <a:r>
              <a:rPr lang="en-US" dirty="0"/>
              <a:t>What is wrong? </a:t>
            </a:r>
          </a:p>
          <a:p>
            <a:pPr lvl="1"/>
            <a:endParaRPr lang="en-US" dirty="0"/>
          </a:p>
          <a:p>
            <a:r>
              <a:rPr lang="en-US" dirty="0"/>
              <a:t>A is exponential in lg A, the size of its representation! </a:t>
            </a:r>
          </a:p>
        </p:txBody>
      </p:sp>
    </p:spTree>
    <p:extLst>
      <p:ext uri="{BB962C8B-B14F-4D97-AF65-F5344CB8AC3E}">
        <p14:creationId xmlns:p14="http://schemas.microsoft.com/office/powerpoint/2010/main" val="427995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D6334-6AB5-4FA3-AA56-2F62A57C9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Complexity of Factoring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FF775-7E1D-439A-A39C-5D20628FB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49584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Does there exist a polynomial-time factoring algorithm?</a:t>
            </a:r>
          </a:p>
          <a:p>
            <a:r>
              <a:rPr lang="en-US" sz="3200" dirty="0"/>
              <a:t>Major open question. </a:t>
            </a:r>
          </a:p>
          <a:p>
            <a:endParaRPr lang="en-US" sz="3200" dirty="0"/>
          </a:p>
          <a:p>
            <a:r>
              <a:rPr lang="en-US" sz="3200" dirty="0"/>
              <a:t>Surprisingly, in a breakthrough 2002 result AKS (Agarwal, </a:t>
            </a:r>
            <a:r>
              <a:rPr lang="en-US" sz="3200" dirty="0" err="1"/>
              <a:t>Kayal</a:t>
            </a:r>
            <a:r>
              <a:rPr lang="en-US" sz="3200" dirty="0"/>
              <a:t>, Saxena) showed “Primes is in P” </a:t>
            </a:r>
          </a:p>
          <a:p>
            <a:r>
              <a:rPr lang="en-US" sz="3200" dirty="0"/>
              <a:t>In other words, we know of a polynomial-time algorithm to tell that a number has non-trivial factors, without being able to determine what they are ?!?! </a:t>
            </a:r>
          </a:p>
          <a:p>
            <a:endParaRPr lang="en-US" sz="3200" dirty="0"/>
          </a:p>
          <a:p>
            <a:r>
              <a:rPr lang="en-US" sz="3200" dirty="0"/>
              <a:t> </a:t>
            </a:r>
            <a:r>
              <a:rPr lang="en-US" sz="3200" dirty="0" err="1"/>
              <a:t>Kayal</a:t>
            </a:r>
            <a:r>
              <a:rPr lang="en-US" sz="3200" dirty="0"/>
              <a:t> and Saxena were undergraduates at the time!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397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DC89C-F0EE-475B-BA0E-EB36C470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 – Euclid’s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BB30D-3C89-4BFC-AFAC-452865E27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68019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Over 2 </a:t>
            </a:r>
            <a:r>
              <a:rPr lang="en-US" dirty="0" err="1"/>
              <a:t>millenia</a:t>
            </a:r>
            <a:r>
              <a:rPr lang="en-US" dirty="0"/>
              <a:t> ago the Greeks knew of a fast algorithm to compute GCD</a:t>
            </a:r>
          </a:p>
          <a:p>
            <a:endParaRPr lang="en-US" dirty="0"/>
          </a:p>
          <a:p>
            <a:r>
              <a:rPr lang="en-US" dirty="0"/>
              <a:t>Entire algorithm in one line! Let A ≥ B. </a:t>
            </a:r>
          </a:p>
          <a:p>
            <a:r>
              <a:rPr lang="en-US" dirty="0"/>
              <a:t>GCD(A,B) = GCD(B, A mod B)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What is A mod B?</a:t>
            </a:r>
          </a:p>
          <a:p>
            <a:pPr lvl="1"/>
            <a:r>
              <a:rPr lang="en-US" dirty="0"/>
              <a:t>Remainder when A is divided by B, i.e. r where A = </a:t>
            </a:r>
            <a:r>
              <a:rPr lang="en-US" dirty="0" err="1"/>
              <a:t>qB</a:t>
            </a:r>
            <a:r>
              <a:rPr lang="en-US" dirty="0"/>
              <a:t> + r, 0 ≤ r &lt; B</a:t>
            </a:r>
          </a:p>
          <a:p>
            <a:pPr lvl="1"/>
            <a:endParaRPr lang="en-US" dirty="0"/>
          </a:p>
          <a:p>
            <a:r>
              <a:rPr lang="en-US" dirty="0"/>
              <a:t>GCD(30, 12) = (12, 6) = (6, 0) = 6        {Note: by convention (A,B) = GCD(A,B)}</a:t>
            </a:r>
          </a:p>
          <a:p>
            <a:r>
              <a:rPr lang="en-US" dirty="0"/>
              <a:t>GCD(3337, 2257) = (2257, 1080) = (1080, 97) = (97, 13) = (13, 6) = (6, 1) = (1, 0)  = 1</a:t>
            </a:r>
          </a:p>
          <a:p>
            <a:endParaRPr lang="en-US" dirty="0"/>
          </a:p>
          <a:p>
            <a:r>
              <a:rPr lang="en-US" dirty="0"/>
              <a:t>Correctness &amp; Complexity</a:t>
            </a:r>
          </a:p>
        </p:txBody>
      </p:sp>
    </p:spTree>
    <p:extLst>
      <p:ext uri="{BB962C8B-B14F-4D97-AF65-F5344CB8AC3E}">
        <p14:creationId xmlns:p14="http://schemas.microsoft.com/office/powerpoint/2010/main" val="82794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7107-E6DF-4647-8D0E-3E6251F9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Euclid’s Algorithm - Correctness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34875-F5F7-472E-BA12-C1A5FC1D2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42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Theorem</a:t>
            </a:r>
            <a:r>
              <a:rPr lang="en-US" dirty="0"/>
              <a:t>: Euclid’s Algorithm computes the GCD.</a:t>
            </a:r>
          </a:p>
          <a:p>
            <a:pPr marL="0" indent="0">
              <a:buNone/>
            </a:pPr>
            <a:r>
              <a:rPr lang="en-US" u="sng" dirty="0"/>
              <a:t>Proof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Crux: if D divides A and B then D divides any linear combination Ax + By</a:t>
            </a:r>
          </a:p>
          <a:p>
            <a:pPr marL="0" indent="0">
              <a:buNone/>
            </a:pPr>
            <a:r>
              <a:rPr lang="en-US" dirty="0"/>
              <a:t>Observe that A mod B = r = A – </a:t>
            </a:r>
            <a:r>
              <a:rPr lang="en-US" dirty="0" err="1"/>
              <a:t>qB</a:t>
            </a:r>
            <a:r>
              <a:rPr lang="en-US" dirty="0"/>
              <a:t> so if D divides A and B then D also divides B and (A mod B)</a:t>
            </a:r>
          </a:p>
          <a:p>
            <a:pPr marL="0" indent="0">
              <a:buNone/>
            </a:pPr>
            <a:r>
              <a:rPr lang="en-US" dirty="0"/>
              <a:t>Also, A = </a:t>
            </a:r>
            <a:r>
              <a:rPr lang="en-US" dirty="0" err="1"/>
              <a:t>qB</a:t>
            </a:r>
            <a:r>
              <a:rPr lang="en-US" dirty="0"/>
              <a:t> + (A mod B) so if D divides B and A mod B then D also divides A and B</a:t>
            </a:r>
          </a:p>
          <a:p>
            <a:pPr marL="0" indent="0">
              <a:buNone/>
            </a:pPr>
            <a:r>
              <a:rPr lang="en-US" dirty="0"/>
              <a:t>Hence, GCD(A, B) = GCD(B, A mod B).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QED      </a:t>
            </a:r>
          </a:p>
        </p:txBody>
      </p:sp>
    </p:spTree>
    <p:extLst>
      <p:ext uri="{BB962C8B-B14F-4D97-AF65-F5344CB8AC3E}">
        <p14:creationId xmlns:p14="http://schemas.microsoft.com/office/powerpoint/2010/main" val="1122615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2D89-2D1B-4618-A976-B07B64CC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Euclid’s Algorithm -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5D08-BEF0-42E7-8A03-E97D08730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5718"/>
            <a:ext cx="11054475" cy="49662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 dirty="0"/>
              <a:t>Theorem</a:t>
            </a:r>
            <a:r>
              <a:rPr lang="en-US" dirty="0"/>
              <a:t>: Given n-bit numbers A, B GCD(A, B) is computable in O(n</a:t>
            </a:r>
            <a:r>
              <a:rPr lang="en-US" baseline="30000" dirty="0"/>
              <a:t>3</a:t>
            </a:r>
            <a:r>
              <a:rPr lang="en-US" dirty="0"/>
              <a:t>) time</a:t>
            </a:r>
          </a:p>
          <a:p>
            <a:pPr marL="0" indent="0">
              <a:buNone/>
            </a:pPr>
            <a:r>
              <a:rPr lang="en-US" u="sng" dirty="0"/>
              <a:t>Proof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Crux: after 2 steps the larger number is reduced by a factor 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GCD(A, B) = GCD(B, A mod B) = GCD(A mod B, B mod (A mod B))</a:t>
            </a:r>
          </a:p>
          <a:p>
            <a:pPr marL="0" indent="0">
              <a:buNone/>
            </a:pPr>
            <a:r>
              <a:rPr lang="en-US" dirty="0"/>
              <a:t>         Case 1. B &gt; A/2 then A mod B &lt; A/2</a:t>
            </a:r>
          </a:p>
          <a:p>
            <a:pPr marL="0" indent="0">
              <a:buNone/>
            </a:pPr>
            <a:r>
              <a:rPr lang="en-US" dirty="0"/>
              <a:t>         Case 2. B ≤ A/2 then A mod B &lt; A/2</a:t>
            </a:r>
          </a:p>
          <a:p>
            <a:pPr marL="0" indent="0">
              <a:buNone/>
            </a:pPr>
            <a:r>
              <a:rPr lang="en-US" dirty="0"/>
              <a:t>Either way the larger number is reduced by factor 2 after 2 steps so the algorithm terminates in 2lg</a:t>
            </a:r>
            <a:r>
              <a:rPr lang="en-US" baseline="-25000" dirty="0"/>
              <a:t> </a:t>
            </a:r>
            <a:r>
              <a:rPr lang="en-US" dirty="0"/>
              <a:t>A = O(n) steps. Taking the (naïve) complexity of mod (division) to be quadratic we get cubic complexity for Euclid.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     QED</a:t>
            </a:r>
          </a:p>
        </p:txBody>
      </p:sp>
    </p:spTree>
    <p:extLst>
      <p:ext uri="{BB962C8B-B14F-4D97-AF65-F5344CB8AC3E}">
        <p14:creationId xmlns:p14="http://schemas.microsoft.com/office/powerpoint/2010/main" val="50587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2D89-2D1B-4618-A976-B07B64CC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5D08-BEF0-42E7-8A03-E97D08730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GCD(A,B) is defined in terms of the prime factorization of A and B</a:t>
            </a:r>
          </a:p>
          <a:p>
            <a:r>
              <a:rPr lang="en-US" dirty="0"/>
              <a:t>But, we don’t know how to factor efficiently, i.e. in polynomial-time</a:t>
            </a:r>
          </a:p>
          <a:p>
            <a:r>
              <a:rPr lang="en-US" dirty="0"/>
              <a:t>With a bit of thought, we can bypass factoring entirely and compute GCD very quickly.</a:t>
            </a:r>
          </a:p>
          <a:p>
            <a:r>
              <a:rPr lang="en-US" dirty="0"/>
              <a:t>Main Takeaway: Problems that appear hard at first blush can often be solved with a bit of cleverness.</a:t>
            </a:r>
          </a:p>
        </p:txBody>
      </p:sp>
    </p:spTree>
    <p:extLst>
      <p:ext uri="{BB962C8B-B14F-4D97-AF65-F5344CB8AC3E}">
        <p14:creationId xmlns:p14="http://schemas.microsoft.com/office/powerpoint/2010/main" val="83609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897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Arial</vt:lpstr>
      <vt:lpstr>Calibri Light</vt:lpstr>
      <vt:lpstr>Office Theme</vt:lpstr>
      <vt:lpstr>Office Theme</vt:lpstr>
      <vt:lpstr>CS5800 – ALGORITHMS  MODULE 2. COMPLEXITY  (AND COMPUTABILITY &amp; CRYPTOGRAPHY)   Lesson 2: GCD </vt:lpstr>
      <vt:lpstr>Topics</vt:lpstr>
      <vt:lpstr>GCD</vt:lpstr>
      <vt:lpstr>Primes &amp; Composites</vt:lpstr>
      <vt:lpstr>Fundamental Theorem of Arithmetic</vt:lpstr>
      <vt:lpstr>GCD</vt:lpstr>
      <vt:lpstr>Complexity of Factoring</vt:lpstr>
      <vt:lpstr>GCD – Euclid’s Algorithm</vt:lpstr>
      <vt:lpstr>Euclid’s Algorithm - Correctness</vt:lpstr>
      <vt:lpstr>Euclid’s Algorithm - Complexity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David Dietz</cp:lastModifiedBy>
  <cp:revision>13</cp:revision>
  <dcterms:created xsi:type="dcterms:W3CDTF">2019-09-13T03:48:54Z</dcterms:created>
  <dcterms:modified xsi:type="dcterms:W3CDTF">2020-09-07T15:44:29Z</dcterms:modified>
</cp:coreProperties>
</file>