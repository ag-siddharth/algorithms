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6"/>
  </p:notesMasterIdLst>
  <p:sldIdLst>
    <p:sldId id="257" r:id="rId3"/>
    <p:sldId id="258" r:id="rId4"/>
    <p:sldId id="458" r:id="rId5"/>
    <p:sldId id="527" r:id="rId6"/>
    <p:sldId id="526" r:id="rId7"/>
    <p:sldId id="461" r:id="rId8"/>
    <p:sldId id="524" r:id="rId9"/>
    <p:sldId id="464" r:id="rId10"/>
    <p:sldId id="528" r:id="rId11"/>
    <p:sldId id="498" r:id="rId12"/>
    <p:sldId id="490" r:id="rId13"/>
    <p:sldId id="488" r:id="rId14"/>
    <p:sldId id="346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CE523-9DEF-4D61-AA09-BE5305591A54}" v="5" dt="2022-10-09T15:25:40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5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59D318B9-F296-451C-9E4B-02AC07F8A5FF}"/>
    <pc:docChg chg="modSld">
      <pc:chgData name="Ravi Sundaram" userId="a7df020c0a403423" providerId="LiveId" clId="{59D318B9-F296-451C-9E4B-02AC07F8A5FF}" dt="2021-03-25T02:43:30.427" v="1" actId="33524"/>
      <pc:docMkLst>
        <pc:docMk/>
      </pc:docMkLst>
      <pc:sldChg chg="modSp">
        <pc:chgData name="Ravi Sundaram" userId="a7df020c0a403423" providerId="LiveId" clId="{59D318B9-F296-451C-9E4B-02AC07F8A5FF}" dt="2021-03-25T02:43:30.427" v="1" actId="33524"/>
        <pc:sldMkLst>
          <pc:docMk/>
          <pc:sldMk cId="0" sldId="458"/>
        </pc:sldMkLst>
        <pc:spChg chg="mod">
          <ac:chgData name="Ravi Sundaram" userId="a7df020c0a403423" providerId="LiveId" clId="{59D318B9-F296-451C-9E4B-02AC07F8A5FF}" dt="2021-03-25T02:43:30.427" v="1" actId="33524"/>
          <ac:spMkLst>
            <pc:docMk/>
            <pc:sldMk cId="0" sldId="458"/>
            <ac:spMk id="7" creationId="{2BF0E412-52E7-4F04-AC0F-69C45A1AAE88}"/>
          </ac:spMkLst>
        </pc:spChg>
      </pc:sldChg>
      <pc:sldChg chg="modSp">
        <pc:chgData name="Ravi Sundaram" userId="a7df020c0a403423" providerId="LiveId" clId="{59D318B9-F296-451C-9E4B-02AC07F8A5FF}" dt="2021-03-25T02:43:23.928" v="0" actId="33524"/>
        <pc:sldMkLst>
          <pc:docMk/>
          <pc:sldMk cId="2473731435" sldId="527"/>
        </pc:sldMkLst>
        <pc:spChg chg="mod">
          <ac:chgData name="Ravi Sundaram" userId="a7df020c0a403423" providerId="LiveId" clId="{59D318B9-F296-451C-9E4B-02AC07F8A5FF}" dt="2021-03-25T02:43:23.928" v="0" actId="33524"/>
          <ac:spMkLst>
            <pc:docMk/>
            <pc:sldMk cId="2473731435" sldId="527"/>
            <ac:spMk id="684035" creationId="{F5384F16-6088-43D7-857E-FFF2BC33FEAC}"/>
          </ac:spMkLst>
        </pc:spChg>
      </pc:sldChg>
    </pc:docChg>
  </pc:docChgLst>
  <pc:docChgLst>
    <pc:chgData name="Ravi Sundaram" userId="a7df020c0a403423" providerId="LiveId" clId="{E330F79F-0AD7-498D-836C-AE45518D7EC9}"/>
    <pc:docChg chg="modSld">
      <pc:chgData name="Ravi Sundaram" userId="a7df020c0a403423" providerId="LiveId" clId="{E330F79F-0AD7-498D-836C-AE45518D7EC9}" dt="2020-09-13T22:33:15.774" v="4" actId="20577"/>
      <pc:docMkLst>
        <pc:docMk/>
      </pc:docMkLst>
      <pc:sldChg chg="modSp">
        <pc:chgData name="Ravi Sundaram" userId="a7df020c0a403423" providerId="LiveId" clId="{E330F79F-0AD7-498D-836C-AE45518D7EC9}" dt="2020-09-13T22:33:15.774" v="4" actId="20577"/>
        <pc:sldMkLst>
          <pc:docMk/>
          <pc:sldMk cId="0" sldId="458"/>
        </pc:sldMkLst>
        <pc:spChg chg="mod">
          <ac:chgData name="Ravi Sundaram" userId="a7df020c0a403423" providerId="LiveId" clId="{E330F79F-0AD7-498D-836C-AE45518D7EC9}" dt="2020-09-13T22:33:15.774" v="4" actId="20577"/>
          <ac:spMkLst>
            <pc:docMk/>
            <pc:sldMk cId="0" sldId="458"/>
            <ac:spMk id="684080" creationId="{1582F4AF-4211-4FCD-A407-ED2628931147}"/>
          </ac:spMkLst>
        </pc:spChg>
      </pc:sldChg>
    </pc:docChg>
  </pc:docChgLst>
  <pc:docChgLst>
    <pc:chgData name="Ravi Sundaram" userId="a7df020c0a403423" providerId="LiveId" clId="{26ACE523-9DEF-4D61-AA09-BE5305591A54}"/>
    <pc:docChg chg="modSld">
      <pc:chgData name="Ravi Sundaram" userId="a7df020c0a403423" providerId="LiveId" clId="{26ACE523-9DEF-4D61-AA09-BE5305591A54}" dt="2022-10-09T15:25:52.069" v="23" actId="207"/>
      <pc:docMkLst>
        <pc:docMk/>
      </pc:docMkLst>
      <pc:sldChg chg="addSp modSp mod setBg">
        <pc:chgData name="Ravi Sundaram" userId="a7df020c0a403423" providerId="LiveId" clId="{26ACE523-9DEF-4D61-AA09-BE5305591A54}" dt="2022-10-09T15:25:52.069" v="23" actId="207"/>
        <pc:sldMkLst>
          <pc:docMk/>
          <pc:sldMk cId="476748193" sldId="490"/>
        </pc:sldMkLst>
        <pc:spChg chg="add mod">
          <ac:chgData name="Ravi Sundaram" userId="a7df020c0a403423" providerId="LiveId" clId="{26ACE523-9DEF-4D61-AA09-BE5305591A54}" dt="2022-10-09T15:25:52.069" v="23" actId="207"/>
          <ac:spMkLst>
            <pc:docMk/>
            <pc:sldMk cId="476748193" sldId="490"/>
            <ac:spMk id="3" creationId="{4CD52045-3864-40E8-972A-68EB4CFEB47C}"/>
          </ac:spMkLst>
        </pc:spChg>
        <pc:spChg chg="mod">
          <ac:chgData name="Ravi Sundaram" userId="a7df020c0a403423" providerId="LiveId" clId="{26ACE523-9DEF-4D61-AA09-BE5305591A54}" dt="2022-10-09T15:22:18.524" v="1" actId="1076"/>
          <ac:spMkLst>
            <pc:docMk/>
            <pc:sldMk cId="476748193" sldId="490"/>
            <ac:spMk id="738308" creationId="{E8B568F8-CE05-45DA-A923-8CF39B590A57}"/>
          </ac:spMkLst>
        </pc:spChg>
        <pc:spChg chg="mod">
          <ac:chgData name="Ravi Sundaram" userId="a7df020c0a403423" providerId="LiveId" clId="{26ACE523-9DEF-4D61-AA09-BE5305591A54}" dt="2022-10-09T15:22:18.524" v="1" actId="1076"/>
          <ac:spMkLst>
            <pc:docMk/>
            <pc:sldMk cId="476748193" sldId="490"/>
            <ac:spMk id="738336" creationId="{DC360423-AAF3-4A08-95B1-6361E8F9A289}"/>
          </ac:spMkLst>
        </pc:spChg>
        <pc:spChg chg="mod">
          <ac:chgData name="Ravi Sundaram" userId="a7df020c0a403423" providerId="LiveId" clId="{26ACE523-9DEF-4D61-AA09-BE5305591A54}" dt="2022-10-09T15:22:18.524" v="1" actId="1076"/>
          <ac:spMkLst>
            <pc:docMk/>
            <pc:sldMk cId="476748193" sldId="490"/>
            <ac:spMk id="738337" creationId="{472BA596-CD46-4899-BAE3-3C809662164C}"/>
          </ac:spMkLst>
        </pc:spChg>
        <pc:grpChg chg="mod">
          <ac:chgData name="Ravi Sundaram" userId="a7df020c0a403423" providerId="LiveId" clId="{26ACE523-9DEF-4D61-AA09-BE5305591A54}" dt="2022-10-09T15:22:18.524" v="1" actId="1076"/>
          <ac:grpSpMkLst>
            <pc:docMk/>
            <pc:sldMk cId="476748193" sldId="490"/>
            <ac:grpSpMk id="2" creationId="{136DF321-CC81-45A5-BB94-43542E883A58}"/>
          </ac:grpSpMkLst>
        </pc:grpChg>
      </pc:sldChg>
      <pc:sldChg chg="modSp">
        <pc:chgData name="Ravi Sundaram" userId="a7df020c0a403423" providerId="LiveId" clId="{26ACE523-9DEF-4D61-AA09-BE5305591A54}" dt="2022-10-09T15:21:23.161" v="0" actId="33524"/>
        <pc:sldMkLst>
          <pc:docMk/>
          <pc:sldMk cId="1939566013" sldId="526"/>
        </pc:sldMkLst>
        <pc:spChg chg="mod">
          <ac:chgData name="Ravi Sundaram" userId="a7df020c0a403423" providerId="LiveId" clId="{26ACE523-9DEF-4D61-AA09-BE5305591A54}" dt="2022-10-09T15:21:23.161" v="0" actId="33524"/>
          <ac:spMkLst>
            <pc:docMk/>
            <pc:sldMk cId="1939566013" sldId="526"/>
            <ac:spMk id="3" creationId="{03364FEF-F44A-4071-922A-E51980E95F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>
            <a:extLst>
              <a:ext uri="{FF2B5EF4-FFF2-40B4-BE49-F238E27FC236}">
                <a16:creationId xmlns:a16="http://schemas.microsoft.com/office/drawing/2014/main" id="{57669F7F-C6EC-43DE-91CF-CD4C30B100D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7D80FB54-4530-4E2D-BFC5-A47B8BB75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8" tIns="45715" rIns="91428" bIns="45715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>
            <a:extLst>
              <a:ext uri="{FF2B5EF4-FFF2-40B4-BE49-F238E27FC236}">
                <a16:creationId xmlns:a16="http://schemas.microsoft.com/office/drawing/2014/main" id="{57669F7F-C6EC-43DE-91CF-CD4C30B100D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5059" name="Rectangle 3">
            <a:extLst>
              <a:ext uri="{FF2B5EF4-FFF2-40B4-BE49-F238E27FC236}">
                <a16:creationId xmlns:a16="http://schemas.microsoft.com/office/drawing/2014/main" id="{7D80FB54-4530-4E2D-BFC5-A47B8BB75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1428" tIns="45715" rIns="91428" bIns="45715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1351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9564B2CF-A74C-4BDC-80E5-550772A5CC5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8E8F0111-AE7A-4B57-A885-857E3EF7F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6663" y="3332163"/>
            <a:ext cx="6796087" cy="31607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8048" tIns="44024" rIns="88048" bIns="4402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6" name="Rectangle 2">
            <a:extLst>
              <a:ext uri="{FF2B5EF4-FFF2-40B4-BE49-F238E27FC236}">
                <a16:creationId xmlns:a16="http://schemas.microsoft.com/office/drawing/2014/main" id="{72DB3154-0826-40ED-AB4F-6FF1D2A1331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830467" name="Rectangle 3">
            <a:extLst>
              <a:ext uri="{FF2B5EF4-FFF2-40B4-BE49-F238E27FC236}">
                <a16:creationId xmlns:a16="http://schemas.microsoft.com/office/drawing/2014/main" id="{8F75DCD7-CE98-4958-8EF2-771D1F795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>
            <a:extLst>
              <a:ext uri="{FF2B5EF4-FFF2-40B4-BE49-F238E27FC236}">
                <a16:creationId xmlns:a16="http://schemas.microsoft.com/office/drawing/2014/main" id="{C25D7916-C882-473E-9923-7E324DF337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783363" name="Rectangle 3">
            <a:extLst>
              <a:ext uri="{FF2B5EF4-FFF2-40B4-BE49-F238E27FC236}">
                <a16:creationId xmlns:a16="http://schemas.microsoft.com/office/drawing/2014/main" id="{A5761F6B-E6D7-488A-96A9-6AD426F83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>
            <a:extLst>
              <a:ext uri="{FF2B5EF4-FFF2-40B4-BE49-F238E27FC236}">
                <a16:creationId xmlns:a16="http://schemas.microsoft.com/office/drawing/2014/main" id="{C25D7916-C882-473E-9923-7E324DF3377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783363" name="Rectangle 3">
            <a:extLst>
              <a:ext uri="{FF2B5EF4-FFF2-40B4-BE49-F238E27FC236}">
                <a16:creationId xmlns:a16="http://schemas.microsoft.com/office/drawing/2014/main" id="{A5761F6B-E6D7-488A-96A9-6AD426F83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8171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2">
            <a:extLst>
              <a:ext uri="{FF2B5EF4-FFF2-40B4-BE49-F238E27FC236}">
                <a16:creationId xmlns:a16="http://schemas.microsoft.com/office/drawing/2014/main" id="{8AF0245E-70BB-448D-9833-481DE36ADA2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ln/>
        </p:spPr>
      </p:sp>
      <p:sp>
        <p:nvSpPr>
          <p:cNvPr id="785411" name="Rectangle 3">
            <a:extLst>
              <a:ext uri="{FF2B5EF4-FFF2-40B4-BE49-F238E27FC236}">
                <a16:creationId xmlns:a16="http://schemas.microsoft.com/office/drawing/2014/main" id="{66C629FE-3B99-4EE2-811D-E89FA4D66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B9FFEEA1-EDD9-4F2D-ACF3-BDB40FBBB40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8700" y="527050"/>
            <a:ext cx="4675188" cy="26304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A3BD5657-225D-4CEE-8B79-70F6D4C34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8048" tIns="44024" rIns="88048" bIns="4402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177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>
            <a:extLst>
              <a:ext uri="{FF2B5EF4-FFF2-40B4-BE49-F238E27FC236}">
                <a16:creationId xmlns:a16="http://schemas.microsoft.com/office/drawing/2014/main" id="{0BB41865-B080-48E9-8E60-78B949AA382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8700" y="527050"/>
            <a:ext cx="4675188" cy="26304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0115" name="Rectangle 3">
            <a:extLst>
              <a:ext uri="{FF2B5EF4-FFF2-40B4-BE49-F238E27FC236}">
                <a16:creationId xmlns:a16="http://schemas.microsoft.com/office/drawing/2014/main" id="{115B8BCA-72D2-4030-B400-C78300D9C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8048" tIns="44024" rIns="88048" bIns="4402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843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/>
              <a:t>MODULE 5. </a:t>
            </a:r>
            <a:r>
              <a:rPr lang="en-US" sz="4000" dirty="0"/>
              <a:t>DATA STRUCTURES &amp; GRAPHS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1: Adjacency Matrices &amp;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Review of basic graph terminology</a:t>
            </a:r>
          </a:p>
          <a:p>
            <a:r>
              <a:rPr lang="en-US" dirty="0"/>
              <a:t>Recap of </a:t>
            </a:r>
            <a:r>
              <a:rPr lang="en-US"/>
              <a:t>graph representations</a:t>
            </a:r>
            <a:endParaRPr lang="en-US" dirty="0"/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>
            <a:extLst>
              <a:ext uri="{FF2B5EF4-FFF2-40B4-BE49-F238E27FC236}">
                <a16:creationId xmlns:a16="http://schemas.microsoft.com/office/drawing/2014/main" id="{1FDA40C1-67B7-478B-9029-0D62CF7B1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Undirected &amp; Directed Graphs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F5384F16-6088-43D7-857E-FFF2BC33F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8564" y="1487375"/>
            <a:ext cx="7166906" cy="5174756"/>
          </a:xfrm>
        </p:spPr>
        <p:txBody>
          <a:bodyPr/>
          <a:lstStyle/>
          <a:p>
            <a:pPr defTabSz="300038"/>
            <a:r>
              <a:rPr lang="en-US" altLang="en-US" dirty="0"/>
              <a:t>Undirected graph.  </a:t>
            </a:r>
            <a:r>
              <a:rPr lang="en-US" altLang="en-US" dirty="0">
                <a:solidFill>
                  <a:schemeClr val="tx1"/>
                </a:solidFill>
              </a:rPr>
              <a:t>G = (V, E)</a:t>
            </a:r>
          </a:p>
          <a:p>
            <a:pPr lvl="1" defTabSz="300038"/>
            <a:r>
              <a:rPr lang="en-US" altLang="en-US" dirty="0"/>
              <a:t>V = nodes.</a:t>
            </a:r>
          </a:p>
          <a:p>
            <a:pPr lvl="1" defTabSz="300038"/>
            <a:r>
              <a:rPr lang="en-US" altLang="en-US" dirty="0"/>
              <a:t>E = edges between unordered pairs of nodes.</a:t>
            </a:r>
          </a:p>
          <a:p>
            <a:pPr lvl="1" defTabSz="300038"/>
            <a:r>
              <a:rPr lang="en-US" altLang="en-US" dirty="0"/>
              <a:t>Captures pairwise relationship between objects.</a:t>
            </a:r>
          </a:p>
          <a:p>
            <a:pPr lvl="1" defTabSz="300038"/>
            <a:r>
              <a:rPr lang="en-US" altLang="en-US" dirty="0"/>
              <a:t>Graph size parameters:  n = |V|, m = |E|.</a:t>
            </a:r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lvl="1" defTabSz="300038"/>
            <a:endParaRPr lang="en-US" altLang="en-US" dirty="0"/>
          </a:p>
          <a:p>
            <a:pPr defTabSz="300038"/>
            <a:endParaRPr lang="en-US" altLang="en-US" dirty="0"/>
          </a:p>
        </p:txBody>
      </p:sp>
      <p:pic>
        <p:nvPicPr>
          <p:cNvPr id="684079" name="Picture 47">
            <a:extLst>
              <a:ext uri="{FF2B5EF4-FFF2-40B4-BE49-F238E27FC236}">
                <a16:creationId xmlns:a16="http://schemas.microsoft.com/office/drawing/2014/main" id="{55FEFB26-6E31-4D60-8209-D0E756720718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749177" y="3580023"/>
            <a:ext cx="2438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4080" name="Rectangle 48">
            <a:extLst>
              <a:ext uri="{FF2B5EF4-FFF2-40B4-BE49-F238E27FC236}">
                <a16:creationId xmlns:a16="http://schemas.microsoft.com/office/drawing/2014/main" id="{1582F4AF-4211-4FCD-A407-ED2628931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660" y="3774135"/>
            <a:ext cx="4661533" cy="139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V = { 1, 2, 3, 4, 5, 6, 7, 8 }</a:t>
            </a:r>
          </a:p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E = { 1-2, 1-3, 2-3, 2-4, 2-5, 3-5, 3-7, 3-8, 4-5, 5-6, 7-8 }</a:t>
            </a:r>
            <a:br>
              <a:rPr lang="en-US" altLang="en-US" sz="1600" dirty="0"/>
            </a:br>
            <a:r>
              <a:rPr lang="en-US" altLang="en-US" sz="1600" dirty="0"/>
              <a:t>n = 8</a:t>
            </a:r>
          </a:p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m = 11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BF0E412-52E7-4F04-AC0F-69C45A1AAE88}"/>
              </a:ext>
            </a:extLst>
          </p:cNvPr>
          <p:cNvSpPr txBox="1">
            <a:spLocks noChangeArrowheads="1"/>
          </p:cNvSpPr>
          <p:nvPr/>
        </p:nvSpPr>
        <p:spPr>
          <a:xfrm>
            <a:off x="7945833" y="1487375"/>
            <a:ext cx="3962357" cy="1636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00038"/>
            <a:r>
              <a:rPr lang="en-US" altLang="en-US" dirty="0"/>
              <a:t>Directed graph. </a:t>
            </a:r>
          </a:p>
          <a:p>
            <a:pPr lvl="1" defTabSz="300038"/>
            <a:r>
              <a:rPr lang="en-US" altLang="en-US" dirty="0"/>
              <a:t>E = arcs or directed edges, i.e., ordered pairs of nodes.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D368FD4-2DE6-44CE-AB54-EEA74F0836EC}"/>
              </a:ext>
            </a:extLst>
          </p:cNvPr>
          <p:cNvGrpSpPr/>
          <p:nvPr/>
        </p:nvGrpSpPr>
        <p:grpSpPr>
          <a:xfrm>
            <a:off x="7958971" y="3059668"/>
            <a:ext cx="1968040" cy="1353166"/>
            <a:chOff x="7958971" y="3059668"/>
            <a:chExt cx="1968040" cy="135316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063185A-9DF7-42BA-AF64-CE55FF854D0D}"/>
                </a:ext>
              </a:extLst>
            </p:cNvPr>
            <p:cNvSpPr/>
            <p:nvPr/>
          </p:nvSpPr>
          <p:spPr>
            <a:xfrm>
              <a:off x="7958971" y="3659786"/>
              <a:ext cx="337153" cy="3498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180442-AB05-458F-A7C5-D47C47644727}"/>
                </a:ext>
              </a:extLst>
            </p:cNvPr>
            <p:cNvSpPr txBox="1"/>
            <p:nvPr/>
          </p:nvSpPr>
          <p:spPr>
            <a:xfrm>
              <a:off x="7972716" y="3622411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646B29A-5190-4453-BDA9-5EA78721346B}"/>
                </a:ext>
              </a:extLst>
            </p:cNvPr>
            <p:cNvGrpSpPr/>
            <p:nvPr/>
          </p:nvGrpSpPr>
          <p:grpSpPr>
            <a:xfrm>
              <a:off x="9573527" y="3565850"/>
              <a:ext cx="353484" cy="375376"/>
              <a:chOff x="8347363" y="3676625"/>
              <a:chExt cx="353484" cy="37537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169C219-4012-4B87-A073-1BB4B1CB55C2}"/>
                  </a:ext>
                </a:extLst>
              </p:cNvPr>
              <p:cNvSpPr/>
              <p:nvPr/>
            </p:nvSpPr>
            <p:spPr>
              <a:xfrm>
                <a:off x="8347363" y="3676625"/>
                <a:ext cx="337153" cy="3451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2F5268-CE2F-4C8E-96F4-38DA4C5EA5FC}"/>
                  </a:ext>
                </a:extLst>
              </p:cNvPr>
              <p:cNvSpPr txBox="1"/>
              <p:nvPr/>
            </p:nvSpPr>
            <p:spPr>
              <a:xfrm>
                <a:off x="8363694" y="3682669"/>
                <a:ext cx="3371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975D-06C3-44C5-97AD-BBAB12515A38}"/>
                </a:ext>
              </a:extLst>
            </p:cNvPr>
            <p:cNvSpPr/>
            <p:nvPr/>
          </p:nvSpPr>
          <p:spPr>
            <a:xfrm>
              <a:off x="8716929" y="4055600"/>
              <a:ext cx="337153" cy="3451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73C3D4-5543-4B63-846E-3A4895A57A40}"/>
                </a:ext>
              </a:extLst>
            </p:cNvPr>
            <p:cNvSpPr txBox="1"/>
            <p:nvPr/>
          </p:nvSpPr>
          <p:spPr>
            <a:xfrm>
              <a:off x="8716929" y="4043502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8A31EF-8E60-4361-B0DF-1DE88FE78F76}"/>
                </a:ext>
              </a:extLst>
            </p:cNvPr>
            <p:cNvSpPr/>
            <p:nvPr/>
          </p:nvSpPr>
          <p:spPr>
            <a:xfrm>
              <a:off x="8716929" y="3101662"/>
              <a:ext cx="337153" cy="3451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49B34A6-3BCB-4548-8BA0-DE30C34B3B1B}"/>
                </a:ext>
              </a:extLst>
            </p:cNvPr>
            <p:cNvSpPr txBox="1"/>
            <p:nvPr/>
          </p:nvSpPr>
          <p:spPr>
            <a:xfrm>
              <a:off x="8716930" y="3059668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F0FCB69-3AD2-4BC2-BD9B-1BF5B01FABD9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8141293" y="3176283"/>
              <a:ext cx="608350" cy="4461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B21BEBD-FE5A-4FAF-BC93-F9EB915E453F}"/>
                </a:ext>
              </a:extLst>
            </p:cNvPr>
            <p:cNvCxnSpPr>
              <a:cxnSpLocks/>
              <a:stCxn id="19" idx="2"/>
              <a:endCxn id="3" idx="3"/>
            </p:cNvCxnSpPr>
            <p:nvPr/>
          </p:nvCxnSpPr>
          <p:spPr>
            <a:xfrm flipH="1">
              <a:off x="8309869" y="3429000"/>
              <a:ext cx="575638" cy="3780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74C2B8B-95EF-459B-9A30-5813F6CD2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37583" y="3807077"/>
              <a:ext cx="575638" cy="3780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570E0BB-E398-4D1E-A060-D2477AFDED10}"/>
                </a:ext>
              </a:extLst>
            </p:cNvPr>
            <p:cNvCxnSpPr>
              <a:cxnSpLocks/>
            </p:cNvCxnSpPr>
            <p:nvPr/>
          </p:nvCxnSpPr>
          <p:spPr>
            <a:xfrm>
              <a:off x="9023838" y="3399347"/>
              <a:ext cx="589383" cy="2186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48">
            <a:extLst>
              <a:ext uri="{FF2B5EF4-FFF2-40B4-BE49-F238E27FC236}">
                <a16:creationId xmlns:a16="http://schemas.microsoft.com/office/drawing/2014/main" id="{FA8C6F05-B07F-45A7-AF50-C76B1A364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918" y="3014535"/>
            <a:ext cx="1970091" cy="139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V = { 1, 2, 3, 4 }</a:t>
            </a:r>
          </a:p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E = { 1-2, 2-1, 2-4, 4-3</a:t>
            </a:r>
            <a:br>
              <a:rPr lang="en-US" altLang="en-US" sz="1600" dirty="0"/>
            </a:br>
            <a:r>
              <a:rPr lang="en-US" altLang="en-US" sz="1600" dirty="0"/>
              <a:t>n = 4</a:t>
            </a:r>
          </a:p>
          <a:p>
            <a:pPr>
              <a:lnSpc>
                <a:spcPts val="2600"/>
              </a:lnSpc>
              <a:buClr>
                <a:srgbClr val="003399"/>
              </a:buClr>
              <a:buSzPct val="50000"/>
            </a:pPr>
            <a:r>
              <a:rPr lang="en-US" altLang="en-US" sz="1600" dirty="0"/>
              <a:t>m =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>
            <a:extLst>
              <a:ext uri="{FF2B5EF4-FFF2-40B4-BE49-F238E27FC236}">
                <a16:creationId xmlns:a16="http://schemas.microsoft.com/office/drawing/2014/main" id="{1FDA40C1-67B7-478B-9029-0D62CF7B1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Graphs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F5384F16-6088-43D7-857E-FFF2BC33F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809" y="1387650"/>
            <a:ext cx="9137073" cy="5174756"/>
          </a:xfrm>
        </p:spPr>
        <p:txBody>
          <a:bodyPr>
            <a:normAutofit/>
          </a:bodyPr>
          <a:lstStyle/>
          <a:p>
            <a:r>
              <a:rPr lang="en-US" sz="3200" dirty="0"/>
              <a:t>In an </a:t>
            </a:r>
            <a:r>
              <a:rPr lang="en-US" sz="3200" i="1" dirty="0"/>
              <a:t>undirected </a:t>
            </a:r>
            <a:r>
              <a:rPr lang="en-US" sz="3200" dirty="0"/>
              <a:t>graph, the edges are two-element subsets of V: {u, v}. Draw edges with lines.</a:t>
            </a:r>
          </a:p>
          <a:p>
            <a:r>
              <a:rPr lang="en-US" sz="3200" dirty="0"/>
              <a:t>In a </a:t>
            </a:r>
            <a:r>
              <a:rPr lang="en-US" sz="3200" i="1" dirty="0"/>
              <a:t>directed </a:t>
            </a:r>
            <a:r>
              <a:rPr lang="en-US" sz="3200" dirty="0"/>
              <a:t>graph, the edges are ordered pairs of vertices (u, v). Draw edges with arrows.</a:t>
            </a:r>
          </a:p>
          <a:p>
            <a:r>
              <a:rPr lang="en-US" sz="3200" dirty="0"/>
              <a:t>You can generally assume no self-loops.</a:t>
            </a:r>
          </a:p>
          <a:p>
            <a:r>
              <a:rPr lang="en-US" sz="3200" dirty="0"/>
              <a:t>Usually, you don’t have multiple edges connecting the same two vertices — i.e., (u, v) is in the graph or not, but it isn’t there twice (E is a set). If a situation warrants multiedges then the graph is called a multigraph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7373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3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007927" cy="4486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Computer networks</a:t>
            </a:r>
          </a:p>
          <a:p>
            <a:pPr lvl="1"/>
            <a:r>
              <a:rPr lang="en-US" dirty="0"/>
              <a:t>Shortest paths graph algorithm used for routing packets</a:t>
            </a:r>
          </a:p>
          <a:p>
            <a:pPr lvl="1"/>
            <a:endParaRPr lang="en-US" dirty="0"/>
          </a:p>
          <a:p>
            <a:r>
              <a:rPr lang="en-US" dirty="0"/>
              <a:t>Pathfinding</a:t>
            </a:r>
          </a:p>
          <a:p>
            <a:pPr lvl="1"/>
            <a:r>
              <a:rPr lang="en-US" dirty="0"/>
              <a:t>In both video games and real-world applications, maps are represented as graphs</a:t>
            </a:r>
          </a:p>
          <a:p>
            <a:pPr lvl="1"/>
            <a:endParaRPr lang="en-US" dirty="0"/>
          </a:p>
          <a:p>
            <a:r>
              <a:rPr lang="en-US" dirty="0"/>
              <a:t>The World Wide Web</a:t>
            </a:r>
          </a:p>
          <a:p>
            <a:pPr lvl="1"/>
            <a:r>
              <a:rPr lang="en-US" dirty="0"/>
              <a:t>Search engines want to find and penalize “link farms” that all link to each other … a property of the link graph</a:t>
            </a:r>
          </a:p>
          <a:p>
            <a:pPr lvl="1"/>
            <a:endParaRPr lang="en-US" dirty="0"/>
          </a:p>
          <a:p>
            <a:r>
              <a:rPr lang="en-US" dirty="0"/>
              <a:t>Basically, any problem that involves reasoning about connections!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956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6819EB81-4261-41B5-85AF-404962948E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 Applications and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6F198C-B279-4CDE-BC88-59F28C6F208A}"/>
              </a:ext>
            </a:extLst>
          </p:cNvPr>
          <p:cNvGrpSpPr/>
          <p:nvPr/>
        </p:nvGrpSpPr>
        <p:grpSpPr>
          <a:xfrm>
            <a:off x="1281545" y="1690688"/>
            <a:ext cx="6248400" cy="3209924"/>
            <a:chOff x="3124200" y="1828801"/>
            <a:chExt cx="6248400" cy="3209924"/>
          </a:xfrm>
        </p:grpSpPr>
        <p:sp>
          <p:nvSpPr>
            <p:cNvPr id="690179" name="Rectangle 3">
              <a:extLst>
                <a:ext uri="{FF2B5EF4-FFF2-40B4-BE49-F238E27FC236}">
                  <a16:creationId xmlns:a16="http://schemas.microsoft.com/office/drawing/2014/main" id="{F5FADAC6-E38C-4BDA-A2B0-7670860E7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214563"/>
              <a:ext cx="1917700" cy="3540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 dirty="0"/>
                <a:t>transportation</a:t>
              </a:r>
              <a:endParaRPr lang="en-US" altLang="en-US" sz="1400" baseline="30000" dirty="0"/>
            </a:p>
          </p:txBody>
        </p:sp>
        <p:sp>
          <p:nvSpPr>
            <p:cNvPr id="690180" name="Rectangle 4">
              <a:extLst>
                <a:ext uri="{FF2B5EF4-FFF2-40B4-BE49-F238E27FC236}">
                  <a16:creationId xmlns:a16="http://schemas.microsoft.com/office/drawing/2014/main" id="{DB762503-BD6B-4865-89EA-81542DC15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1828801"/>
              <a:ext cx="1917700" cy="385763"/>
            </a:xfrm>
            <a:prstGeom prst="rect">
              <a:avLst/>
            </a:prstGeom>
            <a:solidFill>
              <a:srgbClr val="6666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600" i="1">
                  <a:solidFill>
                    <a:schemeClr val="bg1"/>
                  </a:solidFill>
                </a:rPr>
                <a:t>Graph</a:t>
              </a:r>
            </a:p>
          </p:txBody>
        </p:sp>
        <p:sp>
          <p:nvSpPr>
            <p:cNvPr id="690181" name="Rectangle 5">
              <a:extLst>
                <a:ext uri="{FF2B5EF4-FFF2-40B4-BE49-F238E27FC236}">
                  <a16:creationId xmlns:a16="http://schemas.microsoft.com/office/drawing/2014/main" id="{7ABDC4C8-A113-4199-8CF3-BBED2F83A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2214563"/>
              <a:ext cx="2117725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street intersections</a:t>
              </a:r>
            </a:p>
          </p:txBody>
        </p:sp>
        <p:sp>
          <p:nvSpPr>
            <p:cNvPr id="690182" name="Rectangle 6">
              <a:extLst>
                <a:ext uri="{FF2B5EF4-FFF2-40B4-BE49-F238E27FC236}">
                  <a16:creationId xmlns:a16="http://schemas.microsoft.com/office/drawing/2014/main" id="{B31D119B-6B7C-44DE-8151-A132FCE32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1828801"/>
              <a:ext cx="2117725" cy="385763"/>
            </a:xfrm>
            <a:prstGeom prst="rect">
              <a:avLst/>
            </a:prstGeom>
            <a:solidFill>
              <a:srgbClr val="6666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600" i="1">
                  <a:solidFill>
                    <a:schemeClr val="bg1"/>
                  </a:solidFill>
                </a:rPr>
                <a:t>Nodes</a:t>
              </a:r>
            </a:p>
          </p:txBody>
        </p:sp>
        <p:sp>
          <p:nvSpPr>
            <p:cNvPr id="690183" name="Rectangle 7">
              <a:extLst>
                <a:ext uri="{FF2B5EF4-FFF2-40B4-BE49-F238E27FC236}">
                  <a16:creationId xmlns:a16="http://schemas.microsoft.com/office/drawing/2014/main" id="{40C842C7-748F-442B-9FD8-F7592EC0D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1828801"/>
              <a:ext cx="2216150" cy="385763"/>
            </a:xfrm>
            <a:prstGeom prst="rect">
              <a:avLst/>
            </a:prstGeom>
            <a:solidFill>
              <a:srgbClr val="666666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600" i="1">
                  <a:solidFill>
                    <a:schemeClr val="bg1"/>
                  </a:solidFill>
                </a:rPr>
                <a:t>Edges</a:t>
              </a:r>
            </a:p>
          </p:txBody>
        </p:sp>
        <p:sp>
          <p:nvSpPr>
            <p:cNvPr id="690184" name="Rectangle 8">
              <a:extLst>
                <a:ext uri="{FF2B5EF4-FFF2-40B4-BE49-F238E27FC236}">
                  <a16:creationId xmlns:a16="http://schemas.microsoft.com/office/drawing/2014/main" id="{286EAEA9-289C-46D6-92BF-450B26797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2214563"/>
              <a:ext cx="2216150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highways</a:t>
              </a:r>
            </a:p>
          </p:txBody>
        </p:sp>
        <p:sp>
          <p:nvSpPr>
            <p:cNvPr id="690185" name="Rectangle 9">
              <a:extLst>
                <a:ext uri="{FF2B5EF4-FFF2-40B4-BE49-F238E27FC236}">
                  <a16:creationId xmlns:a16="http://schemas.microsoft.com/office/drawing/2014/main" id="{AD6FBC19-250C-48C3-AEFB-4F848B9F5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568576"/>
              <a:ext cx="1917700" cy="35401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 dirty="0"/>
                <a:t>communication</a:t>
              </a:r>
            </a:p>
          </p:txBody>
        </p:sp>
        <p:sp>
          <p:nvSpPr>
            <p:cNvPr id="690186" name="Rectangle 10">
              <a:extLst>
                <a:ext uri="{FF2B5EF4-FFF2-40B4-BE49-F238E27FC236}">
                  <a16:creationId xmlns:a16="http://schemas.microsoft.com/office/drawing/2014/main" id="{EE415C4D-29E4-4784-ABD5-885623128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2568576"/>
              <a:ext cx="2117725" cy="35401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computers</a:t>
              </a:r>
            </a:p>
          </p:txBody>
        </p:sp>
        <p:sp>
          <p:nvSpPr>
            <p:cNvPr id="690187" name="Rectangle 11">
              <a:extLst>
                <a:ext uri="{FF2B5EF4-FFF2-40B4-BE49-F238E27FC236}">
                  <a16:creationId xmlns:a16="http://schemas.microsoft.com/office/drawing/2014/main" id="{E862CA6E-82E4-4B1B-9C79-50AB58B8C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2568576"/>
              <a:ext cx="2216150" cy="35401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fiber optic cables</a:t>
              </a:r>
            </a:p>
          </p:txBody>
        </p:sp>
        <p:sp>
          <p:nvSpPr>
            <p:cNvPr id="690188" name="Rectangle 12">
              <a:extLst>
                <a:ext uri="{FF2B5EF4-FFF2-40B4-BE49-F238E27FC236}">
                  <a16:creationId xmlns:a16="http://schemas.microsoft.com/office/drawing/2014/main" id="{8BE45074-823C-47D7-93BD-318B48E31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922589"/>
              <a:ext cx="1917700" cy="352425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World Wide Web</a:t>
              </a:r>
            </a:p>
          </p:txBody>
        </p:sp>
        <p:sp>
          <p:nvSpPr>
            <p:cNvPr id="690189" name="Rectangle 13">
              <a:extLst>
                <a:ext uri="{FF2B5EF4-FFF2-40B4-BE49-F238E27FC236}">
                  <a16:creationId xmlns:a16="http://schemas.microsoft.com/office/drawing/2014/main" id="{4E453C2E-535C-41C0-9757-98F8D9E6A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2922589"/>
              <a:ext cx="2117725" cy="352425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web pages</a:t>
              </a:r>
            </a:p>
          </p:txBody>
        </p:sp>
        <p:sp>
          <p:nvSpPr>
            <p:cNvPr id="690190" name="Rectangle 14">
              <a:extLst>
                <a:ext uri="{FF2B5EF4-FFF2-40B4-BE49-F238E27FC236}">
                  <a16:creationId xmlns:a16="http://schemas.microsoft.com/office/drawing/2014/main" id="{F0F2E817-A871-4931-886E-3160BF7AF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2922589"/>
              <a:ext cx="2216150" cy="352425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hyperlinks</a:t>
              </a:r>
            </a:p>
          </p:txBody>
        </p:sp>
        <p:sp>
          <p:nvSpPr>
            <p:cNvPr id="690191" name="Rectangle 15">
              <a:extLst>
                <a:ext uri="{FF2B5EF4-FFF2-40B4-BE49-F238E27FC236}">
                  <a16:creationId xmlns:a16="http://schemas.microsoft.com/office/drawing/2014/main" id="{BE15D7CA-0ABC-4FEB-A1FD-A799F20DA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275013"/>
              <a:ext cx="1917700" cy="3540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social</a:t>
              </a:r>
            </a:p>
          </p:txBody>
        </p:sp>
        <p:sp>
          <p:nvSpPr>
            <p:cNvPr id="690192" name="Rectangle 16">
              <a:extLst>
                <a:ext uri="{FF2B5EF4-FFF2-40B4-BE49-F238E27FC236}">
                  <a16:creationId xmlns:a16="http://schemas.microsoft.com/office/drawing/2014/main" id="{D0477A6D-AC57-4BB8-A2CB-2E14AAA67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3275013"/>
              <a:ext cx="2117725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people</a:t>
              </a:r>
            </a:p>
          </p:txBody>
        </p:sp>
        <p:sp>
          <p:nvSpPr>
            <p:cNvPr id="690193" name="Rectangle 17">
              <a:extLst>
                <a:ext uri="{FF2B5EF4-FFF2-40B4-BE49-F238E27FC236}">
                  <a16:creationId xmlns:a16="http://schemas.microsoft.com/office/drawing/2014/main" id="{47F53EC1-C67D-4DF6-AF56-81333D59D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3275013"/>
              <a:ext cx="2216150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relationships</a:t>
              </a:r>
            </a:p>
          </p:txBody>
        </p:sp>
        <p:sp>
          <p:nvSpPr>
            <p:cNvPr id="690194" name="Rectangle 18">
              <a:extLst>
                <a:ext uri="{FF2B5EF4-FFF2-40B4-BE49-F238E27FC236}">
                  <a16:creationId xmlns:a16="http://schemas.microsoft.com/office/drawing/2014/main" id="{9345212F-5B08-41A2-BE7E-BB97358A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629026"/>
              <a:ext cx="1917700" cy="35401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food web</a:t>
              </a:r>
              <a:endParaRPr lang="en-US" altLang="en-US" sz="1400" baseline="30000"/>
            </a:p>
          </p:txBody>
        </p:sp>
        <p:sp>
          <p:nvSpPr>
            <p:cNvPr id="690195" name="Rectangle 19">
              <a:extLst>
                <a:ext uri="{FF2B5EF4-FFF2-40B4-BE49-F238E27FC236}">
                  <a16:creationId xmlns:a16="http://schemas.microsoft.com/office/drawing/2014/main" id="{E7EE5B0F-291E-4094-A790-4F65BD9E9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3629026"/>
              <a:ext cx="2117725" cy="35401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species</a:t>
              </a:r>
            </a:p>
          </p:txBody>
        </p:sp>
        <p:sp>
          <p:nvSpPr>
            <p:cNvPr id="690196" name="Rectangle 20">
              <a:extLst>
                <a:ext uri="{FF2B5EF4-FFF2-40B4-BE49-F238E27FC236}">
                  <a16:creationId xmlns:a16="http://schemas.microsoft.com/office/drawing/2014/main" id="{E465C260-B1A3-41C9-97A7-D3B82A6B0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3629026"/>
              <a:ext cx="2216150" cy="354013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predator-prey</a:t>
              </a:r>
            </a:p>
          </p:txBody>
        </p:sp>
        <p:sp>
          <p:nvSpPr>
            <p:cNvPr id="690197" name="Rectangle 21">
              <a:extLst>
                <a:ext uri="{FF2B5EF4-FFF2-40B4-BE49-F238E27FC236}">
                  <a16:creationId xmlns:a16="http://schemas.microsoft.com/office/drawing/2014/main" id="{B5AAF761-2F96-4D4D-B24A-EB2AA2906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983038"/>
              <a:ext cx="1917700" cy="3540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software systems</a:t>
              </a:r>
              <a:endParaRPr lang="en-US" altLang="en-US" sz="1400" baseline="30000"/>
            </a:p>
          </p:txBody>
        </p:sp>
        <p:sp>
          <p:nvSpPr>
            <p:cNvPr id="690198" name="Rectangle 22">
              <a:extLst>
                <a:ext uri="{FF2B5EF4-FFF2-40B4-BE49-F238E27FC236}">
                  <a16:creationId xmlns:a16="http://schemas.microsoft.com/office/drawing/2014/main" id="{4F645BB0-2B90-4BA5-A74C-785506672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3983038"/>
              <a:ext cx="2117725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functions</a:t>
              </a:r>
            </a:p>
          </p:txBody>
        </p:sp>
        <p:sp>
          <p:nvSpPr>
            <p:cNvPr id="690199" name="Rectangle 23">
              <a:extLst>
                <a:ext uri="{FF2B5EF4-FFF2-40B4-BE49-F238E27FC236}">
                  <a16:creationId xmlns:a16="http://schemas.microsoft.com/office/drawing/2014/main" id="{B90691C8-7F1C-4E66-94AA-AF58BD503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3983038"/>
              <a:ext cx="2216150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function calls</a:t>
              </a:r>
            </a:p>
          </p:txBody>
        </p:sp>
        <p:sp>
          <p:nvSpPr>
            <p:cNvPr id="690224" name="Rectangle 48">
              <a:extLst>
                <a:ext uri="{FF2B5EF4-FFF2-40B4-BE49-F238E27FC236}">
                  <a16:creationId xmlns:a16="http://schemas.microsoft.com/office/drawing/2014/main" id="{101C7FB5-C335-49AD-99F9-89DA4366F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335463"/>
              <a:ext cx="1917700" cy="3540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scheduling</a:t>
              </a:r>
              <a:endParaRPr lang="en-US" altLang="en-US" sz="1400" baseline="30000"/>
            </a:p>
          </p:txBody>
        </p:sp>
        <p:sp>
          <p:nvSpPr>
            <p:cNvPr id="690225" name="Rectangle 49">
              <a:extLst>
                <a:ext uri="{FF2B5EF4-FFF2-40B4-BE49-F238E27FC236}">
                  <a16:creationId xmlns:a16="http://schemas.microsoft.com/office/drawing/2014/main" id="{000A62BC-6424-4FE4-9B09-A140D5736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4335463"/>
              <a:ext cx="2117725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tasks</a:t>
              </a:r>
            </a:p>
          </p:txBody>
        </p:sp>
        <p:sp>
          <p:nvSpPr>
            <p:cNvPr id="690226" name="Rectangle 50">
              <a:extLst>
                <a:ext uri="{FF2B5EF4-FFF2-40B4-BE49-F238E27FC236}">
                  <a16:creationId xmlns:a16="http://schemas.microsoft.com/office/drawing/2014/main" id="{9CDA5354-4807-4E68-9D4E-C36FD41B0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4335463"/>
              <a:ext cx="2216150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precedence constraints</a:t>
              </a:r>
            </a:p>
          </p:txBody>
        </p:sp>
        <p:sp>
          <p:nvSpPr>
            <p:cNvPr id="690227" name="Rectangle 51">
              <a:extLst>
                <a:ext uri="{FF2B5EF4-FFF2-40B4-BE49-F238E27FC236}">
                  <a16:creationId xmlns:a16="http://schemas.microsoft.com/office/drawing/2014/main" id="{FABF0657-8AC0-4FA8-9D36-87DDCFA09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684713"/>
              <a:ext cx="1917700" cy="3540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circuits</a:t>
              </a:r>
              <a:endParaRPr lang="en-US" altLang="en-US" sz="1400" baseline="30000"/>
            </a:p>
          </p:txBody>
        </p:sp>
        <p:sp>
          <p:nvSpPr>
            <p:cNvPr id="690228" name="Rectangle 52">
              <a:extLst>
                <a:ext uri="{FF2B5EF4-FFF2-40B4-BE49-F238E27FC236}">
                  <a16:creationId xmlns:a16="http://schemas.microsoft.com/office/drawing/2014/main" id="{25F2E32A-1A01-4E39-8DD5-FACB3DE45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901" y="4684713"/>
              <a:ext cx="2117725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gates</a:t>
              </a:r>
            </a:p>
          </p:txBody>
        </p:sp>
        <p:sp>
          <p:nvSpPr>
            <p:cNvPr id="690229" name="Rectangle 53">
              <a:extLst>
                <a:ext uri="{FF2B5EF4-FFF2-40B4-BE49-F238E27FC236}">
                  <a16:creationId xmlns:a16="http://schemas.microsoft.com/office/drawing/2014/main" id="{FDD8A3A6-A840-4BE3-9DA6-EBBCD37C6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6450" y="4684713"/>
              <a:ext cx="2216150" cy="354012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r>
                <a:rPr lang="en-US" altLang="en-US" sz="1400">
                  <a:solidFill>
                    <a:schemeClr val="bg1"/>
                  </a:solidFill>
                </a:rPr>
                <a:t>wires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>
            <a:extLst>
              <a:ext uri="{FF2B5EF4-FFF2-40B4-BE49-F238E27FC236}">
                <a16:creationId xmlns:a16="http://schemas.microsoft.com/office/drawing/2014/main" id="{5F40CA11-A2E1-446C-9273-BF87F4B47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Ecological Food Web</a:t>
            </a:r>
          </a:p>
        </p:txBody>
      </p:sp>
      <p:sp>
        <p:nvSpPr>
          <p:cNvPr id="824323" name="Rectangle 3">
            <a:extLst>
              <a:ext uri="{FF2B5EF4-FFF2-40B4-BE49-F238E27FC236}">
                <a16:creationId xmlns:a16="http://schemas.microsoft.com/office/drawing/2014/main" id="{1014E9BC-3251-441C-A193-14EE28841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Food web graph.</a:t>
            </a:r>
          </a:p>
          <a:p>
            <a:pPr lvl="1"/>
            <a:r>
              <a:rPr lang="en-US" altLang="en-US" dirty="0"/>
              <a:t>Node = species. </a:t>
            </a:r>
          </a:p>
          <a:p>
            <a:pPr lvl="1"/>
            <a:r>
              <a:rPr lang="en-US" altLang="en-US" dirty="0"/>
              <a:t>Edge = from prey to</a:t>
            </a:r>
          </a:p>
          <a:p>
            <a:pPr marL="457200" lvl="1" indent="0">
              <a:buNone/>
            </a:pPr>
            <a:r>
              <a:rPr lang="en-US" altLang="en-US" dirty="0"/>
              <a:t>                 predator.</a:t>
            </a:r>
          </a:p>
        </p:txBody>
      </p:sp>
      <p:pic>
        <p:nvPicPr>
          <p:cNvPr id="824337" name="Picture 17">
            <a:extLst>
              <a:ext uri="{FF2B5EF4-FFF2-40B4-BE49-F238E27FC236}">
                <a16:creationId xmlns:a16="http://schemas.microsoft.com/office/drawing/2014/main" id="{7B2E5664-F97C-4E7C-8BDB-D6518ABAA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2"/>
          <a:stretch>
            <a:fillRect/>
          </a:stretch>
        </p:blipFill>
        <p:spPr bwMode="auto">
          <a:xfrm>
            <a:off x="4114799" y="1249567"/>
            <a:ext cx="5036127" cy="547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>
            <a:extLst>
              <a:ext uri="{FF2B5EF4-FFF2-40B4-BE49-F238E27FC236}">
                <a16:creationId xmlns:a16="http://schemas.microsoft.com/office/drawing/2014/main" id="{79F9602B-9A20-42E4-A153-BEB70C139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Paths &amp; Cycles</a:t>
            </a:r>
          </a:p>
        </p:txBody>
      </p:sp>
      <p:sp>
        <p:nvSpPr>
          <p:cNvPr id="698371" name="Rectangle 3">
            <a:extLst>
              <a:ext uri="{FF2B5EF4-FFF2-40B4-BE49-F238E27FC236}">
                <a16:creationId xmlns:a16="http://schemas.microsoft.com/office/drawing/2014/main" id="{13782B71-0A7F-424E-932D-4537FF666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6110145" cy="4351338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A </a:t>
            </a:r>
            <a:r>
              <a:rPr lang="en-US" altLang="en-US" i="1" dirty="0"/>
              <a:t>path</a:t>
            </a:r>
            <a:r>
              <a:rPr lang="en-US" altLang="en-US" dirty="0">
                <a:solidFill>
                  <a:schemeClr val="tx1"/>
                </a:solidFill>
              </a:rPr>
              <a:t> in an undirected graph G = (V, E) is a sequence P of nodes v</a:t>
            </a:r>
            <a:r>
              <a:rPr lang="en-US" altLang="en-US" baseline="-25000" dirty="0">
                <a:solidFill>
                  <a:schemeClr val="tx1"/>
                </a:solidFill>
              </a:rPr>
              <a:t>1</a:t>
            </a:r>
            <a:r>
              <a:rPr lang="en-US" altLang="en-US" dirty="0">
                <a:solidFill>
                  <a:schemeClr val="tx1"/>
                </a:solidFill>
              </a:rPr>
              <a:t>, v</a:t>
            </a:r>
            <a:r>
              <a:rPr lang="en-US" altLang="en-US" baseline="-25000" dirty="0">
                <a:solidFill>
                  <a:schemeClr val="tx1"/>
                </a:solidFill>
              </a:rPr>
              <a:t>2</a:t>
            </a:r>
            <a:r>
              <a:rPr lang="en-US" altLang="en-US" dirty="0">
                <a:solidFill>
                  <a:schemeClr val="tx1"/>
                </a:solidFill>
              </a:rPr>
              <a:t>, …, v</a:t>
            </a:r>
            <a:r>
              <a:rPr lang="en-US" altLang="en-US" baseline="-25000" dirty="0">
                <a:solidFill>
                  <a:schemeClr val="tx1"/>
                </a:solidFill>
              </a:rPr>
              <a:t>k-1</a:t>
            </a:r>
            <a:r>
              <a:rPr lang="en-US" altLang="en-US" dirty="0">
                <a:solidFill>
                  <a:schemeClr val="tx1"/>
                </a:solidFill>
              </a:rPr>
              <a:t>, </a:t>
            </a:r>
            <a:r>
              <a:rPr lang="en-US" altLang="en-US" dirty="0" err="1">
                <a:solidFill>
                  <a:schemeClr val="tx1"/>
                </a:solidFill>
              </a:rPr>
              <a:t>v</a:t>
            </a:r>
            <a:r>
              <a:rPr lang="en-US" altLang="en-US" baseline="-25000" dirty="0" err="1">
                <a:solidFill>
                  <a:schemeClr val="tx1"/>
                </a:solidFill>
              </a:rPr>
              <a:t>k</a:t>
            </a:r>
            <a:r>
              <a:rPr lang="en-US" altLang="en-US" dirty="0">
                <a:solidFill>
                  <a:schemeClr val="tx1"/>
                </a:solidFill>
              </a:rPr>
              <a:t> with the property that each consecutive pair v</a:t>
            </a:r>
            <a:r>
              <a:rPr lang="en-US" altLang="en-US" baseline="-25000" dirty="0">
                <a:solidFill>
                  <a:schemeClr val="tx1"/>
                </a:solidFill>
              </a:rPr>
              <a:t>i</a:t>
            </a:r>
            <a:r>
              <a:rPr lang="en-US" altLang="en-US" dirty="0">
                <a:solidFill>
                  <a:schemeClr val="tx1"/>
                </a:solidFill>
              </a:rPr>
              <a:t>, v</a:t>
            </a:r>
            <a:r>
              <a:rPr lang="en-US" altLang="en-US" baseline="-25000" dirty="0">
                <a:solidFill>
                  <a:schemeClr val="tx1"/>
                </a:solidFill>
              </a:rPr>
              <a:t>i+1</a:t>
            </a:r>
            <a:r>
              <a:rPr lang="en-US" altLang="en-US" dirty="0">
                <a:solidFill>
                  <a:schemeClr val="tx1"/>
                </a:solidFill>
              </a:rPr>
              <a:t> is joined by an edge in E.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1"/>
                </a:solidFill>
              </a:rPr>
              <a:t>A path is </a:t>
            </a:r>
            <a:r>
              <a:rPr lang="en-US" altLang="en-US" i="1" dirty="0"/>
              <a:t>simple</a:t>
            </a:r>
            <a:r>
              <a:rPr lang="en-US" altLang="en-US" dirty="0">
                <a:solidFill>
                  <a:schemeClr val="tx1"/>
                </a:solidFill>
              </a:rPr>
              <a:t> if all nodes are distinct.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  <p:pic>
        <p:nvPicPr>
          <p:cNvPr id="698372" name="Picture 4">
            <a:extLst>
              <a:ext uri="{FF2B5EF4-FFF2-40B4-BE49-F238E27FC236}">
                <a16:creationId xmlns:a16="http://schemas.microsoft.com/office/drawing/2014/main" id="{1DBFEA3C-F104-4986-92C0-D7F95702FD4D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19351" b="20930"/>
          <a:stretch>
            <a:fillRect/>
          </a:stretch>
        </p:blipFill>
        <p:spPr bwMode="auto">
          <a:xfrm>
            <a:off x="7576196" y="530225"/>
            <a:ext cx="4267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4632380-1804-4624-AC73-06748ADA50BF}"/>
              </a:ext>
            </a:extLst>
          </p:cNvPr>
          <p:cNvSpPr txBox="1">
            <a:spLocks noChangeArrowheads="1"/>
          </p:cNvSpPr>
          <p:nvPr/>
        </p:nvSpPr>
        <p:spPr>
          <a:xfrm>
            <a:off x="7013844" y="3286125"/>
            <a:ext cx="5052014" cy="1508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 </a:t>
            </a:r>
            <a:r>
              <a:rPr lang="en-US" altLang="en-US" i="1" dirty="0"/>
              <a:t>cycle</a:t>
            </a:r>
            <a:r>
              <a:rPr lang="en-US" altLang="en-US" dirty="0"/>
              <a:t> is a path v</a:t>
            </a:r>
            <a:r>
              <a:rPr lang="en-US" altLang="en-US" baseline="-25000" dirty="0"/>
              <a:t>1</a:t>
            </a:r>
            <a:r>
              <a:rPr lang="en-US" altLang="en-US" dirty="0"/>
              <a:t>, v</a:t>
            </a:r>
            <a:r>
              <a:rPr lang="en-US" altLang="en-US" baseline="-25000" dirty="0"/>
              <a:t>2</a:t>
            </a:r>
            <a:r>
              <a:rPr lang="en-US" altLang="en-US" dirty="0"/>
              <a:t>, …, v</a:t>
            </a:r>
            <a:r>
              <a:rPr lang="en-US" altLang="en-US" baseline="-25000" dirty="0"/>
              <a:t>k-1</a:t>
            </a:r>
            <a:r>
              <a:rPr lang="en-US" altLang="en-US" dirty="0"/>
              <a:t>,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 in which v</a:t>
            </a:r>
            <a:r>
              <a:rPr lang="en-US" altLang="en-US" baseline="-25000" dirty="0"/>
              <a:t>1</a:t>
            </a:r>
            <a:r>
              <a:rPr lang="en-US" altLang="en-US" dirty="0"/>
              <a:t> = </a:t>
            </a:r>
            <a:r>
              <a:rPr lang="en-US" altLang="en-US" dirty="0" err="1"/>
              <a:t>v</a:t>
            </a:r>
            <a:r>
              <a:rPr lang="en-US" altLang="en-US" baseline="-25000" dirty="0" err="1"/>
              <a:t>k</a:t>
            </a:r>
            <a:r>
              <a:rPr lang="en-US" altLang="en-US" dirty="0"/>
              <a:t>, k &gt; 2, and the first k-1 nodes are all distinct.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3FA42BB-DB35-496A-9008-05442EF4A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983" y="180138"/>
            <a:ext cx="2399077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en-US" dirty="0"/>
              <a:t>cycle C = 1-2-4-5-3-1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 uiExpand="1" build="p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1" name="Rectangle 3">
            <a:extLst>
              <a:ext uri="{FF2B5EF4-FFF2-40B4-BE49-F238E27FC236}">
                <a16:creationId xmlns:a16="http://schemas.microsoft.com/office/drawing/2014/main" id="{13782B71-0A7F-424E-932D-4537FF666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1375" y="2895287"/>
            <a:ext cx="6099195" cy="3785652"/>
          </a:xfrm>
        </p:spPr>
        <p:txBody>
          <a:bodyPr>
            <a:noAutofit/>
          </a:bodyPr>
          <a:lstStyle/>
          <a:p>
            <a:r>
              <a:rPr lang="en-US" altLang="en-US" sz="2400" dirty="0">
                <a:solidFill>
                  <a:schemeClr val="tx1"/>
                </a:solidFill>
              </a:rPr>
              <a:t>An undirected graph is </a:t>
            </a:r>
            <a:r>
              <a:rPr lang="en-US" altLang="en-US" sz="2400" i="1" dirty="0"/>
              <a:t>connected</a:t>
            </a:r>
            <a:r>
              <a:rPr lang="en-US" altLang="en-US" sz="2400" dirty="0">
                <a:solidFill>
                  <a:schemeClr val="tx1"/>
                </a:solidFill>
              </a:rPr>
              <a:t> if for every pair of nodes u and v, there is a path between u and v.</a:t>
            </a:r>
          </a:p>
          <a:p>
            <a:r>
              <a:rPr lang="en-US" sz="2400" dirty="0"/>
              <a:t>In directed graphs, connectivity has two varieties. </a:t>
            </a:r>
          </a:p>
          <a:p>
            <a:pPr lvl="1"/>
            <a:r>
              <a:rPr lang="en-US" sz="2000" dirty="0"/>
              <a:t>A directed graph is </a:t>
            </a:r>
            <a:r>
              <a:rPr lang="en-US" sz="2000" i="1" dirty="0"/>
              <a:t>weakly connected </a:t>
            </a:r>
            <a:r>
              <a:rPr lang="en-US" sz="2000" dirty="0"/>
              <a:t>if it would be connected if it were undirected (</a:t>
            </a:r>
            <a:r>
              <a:rPr lang="en-US" sz="2000" dirty="0" err="1"/>
              <a:t>ie</a:t>
            </a:r>
            <a:r>
              <a:rPr lang="en-US" sz="2000" dirty="0"/>
              <a:t>, if the paths can “go the wrong way”) </a:t>
            </a:r>
          </a:p>
          <a:p>
            <a:pPr lvl="1"/>
            <a:r>
              <a:rPr lang="en-US" sz="2000" dirty="0"/>
              <a:t>A directed graph is </a:t>
            </a:r>
            <a:r>
              <a:rPr lang="en-US" sz="2000" i="1" dirty="0"/>
              <a:t>strongly connected </a:t>
            </a:r>
            <a:r>
              <a:rPr lang="en-US" sz="2000" dirty="0"/>
              <a:t>if there is a path from every node u to every other node v, and vice versa — each is reachable from the other.</a:t>
            </a:r>
          </a:p>
        </p:txBody>
      </p:sp>
      <p:sp>
        <p:nvSpPr>
          <p:cNvPr id="698370" name="Rectangle 2">
            <a:extLst>
              <a:ext uri="{FF2B5EF4-FFF2-40B4-BE49-F238E27FC236}">
                <a16:creationId xmlns:a16="http://schemas.microsoft.com/office/drawing/2014/main" id="{79F9602B-9A20-42E4-A153-BEB70C1396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764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Connectivity &amp; Distance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E64D5F7-BB56-42CD-9ECC-885591DADA01}"/>
              </a:ext>
            </a:extLst>
          </p:cNvPr>
          <p:cNvSpPr txBox="1">
            <a:spLocks noChangeArrowheads="1"/>
          </p:cNvSpPr>
          <p:nvPr/>
        </p:nvSpPr>
        <p:spPr>
          <a:xfrm>
            <a:off x="7441135" y="1551197"/>
            <a:ext cx="391266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24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83B34C-7459-4881-B5AB-B13A02D94627}"/>
              </a:ext>
            </a:extLst>
          </p:cNvPr>
          <p:cNvSpPr txBox="1">
            <a:spLocks noChangeArrowheads="1"/>
          </p:cNvSpPr>
          <p:nvPr/>
        </p:nvSpPr>
        <p:spPr>
          <a:xfrm>
            <a:off x="6488407" y="1580856"/>
            <a:ext cx="5600473" cy="488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0399E4-907A-4842-A4DC-24C7ED09CA90}"/>
              </a:ext>
            </a:extLst>
          </p:cNvPr>
          <p:cNvSpPr/>
          <p:nvPr/>
        </p:nvSpPr>
        <p:spPr>
          <a:xfrm>
            <a:off x="6511257" y="1219126"/>
            <a:ext cx="553522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-Light"/>
              </a:rPr>
              <a:t>By default, graphs are </a:t>
            </a:r>
            <a:r>
              <a:rPr lang="en-US" sz="2000" i="1" dirty="0">
                <a:latin typeface="Helvetica-Light"/>
              </a:rPr>
              <a:t>unweighted</a:t>
            </a:r>
            <a:r>
              <a:rPr lang="en-US" sz="2000" dirty="0">
                <a:latin typeface="Helvetica-Light"/>
              </a:rPr>
              <a:t>: the distance from a vertex to its </a:t>
            </a:r>
            <a:r>
              <a:rPr lang="en-US" sz="2000" i="1" dirty="0">
                <a:latin typeface="Helvetica-Bold"/>
              </a:rPr>
              <a:t>neighbor</a:t>
            </a:r>
            <a:r>
              <a:rPr lang="en-US" sz="2000" b="1" dirty="0">
                <a:latin typeface="Helvetica-Bold"/>
              </a:rPr>
              <a:t> </a:t>
            </a:r>
            <a:r>
              <a:rPr lang="en-US" sz="2000" dirty="0">
                <a:latin typeface="Helvetica-Light"/>
              </a:rPr>
              <a:t>(vertex reachable in one step) is assumed to be 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-Light"/>
              </a:rPr>
              <a:t>The </a:t>
            </a:r>
            <a:r>
              <a:rPr lang="en-US" sz="2000" i="1" dirty="0">
                <a:latin typeface="Helvetica-LightOblique"/>
              </a:rPr>
              <a:t>shortest path </a:t>
            </a:r>
            <a:r>
              <a:rPr lang="en-US" sz="2000" dirty="0">
                <a:latin typeface="Helvetica-Light"/>
              </a:rPr>
              <a:t>between two nodes is the path between those nodes that uses the fewest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Helvetica-Bold"/>
              </a:rPr>
              <a:t>Weighted graphs</a:t>
            </a:r>
            <a:r>
              <a:rPr lang="en-US" sz="2000" dirty="0">
                <a:latin typeface="Helvetica-Light"/>
              </a:rPr>
              <a:t> can represent distances and costs of paths between vertices (each edge gets a number that is its weight)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-Light"/>
              </a:rPr>
              <a:t>Shortest path (sometimes “cheapest path” to make a distinction) is path with smallest sum of weights.</a:t>
            </a:r>
            <a:endParaRPr lang="en-US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75CBAB-A28F-4798-8FF9-10AB6D206ADA}"/>
              </a:ext>
            </a:extLst>
          </p:cNvPr>
          <p:cNvGrpSpPr/>
          <p:nvPr/>
        </p:nvGrpSpPr>
        <p:grpSpPr>
          <a:xfrm>
            <a:off x="1021669" y="2228508"/>
            <a:ext cx="454463" cy="399708"/>
            <a:chOff x="980105" y="2228508"/>
            <a:chExt cx="454463" cy="3997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23D5C8F-C919-4CD8-B10D-5DA59517A83C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651DE0-ACD0-41F4-A020-B66826DC0BB2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04057-643A-45AB-A8F6-2D9B2118722B}"/>
              </a:ext>
            </a:extLst>
          </p:cNvPr>
          <p:cNvGrpSpPr/>
          <p:nvPr/>
        </p:nvGrpSpPr>
        <p:grpSpPr>
          <a:xfrm>
            <a:off x="2546809" y="2241857"/>
            <a:ext cx="454463" cy="399708"/>
            <a:chOff x="980105" y="2228508"/>
            <a:chExt cx="454463" cy="39970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47B3D5A-A1DF-4D61-AE05-54B77CE86E0F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2FCC79-BD79-4BD4-8D84-BD25FA766F8C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786D601-EFAC-4CDF-B08C-5E2C1E5D9C28}"/>
              </a:ext>
            </a:extLst>
          </p:cNvPr>
          <p:cNvGrpSpPr/>
          <p:nvPr/>
        </p:nvGrpSpPr>
        <p:grpSpPr>
          <a:xfrm>
            <a:off x="1852942" y="1559890"/>
            <a:ext cx="454463" cy="399708"/>
            <a:chOff x="980105" y="2228508"/>
            <a:chExt cx="454463" cy="39970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C1C640E-1EA5-4FCF-BBFA-4C8AB6171819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7E2968E-40F4-4CCE-B243-44133AC29E08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0C4AB9-C5F3-414E-8D4B-40F832C4EF9D}"/>
              </a:ext>
            </a:extLst>
          </p:cNvPr>
          <p:cNvCxnSpPr>
            <a:stCxn id="11" idx="0"/>
          </p:cNvCxnSpPr>
          <p:nvPr/>
        </p:nvCxnSpPr>
        <p:spPr>
          <a:xfrm flipV="1">
            <a:off x="1265659" y="1870364"/>
            <a:ext cx="587283" cy="373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201602-4693-479B-8674-A193421B45C1}"/>
              </a:ext>
            </a:extLst>
          </p:cNvPr>
          <p:cNvCxnSpPr>
            <a:cxnSpLocks/>
            <a:endCxn id="17" idx="2"/>
          </p:cNvCxnSpPr>
          <p:nvPr/>
        </p:nvCxnSpPr>
        <p:spPr>
          <a:xfrm flipV="1">
            <a:off x="1438000" y="2441711"/>
            <a:ext cx="1108809" cy="30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0A1D60-5D2C-4168-852B-B56D766EA08C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2307430" y="1790092"/>
            <a:ext cx="483369" cy="466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105A3EA-3C54-41E5-BE99-4C8E7DCCA9FB}"/>
              </a:ext>
            </a:extLst>
          </p:cNvPr>
          <p:cNvSpPr txBox="1"/>
          <p:nvPr/>
        </p:nvSpPr>
        <p:spPr>
          <a:xfrm flipH="1">
            <a:off x="255207" y="1501032"/>
            <a:ext cx="1353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Weakly</a:t>
            </a:r>
          </a:p>
          <a:p>
            <a:r>
              <a:rPr lang="en-US" dirty="0"/>
              <a:t>connected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DDC241-7B8C-4CF0-894A-54615796DEA2}"/>
              </a:ext>
            </a:extLst>
          </p:cNvPr>
          <p:cNvGrpSpPr/>
          <p:nvPr/>
        </p:nvGrpSpPr>
        <p:grpSpPr>
          <a:xfrm>
            <a:off x="4502748" y="2214239"/>
            <a:ext cx="454463" cy="399708"/>
            <a:chOff x="980105" y="2228508"/>
            <a:chExt cx="454463" cy="399708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EE33246-61FE-4132-B0F7-4AD1DAFF1107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7B9F641-250A-4060-8F1E-2702127D967F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3490C0-6BCB-4710-9F97-97681CEEFCD5}"/>
              </a:ext>
            </a:extLst>
          </p:cNvPr>
          <p:cNvGrpSpPr/>
          <p:nvPr/>
        </p:nvGrpSpPr>
        <p:grpSpPr>
          <a:xfrm>
            <a:off x="6027888" y="2227588"/>
            <a:ext cx="454463" cy="399708"/>
            <a:chOff x="980105" y="2228508"/>
            <a:chExt cx="454463" cy="39970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37A917A-FC09-4BB2-8EB4-8DBA891BD1E7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D255D81-F20E-49B5-92CD-06279431F8B6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F6FDB72-C9BA-44E7-8B33-26A42BBCDA95}"/>
              </a:ext>
            </a:extLst>
          </p:cNvPr>
          <p:cNvGrpSpPr/>
          <p:nvPr/>
        </p:nvGrpSpPr>
        <p:grpSpPr>
          <a:xfrm>
            <a:off x="5334021" y="1545621"/>
            <a:ext cx="454463" cy="399708"/>
            <a:chOff x="980105" y="2228508"/>
            <a:chExt cx="454463" cy="399708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1692D52-01A9-4DFD-96BD-30A23B37D37E}"/>
                </a:ext>
              </a:extLst>
            </p:cNvPr>
            <p:cNvSpPr/>
            <p:nvPr/>
          </p:nvSpPr>
          <p:spPr>
            <a:xfrm>
              <a:off x="980105" y="2228508"/>
              <a:ext cx="421610" cy="3997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D4777F8-C625-4907-AEBF-CE356BF6F53F}"/>
                </a:ext>
              </a:extLst>
            </p:cNvPr>
            <p:cNvSpPr txBox="1"/>
            <p:nvPr/>
          </p:nvSpPr>
          <p:spPr>
            <a:xfrm>
              <a:off x="1013622" y="2243696"/>
              <a:ext cx="420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3A1CF9-C783-4EF8-BA91-8E628A6A71A5}"/>
              </a:ext>
            </a:extLst>
          </p:cNvPr>
          <p:cNvCxnSpPr>
            <a:stCxn id="43" idx="0"/>
          </p:cNvCxnSpPr>
          <p:nvPr/>
        </p:nvCxnSpPr>
        <p:spPr>
          <a:xfrm flipV="1">
            <a:off x="4746738" y="1856095"/>
            <a:ext cx="587283" cy="3733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82920D-BBC1-45C5-AC93-A86C31667721}"/>
              </a:ext>
            </a:extLst>
          </p:cNvPr>
          <p:cNvCxnSpPr>
            <a:cxnSpLocks/>
            <a:endCxn id="43" idx="3"/>
          </p:cNvCxnSpPr>
          <p:nvPr/>
        </p:nvCxnSpPr>
        <p:spPr>
          <a:xfrm flipH="1" flipV="1">
            <a:off x="4957211" y="2414093"/>
            <a:ext cx="1112242" cy="13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5E569A-6C9E-494C-B23A-1FC39D427F6C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788509" y="1775823"/>
            <a:ext cx="483369" cy="466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F7E845-67DC-4228-95DD-F7D67550D2C5}"/>
              </a:ext>
            </a:extLst>
          </p:cNvPr>
          <p:cNvSpPr txBox="1"/>
          <p:nvPr/>
        </p:nvSpPr>
        <p:spPr>
          <a:xfrm flipH="1">
            <a:off x="3736286" y="1486763"/>
            <a:ext cx="1353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Strongly</a:t>
            </a:r>
          </a:p>
          <a:p>
            <a:r>
              <a:rPr lang="en-US" dirty="0"/>
              <a:t>connected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8C4C60-9D44-4E86-B1A8-423F8A8DEB4B}"/>
              </a:ext>
            </a:extLst>
          </p:cNvPr>
          <p:cNvSpPr txBox="1"/>
          <p:nvPr/>
        </p:nvSpPr>
        <p:spPr>
          <a:xfrm flipH="1">
            <a:off x="7679518" y="110484"/>
            <a:ext cx="135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Unweighted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BAC950-8A56-4785-897F-4355467309C6}"/>
              </a:ext>
            </a:extLst>
          </p:cNvPr>
          <p:cNvSpPr txBox="1"/>
          <p:nvPr/>
        </p:nvSpPr>
        <p:spPr>
          <a:xfrm flipH="1">
            <a:off x="9762490" y="145392"/>
            <a:ext cx="135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85C75A-E4CC-4A40-A02B-C4C30DCC3BDB}"/>
              </a:ext>
            </a:extLst>
          </p:cNvPr>
          <p:cNvGrpSpPr/>
          <p:nvPr/>
        </p:nvGrpSpPr>
        <p:grpSpPr>
          <a:xfrm>
            <a:off x="7572813" y="602623"/>
            <a:ext cx="3649308" cy="576780"/>
            <a:chOff x="7624500" y="1425435"/>
            <a:chExt cx="3649308" cy="5767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57B8173-E877-406B-90A9-4968EB0669F9}"/>
                </a:ext>
              </a:extLst>
            </p:cNvPr>
            <p:cNvGrpSpPr/>
            <p:nvPr/>
          </p:nvGrpSpPr>
          <p:grpSpPr>
            <a:xfrm>
              <a:off x="7624500" y="1452108"/>
              <a:ext cx="454463" cy="399708"/>
              <a:chOff x="980105" y="2228508"/>
              <a:chExt cx="454463" cy="399708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C3DC205-EA77-43C6-BFE5-2EDA170F8768}"/>
                  </a:ext>
                </a:extLst>
              </p:cNvPr>
              <p:cNvSpPr/>
              <p:nvPr/>
            </p:nvSpPr>
            <p:spPr>
              <a:xfrm>
                <a:off x="980105" y="2228508"/>
                <a:ext cx="421610" cy="39970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D890D12-500D-4FCD-B08B-175D2567D8CF}"/>
                  </a:ext>
                </a:extLst>
              </p:cNvPr>
              <p:cNvSpPr txBox="1"/>
              <p:nvPr/>
            </p:nvSpPr>
            <p:spPr>
              <a:xfrm>
                <a:off x="1013622" y="2243696"/>
                <a:ext cx="420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F01E68FC-F444-4905-8CD3-4C8CAC466FDE}"/>
                </a:ext>
              </a:extLst>
            </p:cNvPr>
            <p:cNvGrpSpPr/>
            <p:nvPr/>
          </p:nvGrpSpPr>
          <p:grpSpPr>
            <a:xfrm>
              <a:off x="8703520" y="1452108"/>
              <a:ext cx="454463" cy="399708"/>
              <a:chOff x="980105" y="2228508"/>
              <a:chExt cx="454463" cy="399708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8A41296-3C8B-464D-AEB6-AE8D35B26769}"/>
                  </a:ext>
                </a:extLst>
              </p:cNvPr>
              <p:cNvSpPr/>
              <p:nvPr/>
            </p:nvSpPr>
            <p:spPr>
              <a:xfrm>
                <a:off x="980105" y="2228508"/>
                <a:ext cx="421610" cy="39970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673B7B-B441-4AAD-8991-07F0B3D2F4A0}"/>
                  </a:ext>
                </a:extLst>
              </p:cNvPr>
              <p:cNvSpPr txBox="1"/>
              <p:nvPr/>
            </p:nvSpPr>
            <p:spPr>
              <a:xfrm>
                <a:off x="1013622" y="2243696"/>
                <a:ext cx="420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5F190F3-AA23-4C17-88F6-56979FF3CB5F}"/>
                </a:ext>
              </a:extLst>
            </p:cNvPr>
            <p:cNvGrpSpPr/>
            <p:nvPr/>
          </p:nvGrpSpPr>
          <p:grpSpPr>
            <a:xfrm>
              <a:off x="9740325" y="1425435"/>
              <a:ext cx="454463" cy="399708"/>
              <a:chOff x="980105" y="2228508"/>
              <a:chExt cx="454463" cy="399708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290CB6B3-257B-44E8-AA37-5D5BD932259A}"/>
                  </a:ext>
                </a:extLst>
              </p:cNvPr>
              <p:cNvSpPr/>
              <p:nvPr/>
            </p:nvSpPr>
            <p:spPr>
              <a:xfrm>
                <a:off x="980105" y="2228508"/>
                <a:ext cx="421610" cy="39970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E2549BF-F79F-4C02-9483-57AE469DF3A8}"/>
                  </a:ext>
                </a:extLst>
              </p:cNvPr>
              <p:cNvSpPr txBox="1"/>
              <p:nvPr/>
            </p:nvSpPr>
            <p:spPr>
              <a:xfrm>
                <a:off x="1013622" y="2243696"/>
                <a:ext cx="420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0E4EA03-871D-4A56-93BF-3EBAEEF330EF}"/>
                </a:ext>
              </a:extLst>
            </p:cNvPr>
            <p:cNvGrpSpPr/>
            <p:nvPr/>
          </p:nvGrpSpPr>
          <p:grpSpPr>
            <a:xfrm>
              <a:off x="10819345" y="1425435"/>
              <a:ext cx="454463" cy="399708"/>
              <a:chOff x="980105" y="2228508"/>
              <a:chExt cx="454463" cy="399708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FAF86BBC-7864-4EA4-950E-D2DBE9060600}"/>
                  </a:ext>
                </a:extLst>
              </p:cNvPr>
              <p:cNvSpPr/>
              <p:nvPr/>
            </p:nvSpPr>
            <p:spPr>
              <a:xfrm>
                <a:off x="980105" y="2228508"/>
                <a:ext cx="421610" cy="39970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7937E6A-AB34-456A-812A-2D849B814BE6}"/>
                  </a:ext>
                </a:extLst>
              </p:cNvPr>
              <p:cNvSpPr txBox="1"/>
              <p:nvPr/>
            </p:nvSpPr>
            <p:spPr>
              <a:xfrm>
                <a:off x="1013622" y="2243696"/>
                <a:ext cx="4209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A79737-A4A5-49EC-8FD3-2CC3D89610B6}"/>
                </a:ext>
              </a:extLst>
            </p:cNvPr>
            <p:cNvSpPr txBox="1"/>
            <p:nvPr/>
          </p:nvSpPr>
          <p:spPr>
            <a:xfrm flipH="1">
              <a:off x="10286502" y="1632883"/>
              <a:ext cx="360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84659A0-3560-4C70-A7DE-B85AD5FA5780}"/>
                </a:ext>
              </a:extLst>
            </p:cNvPr>
            <p:cNvCxnSpPr>
              <a:stCxn id="51" idx="3"/>
              <a:endCxn id="54" idx="1"/>
            </p:cNvCxnSpPr>
            <p:nvPr/>
          </p:nvCxnSpPr>
          <p:spPr>
            <a:xfrm>
              <a:off x="8078963" y="1651962"/>
              <a:ext cx="6580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392FBD9-F968-4980-844E-10A094C995E3}"/>
                </a:ext>
              </a:extLst>
            </p:cNvPr>
            <p:cNvCxnSpPr/>
            <p:nvPr/>
          </p:nvCxnSpPr>
          <p:spPr>
            <a:xfrm>
              <a:off x="10161935" y="1625289"/>
              <a:ext cx="65807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293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8371" grpId="0" uiExpand="1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2" name="Rectangle 2">
            <a:extLst>
              <a:ext uri="{FF2B5EF4-FFF2-40B4-BE49-F238E27FC236}">
                <a16:creationId xmlns:a16="http://schemas.microsoft.com/office/drawing/2014/main" id="{7895931D-87FC-4799-8370-A2120D18A4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Trees &amp; Rooted Trees</a:t>
            </a:r>
          </a:p>
        </p:txBody>
      </p:sp>
      <p:sp>
        <p:nvSpPr>
          <p:cNvPr id="757763" name="Rectangle 3">
            <a:extLst>
              <a:ext uri="{FF2B5EF4-FFF2-40B4-BE49-F238E27FC236}">
                <a16:creationId xmlns:a16="http://schemas.microsoft.com/office/drawing/2014/main" id="{77BDD9DE-D828-4B1B-984A-DACC07CB5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1156" y="1580357"/>
            <a:ext cx="6315088" cy="498449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A tree is an undirected connected </a:t>
            </a:r>
          </a:p>
          <a:p>
            <a:pPr marL="0" indent="0">
              <a:buNone/>
            </a:pPr>
            <a:r>
              <a:rPr lang="en-US" altLang="en-US" dirty="0"/>
              <a:t>   </a:t>
            </a:r>
            <a:r>
              <a:rPr lang="en-US" altLang="en-US" dirty="0">
                <a:solidFill>
                  <a:schemeClr val="tx1"/>
                </a:solidFill>
              </a:rPr>
              <a:t>graph that does not contain a cycle.</a:t>
            </a:r>
          </a:p>
          <a:p>
            <a:r>
              <a:rPr lang="en-US" altLang="en-US" dirty="0"/>
              <a:t>Models hierarchical structure.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Theorem.  </a:t>
            </a:r>
            <a:r>
              <a:rPr lang="en-US" altLang="en-US" dirty="0">
                <a:solidFill>
                  <a:schemeClr val="tx1"/>
                </a:solidFill>
              </a:rPr>
              <a:t>Let G be an undirected graph on n nodes. Any two of the following statements imply the third.</a:t>
            </a:r>
          </a:p>
          <a:p>
            <a:pPr lvl="1"/>
            <a:r>
              <a:rPr lang="en-US" altLang="en-US" dirty="0"/>
              <a:t>G is connected.</a:t>
            </a:r>
          </a:p>
          <a:p>
            <a:pPr lvl="1"/>
            <a:r>
              <a:rPr lang="en-US" altLang="en-US" dirty="0"/>
              <a:t>G does not contain a cycle.</a:t>
            </a:r>
          </a:p>
          <a:p>
            <a:pPr lvl="1"/>
            <a:r>
              <a:rPr lang="en-US" altLang="en-US" dirty="0"/>
              <a:t>G has n-1 edges.</a:t>
            </a:r>
          </a:p>
          <a:p>
            <a:r>
              <a:rPr lang="en-US" altLang="en-US" dirty="0"/>
              <a:t>Rooted tree: choose a root node r and orient each edge towards r. Each edge goes from a child to a parent, directed paths from descendants to ancestors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D878DCA-71FE-49CE-9F59-770A974400C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4" r="-2109" b="12871"/>
          <a:stretch>
            <a:fillRect/>
          </a:stretch>
        </p:blipFill>
        <p:spPr bwMode="auto">
          <a:xfrm>
            <a:off x="6206837" y="293146"/>
            <a:ext cx="6146584" cy="1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24C84E-0EC7-4A97-B69B-08CF0E99FBBD}"/>
              </a:ext>
            </a:extLst>
          </p:cNvPr>
          <p:cNvSpPr txBox="1"/>
          <p:nvPr/>
        </p:nvSpPr>
        <p:spPr>
          <a:xfrm>
            <a:off x="9455716" y="124677"/>
            <a:ext cx="2305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tree rooted at 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8B82F30-6697-4950-86A2-7352E5ABEF50}"/>
              </a:ext>
            </a:extLst>
          </p:cNvPr>
          <p:cNvSpPr txBox="1">
            <a:spLocks noChangeArrowheads="1"/>
          </p:cNvSpPr>
          <p:nvPr/>
        </p:nvSpPr>
        <p:spPr>
          <a:xfrm>
            <a:off x="6351591" y="2421841"/>
            <a:ext cx="5771053" cy="1219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DAG (directed acyclic graph) is the directed analog of a tree, a directed graph that does not contain a directed cycle.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4F1D5E-BDA2-4008-8603-FACC494005C0}"/>
              </a:ext>
            </a:extLst>
          </p:cNvPr>
          <p:cNvGrpSpPr/>
          <p:nvPr/>
        </p:nvGrpSpPr>
        <p:grpSpPr>
          <a:xfrm>
            <a:off x="6542772" y="3546983"/>
            <a:ext cx="1968040" cy="1353166"/>
            <a:chOff x="6542772" y="3546983"/>
            <a:chExt cx="1968040" cy="135316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928D9A0-C8DF-4F4A-956D-CF84E58B6B6D}"/>
                </a:ext>
              </a:extLst>
            </p:cNvPr>
            <p:cNvSpPr/>
            <p:nvPr/>
          </p:nvSpPr>
          <p:spPr>
            <a:xfrm>
              <a:off x="6542772" y="4147101"/>
              <a:ext cx="337153" cy="3498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D6B33D-8072-47E3-9271-E3FE268B6505}"/>
                </a:ext>
              </a:extLst>
            </p:cNvPr>
            <p:cNvSpPr txBox="1"/>
            <p:nvPr/>
          </p:nvSpPr>
          <p:spPr>
            <a:xfrm>
              <a:off x="6556517" y="4109726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296D96D-EF6C-4440-87D8-E4A7DDF7EB7A}"/>
                </a:ext>
              </a:extLst>
            </p:cNvPr>
            <p:cNvGrpSpPr/>
            <p:nvPr/>
          </p:nvGrpSpPr>
          <p:grpSpPr>
            <a:xfrm>
              <a:off x="8157328" y="4053165"/>
              <a:ext cx="353484" cy="375376"/>
              <a:chOff x="8347363" y="3676625"/>
              <a:chExt cx="353484" cy="37537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C8AD5C0-29C8-4AAA-ACF2-D1078E148D2C}"/>
                  </a:ext>
                </a:extLst>
              </p:cNvPr>
              <p:cNvSpPr/>
              <p:nvPr/>
            </p:nvSpPr>
            <p:spPr>
              <a:xfrm>
                <a:off x="8347363" y="3676625"/>
                <a:ext cx="337153" cy="34513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67A8A0-020A-4302-8F1F-4C7BAA8A021F}"/>
                  </a:ext>
                </a:extLst>
              </p:cNvPr>
              <p:cNvSpPr txBox="1"/>
              <p:nvPr/>
            </p:nvSpPr>
            <p:spPr>
              <a:xfrm>
                <a:off x="8363694" y="3682669"/>
                <a:ext cx="3371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BA8C4A-BB5E-46F9-B135-B3858B2243D7}"/>
                </a:ext>
              </a:extLst>
            </p:cNvPr>
            <p:cNvSpPr/>
            <p:nvPr/>
          </p:nvSpPr>
          <p:spPr>
            <a:xfrm>
              <a:off x="7300730" y="4542915"/>
              <a:ext cx="337153" cy="3451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AE9B66-2499-45E0-8E13-BFC6776524FA}"/>
                </a:ext>
              </a:extLst>
            </p:cNvPr>
            <p:cNvSpPr txBox="1"/>
            <p:nvPr/>
          </p:nvSpPr>
          <p:spPr>
            <a:xfrm>
              <a:off x="7300730" y="4530817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B253579-2DBA-4481-A83D-390D6DE6E10F}"/>
                </a:ext>
              </a:extLst>
            </p:cNvPr>
            <p:cNvSpPr/>
            <p:nvPr/>
          </p:nvSpPr>
          <p:spPr>
            <a:xfrm>
              <a:off x="7300730" y="3588977"/>
              <a:ext cx="337153" cy="34513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2DE34F-C0B7-4758-9797-F86BDABFD930}"/>
                </a:ext>
              </a:extLst>
            </p:cNvPr>
            <p:cNvSpPr txBox="1"/>
            <p:nvPr/>
          </p:nvSpPr>
          <p:spPr>
            <a:xfrm>
              <a:off x="7300731" y="3546983"/>
              <a:ext cx="337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2A8F870-2391-49C5-BE96-095F9BAC8FBF}"/>
                </a:ext>
              </a:extLst>
            </p:cNvPr>
            <p:cNvCxnSpPr>
              <a:cxnSpLocks/>
              <a:stCxn id="10" idx="3"/>
              <a:endCxn id="21" idx="1"/>
            </p:cNvCxnSpPr>
            <p:nvPr/>
          </p:nvCxnSpPr>
          <p:spPr>
            <a:xfrm flipV="1">
              <a:off x="6893670" y="4243875"/>
              <a:ext cx="1279989" cy="505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BB1D01C-4B88-4949-ACDC-719E6AD715D3}"/>
                </a:ext>
              </a:extLst>
            </p:cNvPr>
            <p:cNvCxnSpPr>
              <a:cxnSpLocks/>
              <a:stCxn id="15" idx="2"/>
              <a:endCxn id="10" idx="3"/>
            </p:cNvCxnSpPr>
            <p:nvPr/>
          </p:nvCxnSpPr>
          <p:spPr>
            <a:xfrm flipH="1">
              <a:off x="6893670" y="3916315"/>
              <a:ext cx="575638" cy="3780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A7B62F9-5078-40B3-A9B0-45A0AED9A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1384" y="4294392"/>
              <a:ext cx="575638" cy="3780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95F5B8D-3D3C-4DFD-ADE0-2551E1D53D81}"/>
                </a:ext>
              </a:extLst>
            </p:cNvPr>
            <p:cNvCxnSpPr>
              <a:cxnSpLocks/>
            </p:cNvCxnSpPr>
            <p:nvPr/>
          </p:nvCxnSpPr>
          <p:spPr>
            <a:xfrm>
              <a:off x="7607639" y="3886662"/>
              <a:ext cx="589383" cy="2186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63" grpId="0" uiExpand="1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36512FC8-2AAA-49BB-A9BE-D6E11F548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Graph Representation:  Adjacency Matrix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8C8A917D-B021-46F5-86AB-F12E713A4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6285" y="1497808"/>
            <a:ext cx="9682430" cy="2151853"/>
          </a:xfrm>
        </p:spPr>
        <p:txBody>
          <a:bodyPr/>
          <a:lstStyle/>
          <a:p>
            <a:r>
              <a:rPr lang="en-US" altLang="en-US" dirty="0"/>
              <a:t>Adjacency matrix.  </a:t>
            </a:r>
            <a:r>
              <a:rPr lang="en-US" altLang="en-US" dirty="0">
                <a:solidFill>
                  <a:schemeClr val="tx1"/>
                </a:solidFill>
              </a:rPr>
              <a:t>n-by-n matrix with </a:t>
            </a:r>
            <a:r>
              <a:rPr lang="en-US" altLang="en-US" dirty="0" err="1">
                <a:solidFill>
                  <a:schemeClr val="tx1"/>
                </a:solidFill>
              </a:rPr>
              <a:t>A</a:t>
            </a:r>
            <a:r>
              <a:rPr lang="en-US" altLang="en-US" baseline="-25000" dirty="0" err="1">
                <a:solidFill>
                  <a:schemeClr val="tx1"/>
                </a:solidFill>
              </a:rPr>
              <a:t>uv</a:t>
            </a:r>
            <a:r>
              <a:rPr lang="en-US" altLang="en-US" dirty="0">
                <a:solidFill>
                  <a:schemeClr val="tx1"/>
                </a:solidFill>
              </a:rPr>
              <a:t> = 1 if (u, v) is an edge.</a:t>
            </a:r>
            <a:endParaRPr lang="en-US" altLang="en-US" dirty="0"/>
          </a:p>
          <a:p>
            <a:pPr lvl="1"/>
            <a:r>
              <a:rPr lang="en-US" altLang="en-US" dirty="0"/>
              <a:t>Two representations of each edge.</a:t>
            </a:r>
          </a:p>
          <a:p>
            <a:pPr lvl="1"/>
            <a:r>
              <a:rPr lang="en-US" altLang="en-US" dirty="0"/>
              <a:t>Space proportional to n</a:t>
            </a:r>
            <a:r>
              <a:rPr lang="en-US" altLang="en-US" baseline="30000" dirty="0"/>
              <a:t>2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Checking if (u, v) is an edge takes </a:t>
            </a:r>
            <a:r>
              <a:rPr lang="en-US" altLang="en-US" dirty="0">
                <a:sym typeface="Symbol" panose="05050102010706020507" pitchFamily="18" charset="2"/>
              </a:rPr>
              <a:t></a:t>
            </a:r>
            <a:r>
              <a:rPr lang="en-US" altLang="en-US" dirty="0"/>
              <a:t>(1) time. </a:t>
            </a:r>
          </a:p>
          <a:p>
            <a:pPr lvl="1"/>
            <a:r>
              <a:rPr lang="en-US" altLang="en-US" dirty="0"/>
              <a:t>Identifying all edges takes </a:t>
            </a:r>
            <a:r>
              <a:rPr lang="en-US" altLang="en-US" dirty="0">
                <a:sym typeface="Symbol" panose="05050102010706020507" pitchFamily="18" charset="2"/>
              </a:rPr>
              <a:t></a:t>
            </a:r>
            <a:r>
              <a:rPr lang="en-US" altLang="en-US" dirty="0"/>
              <a:t>(n</a:t>
            </a:r>
            <a:r>
              <a:rPr lang="en-US" altLang="en-US" baseline="30000" dirty="0"/>
              <a:t>2</a:t>
            </a:r>
            <a:r>
              <a:rPr lang="en-US" altLang="en-US" dirty="0"/>
              <a:t>) time.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DF321-CC81-45A5-BB94-43542E883A58}"/>
              </a:ext>
            </a:extLst>
          </p:cNvPr>
          <p:cNvGrpSpPr/>
          <p:nvPr/>
        </p:nvGrpSpPr>
        <p:grpSpPr>
          <a:xfrm>
            <a:off x="4119130" y="3850481"/>
            <a:ext cx="2320992" cy="2359026"/>
            <a:chOff x="6162675" y="3825875"/>
            <a:chExt cx="2320992" cy="2359026"/>
          </a:xfrm>
        </p:grpSpPr>
        <p:sp>
          <p:nvSpPr>
            <p:cNvPr id="738308" name="Rectangle 4">
              <a:extLst>
                <a:ext uri="{FF2B5EF4-FFF2-40B4-BE49-F238E27FC236}">
                  <a16:creationId xmlns:a16="http://schemas.microsoft.com/office/drawing/2014/main" id="{E8B568F8-CE05-45DA-A923-8CF39B59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0367" y="3830638"/>
              <a:ext cx="2273300" cy="2354263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r>
                <a:rPr lang="en-US" altLang="en-US" sz="1600" b="1" dirty="0">
                  <a:solidFill>
                    <a:srgbClr val="003399"/>
                  </a:solidFill>
                  <a:latin typeface="Courier New" panose="02070309020205020404" pitchFamily="49" charset="0"/>
                </a:rPr>
                <a:t>  </a:t>
              </a:r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1 2 3 4 5 6 7 8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0 1 1 0 0 0 0 0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2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1 0 1 </a:t>
              </a:r>
              <a:r>
                <a:rPr lang="en-US" altLang="en-US" sz="1600" b="1" dirty="0">
                  <a:solidFill>
                    <a:schemeClr val="accent1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1 0 0 0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1 1 0 0 1 0 1 1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4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</a:t>
              </a:r>
              <a:r>
                <a:rPr lang="en-US" altLang="en-US" sz="1600" b="1" dirty="0">
                  <a:solidFill>
                    <a:schemeClr val="accent1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0 1 1 0 0 0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5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0 1 1 1 0 1 0 0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6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0 0 0 0 1 0 0 0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7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0 0 1 0 0 0 0 1</a:t>
              </a:r>
            </a:p>
            <a:p>
              <a:r>
                <a:rPr lang="en-US" altLang="en-US" sz="1600" b="1" dirty="0">
                  <a:solidFill>
                    <a:schemeClr val="hlink"/>
                  </a:solidFill>
                  <a:latin typeface="Courier New" panose="02070309020205020404" pitchFamily="49" charset="0"/>
                </a:rPr>
                <a:t>8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 0 0 1 0 0 0 1 0</a:t>
              </a:r>
            </a:p>
          </p:txBody>
        </p:sp>
        <p:sp>
          <p:nvSpPr>
            <p:cNvPr id="738336" name="Line 32">
              <a:extLst>
                <a:ext uri="{FF2B5EF4-FFF2-40B4-BE49-F238E27FC236}">
                  <a16:creationId xmlns:a16="http://schemas.microsoft.com/office/drawing/2014/main" id="{DC360423-AAF3-4A08-95B1-6361E8F9A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2675" y="4102100"/>
              <a:ext cx="2281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38337" name="Line 33">
              <a:extLst>
                <a:ext uri="{FF2B5EF4-FFF2-40B4-BE49-F238E27FC236}">
                  <a16:creationId xmlns:a16="http://schemas.microsoft.com/office/drawing/2014/main" id="{472BA596-CD46-4899-BAE3-3C80966216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262563" y="5005388"/>
              <a:ext cx="23590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pic>
        <p:nvPicPr>
          <p:cNvPr id="738340" name="Picture 36">
            <a:extLst>
              <a:ext uri="{FF2B5EF4-FFF2-40B4-BE49-F238E27FC236}">
                <a16:creationId xmlns:a16="http://schemas.microsoft.com/office/drawing/2014/main" id="{283C0AD2-66E1-4666-8D8D-B246BE648BED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660040" y="3733007"/>
            <a:ext cx="2438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8341" name="Line 37">
            <a:extLst>
              <a:ext uri="{FF2B5EF4-FFF2-40B4-BE49-F238E27FC236}">
                <a16:creationId xmlns:a16="http://schemas.microsoft.com/office/drawing/2014/main" id="{54D3D154-9506-423B-8B36-6783FF6CC2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8351" y="4931209"/>
            <a:ext cx="252412" cy="3190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52045-3864-40E8-972A-68EB4CFEB47C}"/>
              </a:ext>
            </a:extLst>
          </p:cNvPr>
          <p:cNvSpPr txBox="1"/>
          <p:nvPr/>
        </p:nvSpPr>
        <p:spPr>
          <a:xfrm>
            <a:off x="5162767" y="4857683"/>
            <a:ext cx="193964" cy="3104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7674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0" name="Rectangle 2">
            <a:extLst>
              <a:ext uri="{FF2B5EF4-FFF2-40B4-BE49-F238E27FC236}">
                <a16:creationId xmlns:a16="http://schemas.microsoft.com/office/drawing/2014/main" id="{1431756F-CA8B-4894-8E68-6FF3B4A07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 Representation:  Adjacency List</a:t>
            </a:r>
          </a:p>
        </p:txBody>
      </p:sp>
      <p:sp>
        <p:nvSpPr>
          <p:cNvPr id="729091" name="Rectangle 3">
            <a:extLst>
              <a:ext uri="{FF2B5EF4-FFF2-40B4-BE49-F238E27FC236}">
                <a16:creationId xmlns:a16="http://schemas.microsoft.com/office/drawing/2014/main" id="{127EA5BD-B3DD-41D7-8D08-8D6288556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7302" y="1642748"/>
            <a:ext cx="9479839" cy="2108516"/>
          </a:xfrm>
        </p:spPr>
        <p:txBody>
          <a:bodyPr/>
          <a:lstStyle/>
          <a:p>
            <a:r>
              <a:rPr lang="en-US" altLang="en-US" dirty="0"/>
              <a:t>Adjacency list.  </a:t>
            </a:r>
            <a:r>
              <a:rPr lang="en-US" altLang="en-US" dirty="0">
                <a:solidFill>
                  <a:schemeClr val="tx1"/>
                </a:solidFill>
              </a:rPr>
              <a:t>Node indexed array of lists.</a:t>
            </a:r>
          </a:p>
          <a:p>
            <a:pPr lvl="1"/>
            <a:r>
              <a:rPr lang="en-US" altLang="en-US" dirty="0"/>
              <a:t>Two representations of each edge.</a:t>
            </a:r>
          </a:p>
          <a:p>
            <a:pPr lvl="1"/>
            <a:r>
              <a:rPr lang="en-US" altLang="en-US" dirty="0"/>
              <a:t>Space proportional to m + n.</a:t>
            </a:r>
          </a:p>
          <a:p>
            <a:pPr lvl="1"/>
            <a:r>
              <a:rPr lang="en-US" altLang="en-US" dirty="0"/>
              <a:t>Checking if (u, v) is an edge takes O(deg(u)) time.</a:t>
            </a:r>
          </a:p>
          <a:p>
            <a:pPr lvl="1"/>
            <a:r>
              <a:rPr lang="en-US" altLang="en-US" dirty="0"/>
              <a:t>Identifying all edges takes </a:t>
            </a:r>
            <a:r>
              <a:rPr lang="en-US" altLang="en-US" dirty="0">
                <a:sym typeface="Symbol" panose="05050102010706020507" pitchFamily="18" charset="2"/>
              </a:rPr>
              <a:t></a:t>
            </a:r>
            <a:r>
              <a:rPr lang="en-US" altLang="en-US" dirty="0"/>
              <a:t>(m + n) time.</a:t>
            </a:r>
          </a:p>
          <a:p>
            <a:pPr lvl="1"/>
            <a:endParaRPr lang="en-US" altLang="en-US" dirty="0"/>
          </a:p>
        </p:txBody>
      </p:sp>
      <p:pic>
        <p:nvPicPr>
          <p:cNvPr id="729223" name="Picture 135">
            <a:extLst>
              <a:ext uri="{FF2B5EF4-FFF2-40B4-BE49-F238E27FC236}">
                <a16:creationId xmlns:a16="http://schemas.microsoft.com/office/drawing/2014/main" id="{01ED9240-2985-452B-B32F-59EDA802679B}"/>
              </a:ext>
            </a:extLst>
          </p:cNvPr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r="45515" b="20930"/>
          <a:stretch>
            <a:fillRect/>
          </a:stretch>
        </p:blipFill>
        <p:spPr bwMode="auto">
          <a:xfrm>
            <a:off x="560743" y="3817938"/>
            <a:ext cx="2438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9288" name="Line 200">
            <a:extLst>
              <a:ext uri="{FF2B5EF4-FFF2-40B4-BE49-F238E27FC236}">
                <a16:creationId xmlns:a16="http://schemas.microsoft.com/office/drawing/2014/main" id="{F3FF06FE-8857-4BC6-958B-72286DFB16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2798" y="5028407"/>
            <a:ext cx="252412" cy="3190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729289" name="Line 201">
            <a:extLst>
              <a:ext uri="{FF2B5EF4-FFF2-40B4-BE49-F238E27FC236}">
                <a16:creationId xmlns:a16="http://schemas.microsoft.com/office/drawing/2014/main" id="{28FF1CC4-B20B-48A0-80C4-D26333A491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28594" y="2707973"/>
            <a:ext cx="152400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729290" name="Rectangle 202">
            <a:extLst>
              <a:ext uri="{FF2B5EF4-FFF2-40B4-BE49-F238E27FC236}">
                <a16:creationId xmlns:a16="http://schemas.microsoft.com/office/drawing/2014/main" id="{84EE210A-CE9D-476A-8CF8-57484E786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932" y="2393328"/>
            <a:ext cx="2356543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dirty="0"/>
              <a:t>degree = number of neighbors of 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99DBCC-DC63-4D2C-B3CF-7436874F5428}"/>
              </a:ext>
            </a:extLst>
          </p:cNvPr>
          <p:cNvGrpSpPr/>
          <p:nvPr/>
        </p:nvGrpSpPr>
        <p:grpSpPr>
          <a:xfrm>
            <a:off x="4337773" y="3864769"/>
            <a:ext cx="4019549" cy="2497138"/>
            <a:chOff x="6138864" y="3657600"/>
            <a:chExt cx="4019549" cy="2497138"/>
          </a:xfrm>
        </p:grpSpPr>
        <p:sp>
          <p:nvSpPr>
            <p:cNvPr id="729092" name="Rectangle 4">
              <a:extLst>
                <a:ext uri="{FF2B5EF4-FFF2-40B4-BE49-F238E27FC236}">
                  <a16:creationId xmlns:a16="http://schemas.microsoft.com/office/drawing/2014/main" id="{6839B13B-7496-4941-B48B-AC103768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3657600"/>
              <a:ext cx="255587" cy="25558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729093" name="Rectangle 5">
              <a:extLst>
                <a:ext uri="{FF2B5EF4-FFF2-40B4-BE49-F238E27FC236}">
                  <a16:creationId xmlns:a16="http://schemas.microsoft.com/office/drawing/2014/main" id="{62FE33D9-60BE-4F12-88A8-FEB909602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65760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2</a:t>
              </a:r>
            </a:p>
          </p:txBody>
        </p:sp>
        <p:sp>
          <p:nvSpPr>
            <p:cNvPr id="729094" name="Rectangle 6">
              <a:extLst>
                <a:ext uri="{FF2B5EF4-FFF2-40B4-BE49-F238E27FC236}">
                  <a16:creationId xmlns:a16="http://schemas.microsoft.com/office/drawing/2014/main" id="{829F7078-F8C9-44CD-B767-B5F317E02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8789" y="365760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095" name="Oval 7">
              <a:extLst>
                <a:ext uri="{FF2B5EF4-FFF2-40B4-BE49-F238E27FC236}">
                  <a16:creationId xmlns:a16="http://schemas.microsoft.com/office/drawing/2014/main" id="{9E56CEFD-7090-478C-B62C-5BC547745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4038" y="375285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103" name="AutoShape 15">
              <a:extLst>
                <a:ext uri="{FF2B5EF4-FFF2-40B4-BE49-F238E27FC236}">
                  <a16:creationId xmlns:a16="http://schemas.microsoft.com/office/drawing/2014/main" id="{416EFEC9-EDC7-48BF-A189-B9A4A3CE9276}"/>
                </a:ext>
              </a:extLst>
            </p:cNvPr>
            <p:cNvCxnSpPr>
              <a:cxnSpLocks noChangeShapeType="1"/>
              <a:stCxn id="729095" idx="6"/>
            </p:cNvCxnSpPr>
            <p:nvPr/>
          </p:nvCxnSpPr>
          <p:spPr bwMode="auto">
            <a:xfrm>
              <a:off x="6967539" y="3786188"/>
              <a:ext cx="4794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104" name="Rectangle 16">
              <a:extLst>
                <a:ext uri="{FF2B5EF4-FFF2-40B4-BE49-F238E27FC236}">
                  <a16:creationId xmlns:a16="http://schemas.microsoft.com/office/drawing/2014/main" id="{368705D8-2A83-44E6-A091-3434A6372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1075" y="365760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3</a:t>
              </a:r>
            </a:p>
          </p:txBody>
        </p:sp>
        <p:sp>
          <p:nvSpPr>
            <p:cNvPr id="729105" name="Rectangle 17">
              <a:extLst>
                <a:ext uri="{FF2B5EF4-FFF2-40B4-BE49-F238E27FC236}">
                  <a16:creationId xmlns:a16="http://schemas.microsoft.com/office/drawing/2014/main" id="{C2291A9A-B692-4557-845B-CEA2378D4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6664" y="365760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106" name="Oval 18">
              <a:extLst>
                <a:ext uri="{FF2B5EF4-FFF2-40B4-BE49-F238E27FC236}">
                  <a16:creationId xmlns:a16="http://schemas.microsoft.com/office/drawing/2014/main" id="{0B69747B-8604-45F7-854B-1D1AB4A0A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1914" y="3752850"/>
              <a:ext cx="65087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108" name="Rectangle 20">
              <a:extLst>
                <a:ext uri="{FF2B5EF4-FFF2-40B4-BE49-F238E27FC236}">
                  <a16:creationId xmlns:a16="http://schemas.microsoft.com/office/drawing/2014/main" id="{109D6211-6A5D-43AE-95D3-F80077887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3976689"/>
              <a:ext cx="255587" cy="25558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729112" name="Rectangle 24">
              <a:extLst>
                <a:ext uri="{FF2B5EF4-FFF2-40B4-BE49-F238E27FC236}">
                  <a16:creationId xmlns:a16="http://schemas.microsoft.com/office/drawing/2014/main" id="{D1EDDADA-1A4C-4AA5-9F05-FBCF54999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4295775"/>
              <a:ext cx="255587" cy="25558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729116" name="Rectangle 28">
              <a:extLst>
                <a:ext uri="{FF2B5EF4-FFF2-40B4-BE49-F238E27FC236}">
                  <a16:creationId xmlns:a16="http://schemas.microsoft.com/office/drawing/2014/main" id="{7AC54ABB-28F9-4B29-9B8D-7CE316F4F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4614864"/>
              <a:ext cx="255587" cy="25558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4</a:t>
              </a:r>
            </a:p>
          </p:txBody>
        </p:sp>
        <p:sp>
          <p:nvSpPr>
            <p:cNvPr id="729117" name="Rectangle 29">
              <a:extLst>
                <a:ext uri="{FF2B5EF4-FFF2-40B4-BE49-F238E27FC236}">
                  <a16:creationId xmlns:a16="http://schemas.microsoft.com/office/drawing/2014/main" id="{933CFCF7-A35B-4E6D-A943-4F6F98E64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1139" y="46148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29118" name="Rectangle 30">
              <a:extLst>
                <a:ext uri="{FF2B5EF4-FFF2-40B4-BE49-F238E27FC236}">
                  <a16:creationId xmlns:a16="http://schemas.microsoft.com/office/drawing/2014/main" id="{FD4F256C-EB1D-4D46-B767-BC0761EF4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725" y="46148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119" name="Oval 31">
              <a:extLst>
                <a:ext uri="{FF2B5EF4-FFF2-40B4-BE49-F238E27FC236}">
                  <a16:creationId xmlns:a16="http://schemas.microsoft.com/office/drawing/2014/main" id="{EC1C9956-0A05-47B6-9F85-35F37BACA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1975" y="47101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120" name="Rectangle 32">
              <a:extLst>
                <a:ext uri="{FF2B5EF4-FFF2-40B4-BE49-F238E27FC236}">
                  <a16:creationId xmlns:a16="http://schemas.microsoft.com/office/drawing/2014/main" id="{DCF3BEA8-456D-4674-9705-015BEDE85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250" y="46148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5</a:t>
              </a:r>
            </a:p>
          </p:txBody>
        </p:sp>
        <p:sp>
          <p:nvSpPr>
            <p:cNvPr id="729121" name="Rectangle 33">
              <a:extLst>
                <a:ext uri="{FF2B5EF4-FFF2-40B4-BE49-F238E27FC236}">
                  <a16:creationId xmlns:a16="http://schemas.microsoft.com/office/drawing/2014/main" id="{86AFA879-04B0-49DC-A237-6DAAA68E2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839" y="46148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122" name="Oval 34">
              <a:extLst>
                <a:ext uri="{FF2B5EF4-FFF2-40B4-BE49-F238E27FC236}">
                  <a16:creationId xmlns:a16="http://schemas.microsoft.com/office/drawing/2014/main" id="{2D931E0A-75AC-4AB2-B229-A8AE8DB26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5088" y="47101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123" name="AutoShape 35">
              <a:extLst>
                <a:ext uri="{FF2B5EF4-FFF2-40B4-BE49-F238E27FC236}">
                  <a16:creationId xmlns:a16="http://schemas.microsoft.com/office/drawing/2014/main" id="{4DC52FF1-A267-467A-813B-D37756A769FB}"/>
                </a:ext>
              </a:extLst>
            </p:cNvPr>
            <p:cNvCxnSpPr>
              <a:cxnSpLocks noChangeShapeType="1"/>
              <a:stCxn id="729119" idx="6"/>
              <a:endCxn id="729120" idx="1"/>
            </p:cNvCxnSpPr>
            <p:nvPr/>
          </p:nvCxnSpPr>
          <p:spPr bwMode="auto">
            <a:xfrm>
              <a:off x="6975476" y="4743450"/>
              <a:ext cx="358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124" name="Rectangle 36">
              <a:extLst>
                <a:ext uri="{FF2B5EF4-FFF2-40B4-BE49-F238E27FC236}">
                  <a16:creationId xmlns:a16="http://schemas.microsoft.com/office/drawing/2014/main" id="{7C5644D9-2B4D-4A90-AEBB-50ECF9B69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4933950"/>
              <a:ext cx="255587" cy="25558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5</a:t>
              </a:r>
            </a:p>
          </p:txBody>
        </p:sp>
        <p:sp>
          <p:nvSpPr>
            <p:cNvPr id="729136" name="Rectangle 48">
              <a:extLst>
                <a:ext uri="{FF2B5EF4-FFF2-40B4-BE49-F238E27FC236}">
                  <a16:creationId xmlns:a16="http://schemas.microsoft.com/office/drawing/2014/main" id="{26015013-15E4-42A8-8066-EA631FBA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5260975"/>
              <a:ext cx="255587" cy="25558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6</a:t>
              </a:r>
            </a:p>
          </p:txBody>
        </p:sp>
        <p:sp>
          <p:nvSpPr>
            <p:cNvPr id="729148" name="Rectangle 60">
              <a:extLst>
                <a:ext uri="{FF2B5EF4-FFF2-40B4-BE49-F238E27FC236}">
                  <a16:creationId xmlns:a16="http://schemas.microsoft.com/office/drawing/2014/main" id="{51616DD5-B4CE-41D8-95F5-0D3F50792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5572125"/>
              <a:ext cx="255587" cy="25558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7</a:t>
              </a:r>
            </a:p>
          </p:txBody>
        </p:sp>
        <p:sp>
          <p:nvSpPr>
            <p:cNvPr id="729149" name="Rectangle 61">
              <a:extLst>
                <a:ext uri="{FF2B5EF4-FFF2-40B4-BE49-F238E27FC236}">
                  <a16:creationId xmlns:a16="http://schemas.microsoft.com/office/drawing/2014/main" id="{CED3F09E-1ECC-42CC-9F6C-647691C9B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1139" y="557212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3</a:t>
              </a:r>
            </a:p>
          </p:txBody>
        </p:sp>
        <p:sp>
          <p:nvSpPr>
            <p:cNvPr id="729150" name="Rectangle 62">
              <a:extLst>
                <a:ext uri="{FF2B5EF4-FFF2-40B4-BE49-F238E27FC236}">
                  <a16:creationId xmlns:a16="http://schemas.microsoft.com/office/drawing/2014/main" id="{D43C8B7A-3874-4D30-B74B-0E7AF8948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725" y="55721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151" name="Oval 63">
              <a:extLst>
                <a:ext uri="{FF2B5EF4-FFF2-40B4-BE49-F238E27FC236}">
                  <a16:creationId xmlns:a16="http://schemas.microsoft.com/office/drawing/2014/main" id="{12F8AE1C-0389-4C81-9D6B-FF75DCC81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1975" y="5667375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152" name="Rectangle 64">
              <a:extLst>
                <a:ext uri="{FF2B5EF4-FFF2-40B4-BE49-F238E27FC236}">
                  <a16:creationId xmlns:a16="http://schemas.microsoft.com/office/drawing/2014/main" id="{0A33965F-03E5-49CB-B1D8-633186FD4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4250" y="55721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8</a:t>
              </a:r>
            </a:p>
          </p:txBody>
        </p:sp>
        <p:sp>
          <p:nvSpPr>
            <p:cNvPr id="729153" name="Rectangle 65">
              <a:extLst>
                <a:ext uri="{FF2B5EF4-FFF2-40B4-BE49-F238E27FC236}">
                  <a16:creationId xmlns:a16="http://schemas.microsoft.com/office/drawing/2014/main" id="{BB38D72D-638F-4CC1-8444-7817302C8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839" y="557212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154" name="Oval 66">
              <a:extLst>
                <a:ext uri="{FF2B5EF4-FFF2-40B4-BE49-F238E27FC236}">
                  <a16:creationId xmlns:a16="http://schemas.microsoft.com/office/drawing/2014/main" id="{A0CF3E1F-C29E-4305-ABA9-C6774D0F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5088" y="5667375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155" name="AutoShape 67">
              <a:extLst>
                <a:ext uri="{FF2B5EF4-FFF2-40B4-BE49-F238E27FC236}">
                  <a16:creationId xmlns:a16="http://schemas.microsoft.com/office/drawing/2014/main" id="{EC26AF49-FE48-4F3E-8AB8-40F2ECD05440}"/>
                </a:ext>
              </a:extLst>
            </p:cNvPr>
            <p:cNvCxnSpPr>
              <a:cxnSpLocks noChangeShapeType="1"/>
              <a:stCxn id="729151" idx="6"/>
              <a:endCxn id="729152" idx="1"/>
            </p:cNvCxnSpPr>
            <p:nvPr/>
          </p:nvCxnSpPr>
          <p:spPr bwMode="auto">
            <a:xfrm>
              <a:off x="6975476" y="5700713"/>
              <a:ext cx="358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156" name="Rectangle 68">
              <a:extLst>
                <a:ext uri="{FF2B5EF4-FFF2-40B4-BE49-F238E27FC236}">
                  <a16:creationId xmlns:a16="http://schemas.microsoft.com/office/drawing/2014/main" id="{B74EAC0B-BC8B-4495-8EC3-086ECBAAA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8864" y="5891214"/>
              <a:ext cx="255587" cy="25558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hlink"/>
                  </a:solidFill>
                </a:rPr>
                <a:t>8</a:t>
              </a:r>
            </a:p>
          </p:txBody>
        </p:sp>
        <p:sp>
          <p:nvSpPr>
            <p:cNvPr id="729224" name="Rectangle 136">
              <a:extLst>
                <a:ext uri="{FF2B5EF4-FFF2-40B4-BE49-F238E27FC236}">
                  <a16:creationId xmlns:a16="http://schemas.microsoft.com/office/drawing/2014/main" id="{3785ADFB-7E89-4D41-827A-535A8B1E2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7964" y="397192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1</a:t>
              </a:r>
            </a:p>
          </p:txBody>
        </p:sp>
        <p:sp>
          <p:nvSpPr>
            <p:cNvPr id="729225" name="Rectangle 137">
              <a:extLst>
                <a:ext uri="{FF2B5EF4-FFF2-40B4-BE49-F238E27FC236}">
                  <a16:creationId xmlns:a16="http://schemas.microsoft.com/office/drawing/2014/main" id="{DF0C507F-4B86-43D5-9DE7-DB2860C63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3550" y="39719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26" name="Oval 138">
              <a:extLst>
                <a:ext uri="{FF2B5EF4-FFF2-40B4-BE49-F238E27FC236}">
                  <a16:creationId xmlns:a16="http://schemas.microsoft.com/office/drawing/2014/main" id="{B99174A3-0080-42D8-B067-94E8BEDC8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8800" y="4067175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27" name="Rectangle 139">
              <a:extLst>
                <a:ext uri="{FF2B5EF4-FFF2-40B4-BE49-F238E27FC236}">
                  <a16:creationId xmlns:a16="http://schemas.microsoft.com/office/drawing/2014/main" id="{95676C7E-E266-4078-94E2-EE48556B8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1075" y="39719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3</a:t>
              </a:r>
            </a:p>
          </p:txBody>
        </p:sp>
        <p:sp>
          <p:nvSpPr>
            <p:cNvPr id="729228" name="Rectangle 140">
              <a:extLst>
                <a:ext uri="{FF2B5EF4-FFF2-40B4-BE49-F238E27FC236}">
                  <a16:creationId xmlns:a16="http://schemas.microsoft.com/office/drawing/2014/main" id="{E5619724-688F-40C6-81B7-BCB8C4893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6664" y="3971925"/>
              <a:ext cx="26193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29" name="Oval 141">
              <a:extLst>
                <a:ext uri="{FF2B5EF4-FFF2-40B4-BE49-F238E27FC236}">
                  <a16:creationId xmlns:a16="http://schemas.microsoft.com/office/drawing/2014/main" id="{8444E343-0CA3-477C-91E7-2FE04C581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1913" y="4067175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30" name="Rectangle 142">
              <a:extLst>
                <a:ext uri="{FF2B5EF4-FFF2-40B4-BE49-F238E27FC236}">
                  <a16:creationId xmlns:a16="http://schemas.microsoft.com/office/drawing/2014/main" id="{B8CF9AA5-847F-482F-969B-4A1D2F5C0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6889" y="397192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29231" name="Rectangle 143">
              <a:extLst>
                <a:ext uri="{FF2B5EF4-FFF2-40B4-BE49-F238E27FC236}">
                  <a16:creationId xmlns:a16="http://schemas.microsoft.com/office/drawing/2014/main" id="{A530157C-0008-4A03-BB9D-13F788A06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475" y="39719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32" name="Oval 144">
              <a:extLst>
                <a:ext uri="{FF2B5EF4-FFF2-40B4-BE49-F238E27FC236}">
                  <a16:creationId xmlns:a16="http://schemas.microsoft.com/office/drawing/2014/main" id="{22268FA7-04C3-4880-9808-A0E67AE3B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7725" y="4067175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33" name="AutoShape 145">
              <a:extLst>
                <a:ext uri="{FF2B5EF4-FFF2-40B4-BE49-F238E27FC236}">
                  <a16:creationId xmlns:a16="http://schemas.microsoft.com/office/drawing/2014/main" id="{D1B4415E-DA29-4C44-B5FD-44741E914D1C}"/>
                </a:ext>
              </a:extLst>
            </p:cNvPr>
            <p:cNvCxnSpPr>
              <a:cxnSpLocks noChangeShapeType="1"/>
              <a:stCxn id="729229" idx="6"/>
              <a:endCxn id="729230" idx="1"/>
            </p:cNvCxnSpPr>
            <p:nvPr/>
          </p:nvCxnSpPr>
          <p:spPr bwMode="auto">
            <a:xfrm>
              <a:off x="7745414" y="4100513"/>
              <a:ext cx="3714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29234" name="AutoShape 146">
              <a:extLst>
                <a:ext uri="{FF2B5EF4-FFF2-40B4-BE49-F238E27FC236}">
                  <a16:creationId xmlns:a16="http://schemas.microsoft.com/office/drawing/2014/main" id="{084496CE-DE94-4A90-A301-9665385A0C78}"/>
                </a:ext>
              </a:extLst>
            </p:cNvPr>
            <p:cNvCxnSpPr>
              <a:cxnSpLocks noChangeShapeType="1"/>
              <a:stCxn id="729226" idx="6"/>
              <a:endCxn id="729227" idx="1"/>
            </p:cNvCxnSpPr>
            <p:nvPr/>
          </p:nvCxnSpPr>
          <p:spPr bwMode="auto">
            <a:xfrm>
              <a:off x="6972301" y="4100513"/>
              <a:ext cx="358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35" name="Rectangle 147">
              <a:extLst>
                <a:ext uri="{FF2B5EF4-FFF2-40B4-BE49-F238E27FC236}">
                  <a16:creationId xmlns:a16="http://schemas.microsoft.com/office/drawing/2014/main" id="{8470933F-C362-4F9F-B9D1-6729F5548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9839" y="397192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5</a:t>
              </a:r>
            </a:p>
          </p:txBody>
        </p:sp>
        <p:sp>
          <p:nvSpPr>
            <p:cNvPr id="729236" name="Rectangle 148">
              <a:extLst>
                <a:ext uri="{FF2B5EF4-FFF2-40B4-BE49-F238E27FC236}">
                  <a16:creationId xmlns:a16="http://schemas.microsoft.com/office/drawing/2014/main" id="{0C969198-D80E-475C-B019-61505BB14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5425" y="397192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37" name="Oval 149">
              <a:extLst>
                <a:ext uri="{FF2B5EF4-FFF2-40B4-BE49-F238E27FC236}">
                  <a16:creationId xmlns:a16="http://schemas.microsoft.com/office/drawing/2014/main" id="{9570448A-629C-44EF-8EC5-58BA371AB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067175"/>
              <a:ext cx="65088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38" name="AutoShape 150">
              <a:extLst>
                <a:ext uri="{FF2B5EF4-FFF2-40B4-BE49-F238E27FC236}">
                  <a16:creationId xmlns:a16="http://schemas.microsoft.com/office/drawing/2014/main" id="{0D21EA9F-64E0-49ED-B269-A2A986AC6625}"/>
                </a:ext>
              </a:extLst>
            </p:cNvPr>
            <p:cNvCxnSpPr>
              <a:cxnSpLocks noChangeShapeType="1"/>
              <a:stCxn id="729232" idx="6"/>
              <a:endCxn id="729235" idx="1"/>
            </p:cNvCxnSpPr>
            <p:nvPr/>
          </p:nvCxnSpPr>
          <p:spPr bwMode="auto">
            <a:xfrm>
              <a:off x="8531226" y="4100513"/>
              <a:ext cx="32861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39" name="Rectangle 151">
              <a:extLst>
                <a:ext uri="{FF2B5EF4-FFF2-40B4-BE49-F238E27FC236}">
                  <a16:creationId xmlns:a16="http://schemas.microsoft.com/office/drawing/2014/main" id="{A8B9FC81-1F59-4D96-A095-E3A8BCD1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7964" y="429260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1</a:t>
              </a:r>
            </a:p>
          </p:txBody>
        </p:sp>
        <p:sp>
          <p:nvSpPr>
            <p:cNvPr id="729240" name="Rectangle 152">
              <a:extLst>
                <a:ext uri="{FF2B5EF4-FFF2-40B4-BE49-F238E27FC236}">
                  <a16:creationId xmlns:a16="http://schemas.microsoft.com/office/drawing/2014/main" id="{5DFC4E54-AEE3-4660-AACB-81B282B6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3550" y="429260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41" name="Oval 153">
              <a:extLst>
                <a:ext uri="{FF2B5EF4-FFF2-40B4-BE49-F238E27FC236}">
                  <a16:creationId xmlns:a16="http://schemas.microsoft.com/office/drawing/2014/main" id="{DC6F9535-2D3A-4EE4-B8ED-0F1621EF5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8800" y="438785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42" name="Rectangle 154">
              <a:extLst>
                <a:ext uri="{FF2B5EF4-FFF2-40B4-BE49-F238E27FC236}">
                  <a16:creationId xmlns:a16="http://schemas.microsoft.com/office/drawing/2014/main" id="{F12AA045-1C8B-4A56-AF35-ECD1A4F9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1075" y="429260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2</a:t>
              </a:r>
            </a:p>
          </p:txBody>
        </p:sp>
        <p:sp>
          <p:nvSpPr>
            <p:cNvPr id="729243" name="Rectangle 155">
              <a:extLst>
                <a:ext uri="{FF2B5EF4-FFF2-40B4-BE49-F238E27FC236}">
                  <a16:creationId xmlns:a16="http://schemas.microsoft.com/office/drawing/2014/main" id="{081382F5-5E49-41E6-8480-EF8AE12FD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6664" y="429260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44" name="Oval 156">
              <a:extLst>
                <a:ext uri="{FF2B5EF4-FFF2-40B4-BE49-F238E27FC236}">
                  <a16:creationId xmlns:a16="http://schemas.microsoft.com/office/drawing/2014/main" id="{0654A43A-1A12-4CA9-B44B-D75260DF3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1913" y="438785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45" name="Rectangle 157">
              <a:extLst>
                <a:ext uri="{FF2B5EF4-FFF2-40B4-BE49-F238E27FC236}">
                  <a16:creationId xmlns:a16="http://schemas.microsoft.com/office/drawing/2014/main" id="{E79311D5-9DBE-47FC-A40D-3B4CE131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6889" y="429260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5</a:t>
              </a:r>
            </a:p>
          </p:txBody>
        </p:sp>
        <p:sp>
          <p:nvSpPr>
            <p:cNvPr id="729246" name="Rectangle 158">
              <a:extLst>
                <a:ext uri="{FF2B5EF4-FFF2-40B4-BE49-F238E27FC236}">
                  <a16:creationId xmlns:a16="http://schemas.microsoft.com/office/drawing/2014/main" id="{247F601E-8C4C-4105-B9F9-2D2BDBB52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2475" y="429260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47" name="Oval 159">
              <a:extLst>
                <a:ext uri="{FF2B5EF4-FFF2-40B4-BE49-F238E27FC236}">
                  <a16:creationId xmlns:a16="http://schemas.microsoft.com/office/drawing/2014/main" id="{C54934BA-4E44-4F86-A9D9-26F9D2ACA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7725" y="438785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48" name="AutoShape 160">
              <a:extLst>
                <a:ext uri="{FF2B5EF4-FFF2-40B4-BE49-F238E27FC236}">
                  <a16:creationId xmlns:a16="http://schemas.microsoft.com/office/drawing/2014/main" id="{9E7942DD-A391-4038-8423-AB76392F4C88}"/>
                </a:ext>
              </a:extLst>
            </p:cNvPr>
            <p:cNvCxnSpPr>
              <a:cxnSpLocks noChangeShapeType="1"/>
              <a:stCxn id="729244" idx="6"/>
              <a:endCxn id="729245" idx="1"/>
            </p:cNvCxnSpPr>
            <p:nvPr/>
          </p:nvCxnSpPr>
          <p:spPr bwMode="auto">
            <a:xfrm>
              <a:off x="7745414" y="4421188"/>
              <a:ext cx="3714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29249" name="AutoShape 161">
              <a:extLst>
                <a:ext uri="{FF2B5EF4-FFF2-40B4-BE49-F238E27FC236}">
                  <a16:creationId xmlns:a16="http://schemas.microsoft.com/office/drawing/2014/main" id="{0D723BE3-E4CF-49ED-B03C-9B6063F91619}"/>
                </a:ext>
              </a:extLst>
            </p:cNvPr>
            <p:cNvCxnSpPr>
              <a:cxnSpLocks noChangeShapeType="1"/>
              <a:stCxn id="729241" idx="6"/>
              <a:endCxn id="729242" idx="1"/>
            </p:cNvCxnSpPr>
            <p:nvPr/>
          </p:nvCxnSpPr>
          <p:spPr bwMode="auto">
            <a:xfrm>
              <a:off x="6972301" y="4421188"/>
              <a:ext cx="35877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29253" name="AutoShape 165">
              <a:extLst>
                <a:ext uri="{FF2B5EF4-FFF2-40B4-BE49-F238E27FC236}">
                  <a16:creationId xmlns:a16="http://schemas.microsoft.com/office/drawing/2014/main" id="{D2121310-D68A-4F4D-BA06-256BDE660F43}"/>
                </a:ext>
              </a:extLst>
            </p:cNvPr>
            <p:cNvCxnSpPr>
              <a:cxnSpLocks noChangeShapeType="1"/>
              <a:stCxn id="729247" idx="6"/>
            </p:cNvCxnSpPr>
            <p:nvPr/>
          </p:nvCxnSpPr>
          <p:spPr bwMode="auto">
            <a:xfrm>
              <a:off x="8531226" y="4421188"/>
              <a:ext cx="47942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54" name="Rectangle 166">
              <a:extLst>
                <a:ext uri="{FF2B5EF4-FFF2-40B4-BE49-F238E27FC236}">
                  <a16:creationId xmlns:a16="http://schemas.microsoft.com/office/drawing/2014/main" id="{813E4FBD-E669-44BC-B72D-EB27075F5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9" y="4283075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8</a:t>
              </a:r>
            </a:p>
          </p:txBody>
        </p:sp>
        <p:sp>
          <p:nvSpPr>
            <p:cNvPr id="729255" name="Rectangle 167">
              <a:extLst>
                <a:ext uri="{FF2B5EF4-FFF2-40B4-BE49-F238E27FC236}">
                  <a16:creationId xmlns:a16="http://schemas.microsoft.com/office/drawing/2014/main" id="{D61D08F5-3B90-4D99-925C-2DFD62F8F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2825" y="4283075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56" name="Oval 168">
              <a:extLst>
                <a:ext uri="{FF2B5EF4-FFF2-40B4-BE49-F238E27FC236}">
                  <a16:creationId xmlns:a16="http://schemas.microsoft.com/office/drawing/2014/main" id="{02EE1202-1980-45D2-A652-FD1C180F7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8075" y="4378325"/>
              <a:ext cx="65088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57" name="AutoShape 169">
              <a:extLst>
                <a:ext uri="{FF2B5EF4-FFF2-40B4-BE49-F238E27FC236}">
                  <a16:creationId xmlns:a16="http://schemas.microsoft.com/office/drawing/2014/main" id="{1CE62D84-C954-4DF8-B54D-CD4DBB679EB7}"/>
                </a:ext>
              </a:extLst>
            </p:cNvPr>
            <p:cNvCxnSpPr>
              <a:cxnSpLocks noChangeShapeType="1"/>
              <a:stCxn id="729260" idx="3"/>
              <a:endCxn id="729254" idx="1"/>
            </p:cNvCxnSpPr>
            <p:nvPr/>
          </p:nvCxnSpPr>
          <p:spPr bwMode="auto">
            <a:xfrm flipV="1">
              <a:off x="9371014" y="4411663"/>
              <a:ext cx="276225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58" name="Rectangle 170">
              <a:extLst>
                <a:ext uri="{FF2B5EF4-FFF2-40B4-BE49-F238E27FC236}">
                  <a16:creationId xmlns:a16="http://schemas.microsoft.com/office/drawing/2014/main" id="{70A5227F-D613-446F-A90E-A0737B2EB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6" y="4267201"/>
              <a:ext cx="186013" cy="277641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endParaRPr lang="en-US" altLang="en-US" sz="1200"/>
            </a:p>
          </p:txBody>
        </p:sp>
        <p:sp>
          <p:nvSpPr>
            <p:cNvPr id="729259" name="Rectangle 171">
              <a:extLst>
                <a:ext uri="{FF2B5EF4-FFF2-40B4-BE49-F238E27FC236}">
                  <a16:creationId xmlns:a16="http://schemas.microsoft.com/office/drawing/2014/main" id="{64E300B1-C79A-4E71-8C07-DD6E310E4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9839" y="4287839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7</a:t>
              </a:r>
            </a:p>
          </p:txBody>
        </p:sp>
        <p:sp>
          <p:nvSpPr>
            <p:cNvPr id="729260" name="Rectangle 172">
              <a:extLst>
                <a:ext uri="{FF2B5EF4-FFF2-40B4-BE49-F238E27FC236}">
                  <a16:creationId xmlns:a16="http://schemas.microsoft.com/office/drawing/2014/main" id="{1C5FB933-7FAA-43D7-81E2-87D3E595A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5425" y="4287839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61" name="Oval 173">
              <a:extLst>
                <a:ext uri="{FF2B5EF4-FFF2-40B4-BE49-F238E27FC236}">
                  <a16:creationId xmlns:a16="http://schemas.microsoft.com/office/drawing/2014/main" id="{96E9509C-D5F4-417F-A3B8-93BF48621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383089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63" name="Rectangle 175">
              <a:extLst>
                <a:ext uri="{FF2B5EF4-FFF2-40B4-BE49-F238E27FC236}">
                  <a16:creationId xmlns:a16="http://schemas.microsoft.com/office/drawing/2014/main" id="{E99AD6B8-B3AD-4D5C-A019-7FD674A77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375" y="49323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2</a:t>
              </a:r>
            </a:p>
          </p:txBody>
        </p:sp>
        <p:sp>
          <p:nvSpPr>
            <p:cNvPr id="729264" name="Rectangle 176">
              <a:extLst>
                <a:ext uri="{FF2B5EF4-FFF2-40B4-BE49-F238E27FC236}">
                  <a16:creationId xmlns:a16="http://schemas.microsoft.com/office/drawing/2014/main" id="{C30A8CFB-2664-4123-A9EC-D6E502FF1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1964" y="49323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65" name="Oval 177">
              <a:extLst>
                <a:ext uri="{FF2B5EF4-FFF2-40B4-BE49-F238E27FC236}">
                  <a16:creationId xmlns:a16="http://schemas.microsoft.com/office/drawing/2014/main" id="{5801EA00-3736-4AD3-81C6-6CBB19D84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7213" y="50276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66" name="Rectangle 178">
              <a:extLst>
                <a:ext uri="{FF2B5EF4-FFF2-40B4-BE49-F238E27FC236}">
                  <a16:creationId xmlns:a16="http://schemas.microsoft.com/office/drawing/2014/main" id="{2C8756B5-61FC-4023-A25B-A2E039DA5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9014" y="49323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3</a:t>
              </a:r>
            </a:p>
          </p:txBody>
        </p:sp>
        <p:sp>
          <p:nvSpPr>
            <p:cNvPr id="729267" name="Rectangle 179">
              <a:extLst>
                <a:ext uri="{FF2B5EF4-FFF2-40B4-BE49-F238E27FC236}">
                  <a16:creationId xmlns:a16="http://schemas.microsoft.com/office/drawing/2014/main" id="{51B49B68-DDC1-466F-AE03-40BA3DBDD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4600" y="4932364"/>
              <a:ext cx="254000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68" name="Oval 180">
              <a:extLst>
                <a:ext uri="{FF2B5EF4-FFF2-40B4-BE49-F238E27FC236}">
                  <a16:creationId xmlns:a16="http://schemas.microsoft.com/office/drawing/2014/main" id="{8A4D5B80-9B92-4F0A-9EF9-3FA67AC88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9850" y="50276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69" name="Rectangle 181">
              <a:extLst>
                <a:ext uri="{FF2B5EF4-FFF2-40B4-BE49-F238E27FC236}">
                  <a16:creationId xmlns:a16="http://schemas.microsoft.com/office/drawing/2014/main" id="{41E5517C-23AD-4C7D-AB8B-885E0D954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9323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4</a:t>
              </a:r>
            </a:p>
          </p:txBody>
        </p:sp>
        <p:sp>
          <p:nvSpPr>
            <p:cNvPr id="729270" name="Rectangle 182">
              <a:extLst>
                <a:ext uri="{FF2B5EF4-FFF2-40B4-BE49-F238E27FC236}">
                  <a16:creationId xmlns:a16="http://schemas.microsoft.com/office/drawing/2014/main" id="{B25303FB-C46F-4129-87EC-256801BB1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0889" y="49323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71" name="Oval 183">
              <a:extLst>
                <a:ext uri="{FF2B5EF4-FFF2-40B4-BE49-F238E27FC236}">
                  <a16:creationId xmlns:a16="http://schemas.microsoft.com/office/drawing/2014/main" id="{A622DB6F-CB09-48CB-96EF-7B56907B5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6138" y="50276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72" name="AutoShape 184">
              <a:extLst>
                <a:ext uri="{FF2B5EF4-FFF2-40B4-BE49-F238E27FC236}">
                  <a16:creationId xmlns:a16="http://schemas.microsoft.com/office/drawing/2014/main" id="{6DA49A2F-6E13-4DC3-8FE7-58386ECC6580}"/>
                </a:ext>
              </a:extLst>
            </p:cNvPr>
            <p:cNvCxnSpPr>
              <a:cxnSpLocks noChangeShapeType="1"/>
              <a:stCxn id="729268" idx="6"/>
              <a:endCxn id="729269" idx="1"/>
            </p:cNvCxnSpPr>
            <p:nvPr/>
          </p:nvCxnSpPr>
          <p:spPr bwMode="auto">
            <a:xfrm>
              <a:off x="7753350" y="5060950"/>
              <a:ext cx="3619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29273" name="AutoShape 185">
              <a:extLst>
                <a:ext uri="{FF2B5EF4-FFF2-40B4-BE49-F238E27FC236}">
                  <a16:creationId xmlns:a16="http://schemas.microsoft.com/office/drawing/2014/main" id="{A6C1D0AF-6377-4FB2-8BB0-98074BE8DA8B}"/>
                </a:ext>
              </a:extLst>
            </p:cNvPr>
            <p:cNvCxnSpPr>
              <a:cxnSpLocks noChangeShapeType="1"/>
              <a:stCxn id="729265" idx="6"/>
              <a:endCxn id="729266" idx="1"/>
            </p:cNvCxnSpPr>
            <p:nvPr/>
          </p:nvCxnSpPr>
          <p:spPr bwMode="auto">
            <a:xfrm>
              <a:off x="6970713" y="5060950"/>
              <a:ext cx="3683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74" name="Rectangle 186">
              <a:extLst>
                <a:ext uri="{FF2B5EF4-FFF2-40B4-BE49-F238E27FC236}">
                  <a16:creationId xmlns:a16="http://schemas.microsoft.com/office/drawing/2014/main" id="{815C5972-FE2C-4C72-875F-8332937B3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8250" y="49323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6</a:t>
              </a:r>
            </a:p>
          </p:txBody>
        </p:sp>
        <p:sp>
          <p:nvSpPr>
            <p:cNvPr id="729275" name="Rectangle 187">
              <a:extLst>
                <a:ext uri="{FF2B5EF4-FFF2-40B4-BE49-F238E27FC236}">
                  <a16:creationId xmlns:a16="http://schemas.microsoft.com/office/drawing/2014/main" id="{0214B6E5-3B87-4566-9255-38319E4FF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3839" y="49323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76" name="Oval 188">
              <a:extLst>
                <a:ext uri="{FF2B5EF4-FFF2-40B4-BE49-F238E27FC236}">
                  <a16:creationId xmlns:a16="http://schemas.microsoft.com/office/drawing/2014/main" id="{9F2398EA-8624-4176-B0EC-06B94D5DE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9089" y="5027614"/>
              <a:ext cx="65087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77" name="AutoShape 189">
              <a:extLst>
                <a:ext uri="{FF2B5EF4-FFF2-40B4-BE49-F238E27FC236}">
                  <a16:creationId xmlns:a16="http://schemas.microsoft.com/office/drawing/2014/main" id="{6CA933AE-32AD-437A-A6EF-CC5F460B3AB5}"/>
                </a:ext>
              </a:extLst>
            </p:cNvPr>
            <p:cNvCxnSpPr>
              <a:cxnSpLocks noChangeShapeType="1"/>
              <a:stCxn id="729271" idx="6"/>
              <a:endCxn id="729274" idx="1"/>
            </p:cNvCxnSpPr>
            <p:nvPr/>
          </p:nvCxnSpPr>
          <p:spPr bwMode="auto">
            <a:xfrm>
              <a:off x="8529638" y="5060950"/>
              <a:ext cx="32861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29278" name="Rectangle 190">
              <a:extLst>
                <a:ext uri="{FF2B5EF4-FFF2-40B4-BE49-F238E27FC236}">
                  <a16:creationId xmlns:a16="http://schemas.microsoft.com/office/drawing/2014/main" id="{A5687466-1586-4733-A8DE-0A7463791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1139" y="5249864"/>
              <a:ext cx="255587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5</a:t>
              </a:r>
            </a:p>
          </p:txBody>
        </p:sp>
        <p:sp>
          <p:nvSpPr>
            <p:cNvPr id="729279" name="Rectangle 191">
              <a:extLst>
                <a:ext uri="{FF2B5EF4-FFF2-40B4-BE49-F238E27FC236}">
                  <a16:creationId xmlns:a16="http://schemas.microsoft.com/office/drawing/2014/main" id="{8AF3B26B-B200-4578-8E2C-9B76B122A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725" y="5249864"/>
              <a:ext cx="255588" cy="25558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80" name="Oval 192">
              <a:extLst>
                <a:ext uri="{FF2B5EF4-FFF2-40B4-BE49-F238E27FC236}">
                  <a16:creationId xmlns:a16="http://schemas.microsoft.com/office/drawing/2014/main" id="{7BAFAC01-606F-4B7E-B14A-15FEC3735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1975" y="5345114"/>
              <a:ext cx="63500" cy="65087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91" name="Rectangle 203">
              <a:extLst>
                <a:ext uri="{FF2B5EF4-FFF2-40B4-BE49-F238E27FC236}">
                  <a16:creationId xmlns:a16="http://schemas.microsoft.com/office/drawing/2014/main" id="{33F0AE1D-85A8-4030-8701-841829BF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4789" y="589915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3</a:t>
              </a:r>
            </a:p>
          </p:txBody>
        </p:sp>
        <p:sp>
          <p:nvSpPr>
            <p:cNvPr id="729292" name="Rectangle 204">
              <a:extLst>
                <a:ext uri="{FF2B5EF4-FFF2-40B4-BE49-F238E27FC236}">
                  <a16:creationId xmlns:a16="http://schemas.microsoft.com/office/drawing/2014/main" id="{E0D072C3-4EE7-4EC0-8BF4-D48D92E15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0375" y="589915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93" name="Oval 205">
              <a:extLst>
                <a:ext uri="{FF2B5EF4-FFF2-40B4-BE49-F238E27FC236}">
                  <a16:creationId xmlns:a16="http://schemas.microsoft.com/office/drawing/2014/main" id="{6B4D488F-1F9A-43CD-8394-EA822ABF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5625" y="599440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729294" name="Rectangle 206">
              <a:extLst>
                <a:ext uri="{FF2B5EF4-FFF2-40B4-BE49-F238E27FC236}">
                  <a16:creationId xmlns:a16="http://schemas.microsoft.com/office/drawing/2014/main" id="{A9D53CA3-860B-46A1-AEF5-9D263106F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5899150"/>
              <a:ext cx="255588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200"/>
                <a:t>7</a:t>
              </a:r>
            </a:p>
          </p:txBody>
        </p:sp>
        <p:sp>
          <p:nvSpPr>
            <p:cNvPr id="729295" name="Rectangle 207">
              <a:extLst>
                <a:ext uri="{FF2B5EF4-FFF2-40B4-BE49-F238E27FC236}">
                  <a16:creationId xmlns:a16="http://schemas.microsoft.com/office/drawing/2014/main" id="{24573133-FF91-43BE-9ACD-1BC9CE052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014" y="5899150"/>
              <a:ext cx="255587" cy="255588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en-US" altLang="en-US" sz="1200"/>
            </a:p>
          </p:txBody>
        </p:sp>
        <p:sp>
          <p:nvSpPr>
            <p:cNvPr id="729296" name="Oval 208">
              <a:extLst>
                <a:ext uri="{FF2B5EF4-FFF2-40B4-BE49-F238E27FC236}">
                  <a16:creationId xmlns:a16="http://schemas.microsoft.com/office/drawing/2014/main" id="{CF156DA0-15A9-4FE8-A458-D0C5D28A8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8263" y="5994400"/>
              <a:ext cx="63500" cy="65088"/>
            </a:xfrm>
            <a:prstGeom prst="ellips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cxnSp>
          <p:nvCxnSpPr>
            <p:cNvPr id="729297" name="AutoShape 209">
              <a:extLst>
                <a:ext uri="{FF2B5EF4-FFF2-40B4-BE49-F238E27FC236}">
                  <a16:creationId xmlns:a16="http://schemas.microsoft.com/office/drawing/2014/main" id="{127B35BB-07DB-4E90-8161-EB6F675D800E}"/>
                </a:ext>
              </a:extLst>
            </p:cNvPr>
            <p:cNvCxnSpPr>
              <a:cxnSpLocks noChangeShapeType="1"/>
              <a:stCxn id="729293" idx="6"/>
              <a:endCxn id="729294" idx="1"/>
            </p:cNvCxnSpPr>
            <p:nvPr/>
          </p:nvCxnSpPr>
          <p:spPr bwMode="auto">
            <a:xfrm>
              <a:off x="6969125" y="6027738"/>
              <a:ext cx="3683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9434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Graphs are useful for representing a wide variety of situations</a:t>
            </a:r>
          </a:p>
          <a:p>
            <a:r>
              <a:rPr lang="en-US" dirty="0"/>
              <a:t>Basic graph terminology: path, cycle, connected component, distance, DAG, trees…</a:t>
            </a:r>
          </a:p>
          <a:p>
            <a:r>
              <a:rPr lang="en-US" dirty="0"/>
              <a:t>There are two main ways to represent graphical data - Adjacency Lists and Adjacency Matrices (which exemplify the pros and cons of linked lists vs. arrays)</a:t>
            </a:r>
          </a:p>
          <a:p>
            <a:r>
              <a:rPr lang="en-US" dirty="0"/>
              <a:t>Main Takeaway: The organization </a:t>
            </a:r>
            <a:r>
              <a:rPr lang="en-US"/>
              <a:t>of graphical </a:t>
            </a:r>
            <a:r>
              <a:rPr lang="en-US" dirty="0"/>
              <a:t>data affects the running time of algorithms. 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1146</Words>
  <Application>Microsoft Office PowerPoint</Application>
  <PresentationFormat>Widescreen</PresentationFormat>
  <Paragraphs>187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Helvetica-Bold</vt:lpstr>
      <vt:lpstr>Calibri</vt:lpstr>
      <vt:lpstr>Courier New</vt:lpstr>
      <vt:lpstr>Helvetica-LightOblique</vt:lpstr>
      <vt:lpstr>Calibri Light</vt:lpstr>
      <vt:lpstr>Arial</vt:lpstr>
      <vt:lpstr>Helvetica-Light</vt:lpstr>
      <vt:lpstr>Office Theme</vt:lpstr>
      <vt:lpstr>Office Theme</vt:lpstr>
      <vt:lpstr>CS5800 – ALGORITHMS  MODULE 5. DATA STRUCTURES &amp; GRAPHS  Lesson 1: Adjacency Matrices &amp; Lists</vt:lpstr>
      <vt:lpstr>Topics</vt:lpstr>
      <vt:lpstr>Undirected &amp; Directed Graphs</vt:lpstr>
      <vt:lpstr>Graphs</vt:lpstr>
      <vt:lpstr>Applications</vt:lpstr>
      <vt:lpstr>Graph Applications and models</vt:lpstr>
      <vt:lpstr>Ecological Food Web</vt:lpstr>
      <vt:lpstr>Paths &amp; Cycles</vt:lpstr>
      <vt:lpstr>Connectivity &amp; Distance</vt:lpstr>
      <vt:lpstr>Trees &amp; Rooted Trees</vt:lpstr>
      <vt:lpstr>Graph Representation:  Adjacency Matrix</vt:lpstr>
      <vt:lpstr>Graph Representation:  Adjacency List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Sundaram, Ravi</cp:lastModifiedBy>
  <cp:revision>15</cp:revision>
  <dcterms:created xsi:type="dcterms:W3CDTF">2019-09-13T03:48:54Z</dcterms:created>
  <dcterms:modified xsi:type="dcterms:W3CDTF">2022-10-09T15:26:03Z</dcterms:modified>
</cp:coreProperties>
</file>