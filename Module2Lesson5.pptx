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5" roundtripDataSignature="AMtx7mgg0az+glT/Myc6hZq1GFm0MiTay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Sulo Turn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0-09-11T19:56:58.090">
    <p:pos x="4848" y="951"/>
    <p:text>Alt text: An illustration shows Alice and Bob with an arrow connecting them to suggest their communication. A second arrow from above connects Alice and Bob's arrow to an illustration of an eavesdropper in a trench coat.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Pgr4R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0-09-11T19:57:50.406">
    <p:pos x="3815" y="2132"/>
    <p:text>Alt text: An illustration of a lock box, padlock, and key.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Pgr4R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0-09-11T19:58:18.925">
    <p:pos x="5029" y="2029"/>
    <p:text>Alt text: An illustration of a lock box, padlock, and key.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Pgr4Rk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0-09-11T20:02:43.261">
    <p:pos x="5318" y="2323"/>
    <p:text>Alt text: An illustration shows Alice labeled as x and Bob labeled as y. Three arrows connect them to suggest their communication. The top arrow pointing to Alice is labeled prime p and generator g. The middle arrow pointing to Bob is labeled g to the x power times mod p. The third arrow pointing to Alice is labeled g to the y power times mod p. A fourth arrow from above connects Alice and Bob's arrows to an illustration of an eavesdropper in a trench coat.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Pgr4S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4.xm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452819" y="1204598"/>
            <a:ext cx="9144000" cy="3843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u="sng"/>
              <a:t>CS5800 – ALGORITHMS</a:t>
            </a:r>
            <a:br>
              <a:rPr lang="en-US" sz="4000"/>
            </a:br>
            <a:br>
              <a:rPr lang="en-US" sz="4000"/>
            </a:br>
            <a:r>
              <a:rPr lang="en-US" sz="4000"/>
              <a:t>MODULE 2. COMPLEXITY </a:t>
            </a:r>
            <a:br>
              <a:rPr lang="en-US" sz="4000"/>
            </a:br>
            <a:r>
              <a:rPr lang="en-US" sz="4000"/>
              <a:t>(AND COMPUTABILITY &amp;</a:t>
            </a:r>
            <a:br>
              <a:rPr lang="en-US" sz="4000"/>
            </a:br>
            <a:r>
              <a:rPr lang="en-US" sz="4000"/>
              <a:t>CRYPTOGRAPHY) </a:t>
            </a:r>
            <a:br>
              <a:rPr lang="en-US" sz="4000"/>
            </a:br>
            <a:br>
              <a:rPr lang="en-US" sz="4000"/>
            </a:br>
            <a:r>
              <a:rPr lang="en-US" sz="4000"/>
              <a:t>Lesson 5: Diffie-Hellman Key Exchange</a:t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452819" y="5688991"/>
            <a:ext cx="9144000" cy="477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/>
              <a:t>Ravi Sundaram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Fundamental problem of secure Internet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Engagement Ring Puzzle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Diffie-Hellman key exchange protocol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Fundamental Problem of Secure Internet</a:t>
            </a: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Alice and Bob wish to communicate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the presence of Eve (eavesdropper)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can they do it?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Historically, they would first meet in private and arrange a codebook </a:t>
            </a:r>
            <a:endParaRPr/>
          </a:p>
        </p:txBody>
      </p:sp>
      <p:pic>
        <p:nvPicPr>
          <p:cNvPr descr="A picture containing stool&#10;&#10;Description automatically generated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7999" y="3261607"/>
            <a:ext cx="1082819" cy="1479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5" name="Google Shape;1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9690" y="3242616"/>
            <a:ext cx="801399" cy="143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person&#10;&#10;Description automatically generated" id="116" name="Google Shape;11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6200" y="1510146"/>
            <a:ext cx="909637" cy="125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6899564" y="3962076"/>
            <a:ext cx="2576945" cy="37439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077099" y="2861432"/>
            <a:ext cx="242556" cy="105128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Engagement Ring Puzzle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Alice and Bob meet over the Internet and fall in love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Bob wants to mail Alice a ring, but anything sent in an unlocked box risks getting stolen.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can Bob send the ring securely?</a:t>
            </a:r>
            <a:endParaRPr/>
          </a:p>
        </p:txBody>
      </p:sp>
      <p:pic>
        <p:nvPicPr>
          <p:cNvPr descr="A close up of a box&#10;&#10;Description automatically generated"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7268" y="3386085"/>
            <a:ext cx="2419981" cy="268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device&#10;&#10;Description automatically generated"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229" y="4794285"/>
            <a:ext cx="2077185" cy="155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Engagement Ring Puzzle - Solution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Bob puts the ring in a box, locks it and sends the locked box to Alice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Alice adds her own lock and sends it back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Bob removes his lock and sends it back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Alice removes her lock and puts on the ring </a:t>
            </a:r>
            <a:endParaRPr/>
          </a:p>
        </p:txBody>
      </p:sp>
      <p:pic>
        <p:nvPicPr>
          <p:cNvPr descr="A close up of a box&#10;&#10;Description automatically generated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626" y="3221822"/>
            <a:ext cx="2419981" cy="268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device&#10;&#10;Description automatically generated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3146" y="4562491"/>
            <a:ext cx="2077185" cy="155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Martin Hellman (Stanford prof) and Whitfield Diffie (PhD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Student) made a revolutionary breakthrough, 1976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Key to the usefulness of the Internet – your browser can communicate securely over public channels with your bank’s web server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Crux of the idea: Modular exponentiation is easy but discrete log is hard i.e., modular exponentiation is one-way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Later, declassified records show it was invented at GCHQ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by Cocks, Ellis and Willamson in 1970.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838199" y="1825625"/>
            <a:ext cx="10862835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Alice and Bob agree on prime p and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380"/>
              <a:t>generator g in public (generator means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380"/>
              <a:t>g mod p, g</a:t>
            </a:r>
            <a:r>
              <a:rPr baseline="30000" lang="en-US" sz="2380"/>
              <a:t>2</a:t>
            </a:r>
            <a:r>
              <a:rPr lang="en-US" sz="2380"/>
              <a:t> mod p, g</a:t>
            </a:r>
            <a:r>
              <a:rPr baseline="30000" lang="en-US" sz="2380"/>
              <a:t>3</a:t>
            </a:r>
            <a:r>
              <a:rPr lang="en-US" sz="2380"/>
              <a:t> mod p etc., 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380"/>
              <a:t>are all different)</a:t>
            </a:r>
            <a:endParaRPr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Alice thinks of a random x  and sends g</a:t>
            </a:r>
            <a:r>
              <a:rPr baseline="30000" lang="en-US" sz="2380"/>
              <a:t>x</a:t>
            </a:r>
            <a:r>
              <a:rPr lang="en-US" sz="2380"/>
              <a:t> (mod p) to Bob, 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Bob thinks of a random y and responds with g</a:t>
            </a:r>
            <a:r>
              <a:rPr baseline="30000" lang="en-US" sz="2380"/>
              <a:t>y</a:t>
            </a:r>
            <a:r>
              <a:rPr lang="en-US" sz="2380"/>
              <a:t> (mod p)</a:t>
            </a:r>
            <a:endParaRPr baseline="30000" sz="238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Note that Alice and Bob can each compute g</a:t>
            </a:r>
            <a:r>
              <a:rPr baseline="30000" lang="en-US" sz="2380"/>
              <a:t>xy</a:t>
            </a:r>
            <a:r>
              <a:rPr lang="en-US" sz="2380"/>
              <a:t> = (g</a:t>
            </a:r>
            <a:r>
              <a:rPr baseline="30000" lang="en-US" sz="2380"/>
              <a:t>x</a:t>
            </a:r>
            <a:r>
              <a:rPr lang="en-US" sz="2380"/>
              <a:t>)</a:t>
            </a:r>
            <a:r>
              <a:rPr baseline="30000" lang="en-US" sz="2380"/>
              <a:t>y</a:t>
            </a:r>
            <a:r>
              <a:rPr lang="en-US" sz="2380"/>
              <a:t> = (g</a:t>
            </a:r>
            <a:r>
              <a:rPr baseline="30000" lang="en-US" sz="2380"/>
              <a:t>y</a:t>
            </a:r>
            <a:r>
              <a:rPr lang="en-US" sz="2380"/>
              <a:t>)</a:t>
            </a:r>
            <a:r>
              <a:rPr baseline="30000" lang="en-US" sz="2380"/>
              <a:t>x</a:t>
            </a:r>
            <a:r>
              <a:rPr lang="en-US" sz="2380"/>
              <a:t> (mod p) but Eve can’t. Voila!</a:t>
            </a:r>
            <a:endParaRPr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</p:txBody>
      </p:sp>
      <p:sp>
        <p:nvSpPr>
          <p:cNvPr id="146" name="Google Shape;1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Diffie-Hellman Key Exchange Protocol</a:t>
            </a:r>
            <a:endParaRPr/>
          </a:p>
        </p:txBody>
      </p:sp>
      <p:pic>
        <p:nvPicPr>
          <p:cNvPr descr="A picture containing stool&#10;&#10;Description automatically generated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03" y="3209066"/>
            <a:ext cx="1082819" cy="1479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48" name="Google Shape;14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5302" y="3324748"/>
            <a:ext cx="801399" cy="143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person&#10;&#10;Description automatically generated" id="149" name="Google Shape;1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6200" y="1510146"/>
            <a:ext cx="909637" cy="125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6862545" y="3367717"/>
            <a:ext cx="2576945" cy="37439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066758" y="2890081"/>
            <a:ext cx="283302" cy="3525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7374301" y="3048114"/>
            <a:ext cx="536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8632085" y="3024400"/>
            <a:ext cx="536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011365" y="3775607"/>
            <a:ext cx="1472895" cy="43256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875648" y="2728146"/>
            <a:ext cx="440703" cy="446383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5958344" y="2728146"/>
            <a:ext cx="4407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10273548" y="2612464"/>
            <a:ext cx="4407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0211917" y="2627746"/>
            <a:ext cx="440703" cy="446383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714825" y="4302004"/>
            <a:ext cx="16352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(mod p)</a:t>
            </a:r>
            <a:endParaRPr baseline="30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160327" y="4380324"/>
            <a:ext cx="1183698" cy="37439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8443079" y="3687981"/>
            <a:ext cx="16352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mod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p)</a:t>
            </a:r>
            <a:endParaRPr baseline="30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67" name="Google Shape;16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Well-defined problems can be divided into two categories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Those that can be solved quickly, and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Those that can’t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Cryptography uses this dichotomy to achieve remarkable results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Alice and Bob can communicate securely over a public channel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 cryptography can be seen as an application of algorithmic ideas (fast modular exponentiation enables Diffie-Hellman key exchange)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 takeaway: algorithmic techniques (over a range of domains including numbers, graphs, strings, etc.,) are the engine of the modern world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2019-09-13T03:48:54Z</dcterms:created>
  <dc:creator>koods koods</dc:creator>
</cp:coreProperties>
</file>