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0" roundtripDataSignature="AMtx7mgr+6aA+KM0F8t1acNjC+8AvNweP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ulo Turner"/>
  <p:cmAuthor clrIdx="1" id="1" initials="" lastIdx="1" name="David Dietz ODLear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0-09-11T19:32:06.392">
    <p:pos x="5381" y="144"/>
    <p:text>Alt text: A modern skyscraper is shown with balconies on each floor.</p:text>
    <p:extLst>
      <p:ext uri="{C676402C-5697-4E1C-873F-D02D1690AC5C}">
        <p15:threadingInfo timeZoneBias="0"/>
      </p:ext>
      <p:ext uri="http://customooxmlschemas.google.com/">
        <go:slidesCustomData xmlns:go="http://customooxmlschemas.google.com/" commentPostId="AAAAKP0NZHA"/>
      </p:ext>
    </p:extLst>
  </p:cm>
  <p:cm authorId="1" idx="1" dt="2020-09-11T19:32:06.392">
    <p:pos x="5381" y="144"/>
    <p:text>Sulo, I would call this decorative.</p:text>
    <p:extLst>
      <p:ext uri="{C676402C-5697-4E1C-873F-D02D1690AC5C}">
        <p15:threadingInfo timeZoneBias="0">
          <p15:parentCm authorId="0" idx="1"/>
        </p15:threadingInfo>
      </p:ext>
      <p:ext uri="http://customooxmlschemas.google.com/">
        <go:slidesCustomData xmlns:go="http://customooxmlschemas.google.com/" commentPostId="AAAAG74gwO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comments" Target="../comments/comment1.xml"/><Relationship Id="rId4" Type="http://schemas.openxmlformats.org/officeDocument/2006/relationships/image" Target="../media/image1.jpg"/><Relationship Id="rId5" Type="http://schemas.openxmlformats.org/officeDocument/2006/relationships/hyperlink" Target="http://commons.wikimedia.org/wiki/file:kingsview_apartment_skyscraper_remuera.jpg" TargetMode="External"/><Relationship Id="rId6" Type="http://schemas.openxmlformats.org/officeDocument/2006/relationships/hyperlink" Target="https://creativecommons.org/licenses/by-sa/3.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1452819" y="1204598"/>
            <a:ext cx="9144000" cy="3843765"/>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Calibri"/>
              <a:buNone/>
            </a:pPr>
            <a:r>
              <a:rPr lang="en-US" sz="4000" u="sng"/>
              <a:t>CS5800 – ALGORITHMS</a:t>
            </a:r>
            <a:br>
              <a:rPr lang="en-US" sz="4000"/>
            </a:br>
            <a:br>
              <a:rPr lang="en-US" sz="4000"/>
            </a:br>
            <a:r>
              <a:rPr lang="en-US" sz="4000"/>
              <a:t>MODULE 1. REVIEW OF ASYMPTOTIC NOTATION</a:t>
            </a:r>
            <a:br>
              <a:rPr lang="en-US" sz="4000"/>
            </a:br>
            <a:br>
              <a:rPr lang="en-US" sz="4000"/>
            </a:br>
            <a:r>
              <a:rPr lang="en-US" sz="4000"/>
              <a:t>Lesson 1: Search</a:t>
            </a:r>
            <a:endParaRPr/>
          </a:p>
        </p:txBody>
      </p:sp>
      <p:sp>
        <p:nvSpPr>
          <p:cNvPr id="101" name="Google Shape;101;p1"/>
          <p:cNvSpPr txBox="1"/>
          <p:nvPr>
            <p:ph idx="1" type="subTitle"/>
          </p:nvPr>
        </p:nvSpPr>
        <p:spPr>
          <a:xfrm>
            <a:off x="1452819" y="5688991"/>
            <a:ext cx="9144000" cy="47773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u="sng"/>
              <a:t>Ravi Sundaram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Topics</a:t>
            </a:r>
            <a:endParaRPr/>
          </a:p>
        </p:txBody>
      </p:sp>
      <p:sp>
        <p:nvSpPr>
          <p:cNvPr id="107" name="Google Shape;10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80000"/>
              </a:lnSpc>
              <a:spcBef>
                <a:spcPts val="0"/>
              </a:spcBef>
              <a:spcAft>
                <a:spcPts val="0"/>
              </a:spcAft>
              <a:buClr>
                <a:schemeClr val="dk1"/>
              </a:buClr>
              <a:buSzPts val="2800"/>
              <a:buNone/>
            </a:pPr>
            <a:r>
              <a:t/>
            </a:r>
            <a:endParaRPr/>
          </a:p>
          <a:p>
            <a:pPr indent="-228600" lvl="0" marL="228600" rtl="0" algn="l">
              <a:lnSpc>
                <a:spcPct val="80000"/>
              </a:lnSpc>
              <a:spcBef>
                <a:spcPts val="1000"/>
              </a:spcBef>
              <a:spcAft>
                <a:spcPts val="0"/>
              </a:spcAft>
              <a:buClr>
                <a:schemeClr val="dk1"/>
              </a:buClr>
              <a:buSzPts val="2800"/>
              <a:buChar char="•"/>
            </a:pPr>
            <a:r>
              <a:rPr lang="en-US"/>
              <a:t>Algorithms</a:t>
            </a:r>
            <a:endParaRPr/>
          </a:p>
          <a:p>
            <a:pPr indent="-228600" lvl="0" marL="228600" rtl="0" algn="l">
              <a:lnSpc>
                <a:spcPct val="80000"/>
              </a:lnSpc>
              <a:spcBef>
                <a:spcPts val="1000"/>
              </a:spcBef>
              <a:spcAft>
                <a:spcPts val="0"/>
              </a:spcAft>
              <a:buClr>
                <a:schemeClr val="dk1"/>
              </a:buClr>
              <a:buSzPts val="2800"/>
              <a:buChar char="•"/>
            </a:pPr>
            <a:r>
              <a:rPr lang="en-US"/>
              <a:t>Search – unordered array</a:t>
            </a:r>
            <a:endParaRPr/>
          </a:p>
          <a:p>
            <a:pPr indent="-228600" lvl="1" marL="685800" rtl="0" algn="l">
              <a:lnSpc>
                <a:spcPct val="80000"/>
              </a:lnSpc>
              <a:spcBef>
                <a:spcPts val="500"/>
              </a:spcBef>
              <a:spcAft>
                <a:spcPts val="0"/>
              </a:spcAft>
              <a:buClr>
                <a:schemeClr val="dk1"/>
              </a:buClr>
              <a:buSzPts val="2400"/>
              <a:buChar char="•"/>
            </a:pPr>
            <a:r>
              <a:rPr lang="en-US"/>
              <a:t>Linear search</a:t>
            </a:r>
            <a:endParaRPr/>
          </a:p>
          <a:p>
            <a:pPr indent="-228600" lvl="0" marL="228600" rtl="0" algn="l">
              <a:lnSpc>
                <a:spcPct val="80000"/>
              </a:lnSpc>
              <a:spcBef>
                <a:spcPts val="1000"/>
              </a:spcBef>
              <a:spcAft>
                <a:spcPts val="0"/>
              </a:spcAft>
              <a:buClr>
                <a:schemeClr val="dk1"/>
              </a:buClr>
              <a:buSzPts val="2800"/>
              <a:buChar char="•"/>
            </a:pPr>
            <a:r>
              <a:rPr lang="en-US"/>
              <a:t>Search – ordered array</a:t>
            </a:r>
            <a:endParaRPr/>
          </a:p>
          <a:p>
            <a:pPr indent="-228600" lvl="1" marL="685800" rtl="0" algn="l">
              <a:lnSpc>
                <a:spcPct val="80000"/>
              </a:lnSpc>
              <a:spcBef>
                <a:spcPts val="500"/>
              </a:spcBef>
              <a:spcAft>
                <a:spcPts val="0"/>
              </a:spcAft>
              <a:buClr>
                <a:schemeClr val="dk1"/>
              </a:buClr>
              <a:buSzPts val="2400"/>
              <a:buChar char="•"/>
            </a:pPr>
            <a:r>
              <a:rPr lang="en-US"/>
              <a:t>Linear search</a:t>
            </a:r>
            <a:endParaRPr/>
          </a:p>
          <a:p>
            <a:pPr indent="-228600" lvl="1" marL="685800" rtl="0" algn="l">
              <a:lnSpc>
                <a:spcPct val="80000"/>
              </a:lnSpc>
              <a:spcBef>
                <a:spcPts val="500"/>
              </a:spcBef>
              <a:spcAft>
                <a:spcPts val="0"/>
              </a:spcAft>
              <a:buClr>
                <a:schemeClr val="dk1"/>
              </a:buClr>
              <a:buSzPts val="2400"/>
              <a:buChar char="•"/>
            </a:pPr>
            <a:r>
              <a:rPr lang="en-US"/>
              <a:t>Chunk search</a:t>
            </a:r>
            <a:endParaRPr/>
          </a:p>
          <a:p>
            <a:pPr indent="-228600" lvl="1" marL="685800" rtl="0" algn="l">
              <a:lnSpc>
                <a:spcPct val="80000"/>
              </a:lnSpc>
              <a:spcBef>
                <a:spcPts val="500"/>
              </a:spcBef>
              <a:spcAft>
                <a:spcPts val="0"/>
              </a:spcAft>
              <a:buClr>
                <a:schemeClr val="dk1"/>
              </a:buClr>
              <a:buSzPts val="2400"/>
              <a:buChar char="•"/>
            </a:pPr>
            <a:r>
              <a:rPr lang="en-US"/>
              <a:t>Binary search</a:t>
            </a:r>
            <a:endParaRPr/>
          </a:p>
          <a:p>
            <a:pPr indent="-228600" lvl="0" marL="228600" rtl="0" algn="l">
              <a:lnSpc>
                <a:spcPct val="80000"/>
              </a:lnSpc>
              <a:spcBef>
                <a:spcPts val="1000"/>
              </a:spcBef>
              <a:spcAft>
                <a:spcPts val="0"/>
              </a:spcAft>
              <a:buClr>
                <a:schemeClr val="dk1"/>
              </a:buClr>
              <a:buSzPts val="2800"/>
              <a:buChar char="•"/>
            </a:pPr>
            <a:r>
              <a:rPr lang="en-US"/>
              <a:t>Cellphone drop puzzle</a:t>
            </a:r>
            <a:endParaRPr/>
          </a:p>
          <a:p>
            <a:pPr indent="-228600" lvl="0" marL="228600" rtl="0" algn="l">
              <a:lnSpc>
                <a:spcPct val="80000"/>
              </a:lnSpc>
              <a:spcBef>
                <a:spcPts val="1000"/>
              </a:spcBef>
              <a:spcAft>
                <a:spcPts val="0"/>
              </a:spcAft>
              <a:buClr>
                <a:schemeClr val="dk1"/>
              </a:buClr>
              <a:buSzPts val="2800"/>
              <a:buChar char="•"/>
            </a:pPr>
            <a:r>
              <a:rPr lang="en-US"/>
              <a:t>Summary</a:t>
            </a:r>
            <a:endParaRPr/>
          </a:p>
          <a:p>
            <a:pPr indent="0" lvl="0" marL="0" rtl="0" algn="l">
              <a:lnSpc>
                <a:spcPct val="80000"/>
              </a:lnSpc>
              <a:spcBef>
                <a:spcPts val="1000"/>
              </a:spcBef>
              <a:spcAft>
                <a:spcPts val="0"/>
              </a:spcAft>
              <a:buClr>
                <a:schemeClr val="dk1"/>
              </a:buClr>
              <a:buSzPts val="2800"/>
              <a:buNone/>
            </a:pPr>
            <a:r>
              <a:t/>
            </a:r>
            <a:endParaRPr/>
          </a:p>
          <a:p>
            <a:pPr indent="0" lvl="0" marL="0" rtl="0" algn="l">
              <a:lnSpc>
                <a:spcPct val="80000"/>
              </a:lnSpc>
              <a:spcBef>
                <a:spcPts val="1000"/>
              </a:spcBef>
              <a:spcAft>
                <a:spcPts val="0"/>
              </a:spcAft>
              <a:buClr>
                <a:schemeClr val="dk1"/>
              </a:buClr>
              <a:buSzPts val="2800"/>
              <a:buNone/>
            </a:pPr>
            <a:r>
              <a:t/>
            </a:r>
            <a:endParaRPr b="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Algorithms</a:t>
            </a:r>
            <a:endParaRPr/>
          </a:p>
        </p:txBody>
      </p:sp>
      <p:sp>
        <p:nvSpPr>
          <p:cNvPr id="113" name="Google Shape;11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2590"/>
              <a:buChar char="•"/>
            </a:pPr>
            <a:r>
              <a:rPr lang="en-US" sz="2590"/>
              <a:t>An algorithm is a finite sequence of well-defined, computer-implementable instructions, typically to solve a class of problems or to perform a computation</a:t>
            </a:r>
            <a:endParaRPr/>
          </a:p>
          <a:p>
            <a:pPr indent="-64135" lvl="0" marL="228600" rtl="0" algn="l">
              <a:lnSpc>
                <a:spcPct val="70000"/>
              </a:lnSpc>
              <a:spcBef>
                <a:spcPts val="1000"/>
              </a:spcBef>
              <a:spcAft>
                <a:spcPts val="0"/>
              </a:spcAft>
              <a:buClr>
                <a:schemeClr val="dk1"/>
              </a:buClr>
              <a:buSzPts val="2590"/>
              <a:buNone/>
            </a:pPr>
            <a:r>
              <a:t/>
            </a:r>
            <a:endParaRPr sz="2590"/>
          </a:p>
          <a:p>
            <a:pPr indent="-228600" lvl="0" marL="228600" rtl="0" algn="l">
              <a:lnSpc>
                <a:spcPct val="70000"/>
              </a:lnSpc>
              <a:spcBef>
                <a:spcPts val="1000"/>
              </a:spcBef>
              <a:spcAft>
                <a:spcPts val="0"/>
              </a:spcAft>
              <a:buClr>
                <a:schemeClr val="dk1"/>
              </a:buClr>
              <a:buSzPts val="2590"/>
              <a:buChar char="•"/>
            </a:pPr>
            <a:r>
              <a:rPr lang="en-US" sz="2590"/>
              <a:t>Important to specify the form of the input, the output and model of computer</a:t>
            </a:r>
            <a:endParaRPr/>
          </a:p>
          <a:p>
            <a:pPr indent="-64135" lvl="0" marL="228600" rtl="0" algn="l">
              <a:lnSpc>
                <a:spcPct val="70000"/>
              </a:lnSpc>
              <a:spcBef>
                <a:spcPts val="1000"/>
              </a:spcBef>
              <a:spcAft>
                <a:spcPts val="0"/>
              </a:spcAft>
              <a:buClr>
                <a:schemeClr val="dk1"/>
              </a:buClr>
              <a:buSzPts val="2590"/>
              <a:buNone/>
            </a:pPr>
            <a:r>
              <a:t/>
            </a:r>
            <a:endParaRPr sz="2590"/>
          </a:p>
          <a:p>
            <a:pPr indent="-228600" lvl="0" marL="228600" rtl="0" algn="l">
              <a:lnSpc>
                <a:spcPct val="70000"/>
              </a:lnSpc>
              <a:spcBef>
                <a:spcPts val="1000"/>
              </a:spcBef>
              <a:spcAft>
                <a:spcPts val="0"/>
              </a:spcAft>
              <a:buClr>
                <a:schemeClr val="dk1"/>
              </a:buClr>
              <a:buSzPts val="2590"/>
              <a:buChar char="•"/>
            </a:pPr>
            <a:r>
              <a:rPr lang="en-US" sz="2590"/>
              <a:t>We care about resource usage </a:t>
            </a:r>
            <a:endParaRPr/>
          </a:p>
          <a:p>
            <a:pPr indent="-228600" lvl="1" marL="685800" rtl="0" algn="l">
              <a:lnSpc>
                <a:spcPct val="70000"/>
              </a:lnSpc>
              <a:spcBef>
                <a:spcPts val="500"/>
              </a:spcBef>
              <a:spcAft>
                <a:spcPts val="0"/>
              </a:spcAft>
              <a:buClr>
                <a:schemeClr val="dk1"/>
              </a:buClr>
              <a:buSzPts val="2220"/>
              <a:buChar char="•"/>
            </a:pPr>
            <a:r>
              <a:rPr lang="en-US" sz="2220"/>
              <a:t>Time complexity</a:t>
            </a:r>
            <a:endParaRPr/>
          </a:p>
          <a:p>
            <a:pPr indent="-228600" lvl="1" marL="685800" rtl="0" algn="l">
              <a:lnSpc>
                <a:spcPct val="70000"/>
              </a:lnSpc>
              <a:spcBef>
                <a:spcPts val="500"/>
              </a:spcBef>
              <a:spcAft>
                <a:spcPts val="0"/>
              </a:spcAft>
              <a:buClr>
                <a:schemeClr val="dk1"/>
              </a:buClr>
              <a:buSzPts val="2220"/>
              <a:buChar char="•"/>
            </a:pPr>
            <a:r>
              <a:rPr lang="en-US" sz="2220"/>
              <a:t>Space complexity</a:t>
            </a:r>
            <a:endParaRPr/>
          </a:p>
          <a:p>
            <a:pPr indent="-64135" lvl="0" marL="228600" rtl="0" algn="l">
              <a:lnSpc>
                <a:spcPct val="70000"/>
              </a:lnSpc>
              <a:spcBef>
                <a:spcPts val="1000"/>
              </a:spcBef>
              <a:spcAft>
                <a:spcPts val="0"/>
              </a:spcAft>
              <a:buClr>
                <a:schemeClr val="dk1"/>
              </a:buClr>
              <a:buSzPts val="2590"/>
              <a:buNone/>
            </a:pPr>
            <a:r>
              <a:t/>
            </a:r>
            <a:endParaRPr sz="2590"/>
          </a:p>
          <a:p>
            <a:pPr indent="-228600" lvl="0" marL="228600" rtl="0" algn="l">
              <a:lnSpc>
                <a:spcPct val="70000"/>
              </a:lnSpc>
              <a:spcBef>
                <a:spcPts val="1000"/>
              </a:spcBef>
              <a:spcAft>
                <a:spcPts val="0"/>
              </a:spcAft>
              <a:buClr>
                <a:schemeClr val="dk1"/>
              </a:buClr>
              <a:buSzPts val="2590"/>
              <a:buChar char="•"/>
            </a:pPr>
            <a:r>
              <a:rPr lang="en-US" sz="2590"/>
              <a:t>What is the metric for resource usage?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Search – unordered array</a:t>
            </a:r>
            <a:endParaRPr/>
          </a:p>
        </p:txBody>
      </p:sp>
      <p:sp>
        <p:nvSpPr>
          <p:cNvPr id="119" name="Google Shape;119;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Find element x in an array of n distinct elements A[1], A[2], … A[n]. (i.e. find i such that x = A[i], else return not-found)</a:t>
            </a:r>
            <a:endParaRPr/>
          </a:p>
          <a:p>
            <a:pPr indent="-228600" lvl="0" marL="228600" rtl="0" algn="l">
              <a:lnSpc>
                <a:spcPct val="90000"/>
              </a:lnSpc>
              <a:spcBef>
                <a:spcPts val="1000"/>
              </a:spcBef>
              <a:spcAft>
                <a:spcPts val="0"/>
              </a:spcAft>
              <a:buClr>
                <a:schemeClr val="dk1"/>
              </a:buClr>
              <a:buSzPts val="2800"/>
              <a:buChar char="•"/>
            </a:pPr>
            <a:r>
              <a:rPr lang="en-US" u="sng"/>
              <a:t>LinearSearch</a:t>
            </a:r>
            <a:endParaRPr u="sng"/>
          </a:p>
          <a:p>
            <a:pPr indent="0" lvl="0" marL="0" rtl="0" algn="l">
              <a:lnSpc>
                <a:spcPct val="90000"/>
              </a:lnSpc>
              <a:spcBef>
                <a:spcPts val="1000"/>
              </a:spcBef>
              <a:spcAft>
                <a:spcPts val="0"/>
              </a:spcAft>
              <a:buClr>
                <a:schemeClr val="dk1"/>
              </a:buClr>
              <a:buSzPts val="2800"/>
              <a:buNone/>
            </a:pPr>
            <a:r>
              <a:rPr lang="en-US"/>
              <a:t>   </a:t>
            </a:r>
            <a:r>
              <a:rPr i="1" lang="en-US">
                <a:latin typeface="Consolas"/>
                <a:ea typeface="Consolas"/>
                <a:cs typeface="Consolas"/>
                <a:sym typeface="Consolas"/>
              </a:rPr>
              <a:t>For</a:t>
            </a:r>
            <a:r>
              <a:rPr lang="en-US">
                <a:latin typeface="Consolas"/>
                <a:ea typeface="Consolas"/>
                <a:cs typeface="Consolas"/>
                <a:sym typeface="Consolas"/>
              </a:rPr>
              <a:t> i = 1 </a:t>
            </a:r>
            <a:r>
              <a:rPr i="1" lang="en-US">
                <a:latin typeface="Consolas"/>
                <a:ea typeface="Consolas"/>
                <a:cs typeface="Consolas"/>
                <a:sym typeface="Consolas"/>
              </a:rPr>
              <a:t>To</a:t>
            </a:r>
            <a:r>
              <a:rPr lang="en-US">
                <a:latin typeface="Consolas"/>
                <a:ea typeface="Consolas"/>
                <a:cs typeface="Consolas"/>
                <a:sym typeface="Consolas"/>
              </a:rPr>
              <a:t> n</a:t>
            </a:r>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a:t>
            </a:r>
            <a:r>
              <a:rPr i="1" lang="en-US">
                <a:latin typeface="Consolas"/>
                <a:ea typeface="Consolas"/>
                <a:cs typeface="Consolas"/>
                <a:sym typeface="Consolas"/>
              </a:rPr>
              <a:t>If</a:t>
            </a:r>
            <a:r>
              <a:rPr lang="en-US">
                <a:latin typeface="Consolas"/>
                <a:ea typeface="Consolas"/>
                <a:cs typeface="Consolas"/>
                <a:sym typeface="Consolas"/>
              </a:rPr>
              <a:t> x = A[i] </a:t>
            </a:r>
            <a:r>
              <a:rPr i="1" lang="en-US">
                <a:latin typeface="Consolas"/>
                <a:ea typeface="Consolas"/>
                <a:cs typeface="Consolas"/>
                <a:sym typeface="Consolas"/>
              </a:rPr>
              <a:t>Then</a:t>
            </a:r>
            <a:r>
              <a:rPr lang="en-US">
                <a:latin typeface="Consolas"/>
                <a:ea typeface="Consolas"/>
                <a:cs typeface="Consolas"/>
                <a:sym typeface="Consolas"/>
              </a:rPr>
              <a:t> </a:t>
            </a:r>
            <a:r>
              <a:rPr i="1" lang="en-US">
                <a:latin typeface="Consolas"/>
                <a:ea typeface="Consolas"/>
                <a:cs typeface="Consolas"/>
                <a:sym typeface="Consolas"/>
              </a:rPr>
              <a:t>Return</a:t>
            </a:r>
            <a:r>
              <a:rPr lang="en-US">
                <a:latin typeface="Consolas"/>
                <a:ea typeface="Consolas"/>
                <a:cs typeface="Consolas"/>
                <a:sym typeface="Consolas"/>
              </a:rPr>
              <a:t>(i)</a:t>
            </a:r>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a:t>
            </a:r>
            <a:r>
              <a:rPr i="1" lang="en-US">
                <a:latin typeface="Consolas"/>
                <a:ea typeface="Consolas"/>
                <a:cs typeface="Consolas"/>
                <a:sym typeface="Consolas"/>
              </a:rPr>
              <a:t>Endfor</a:t>
            </a:r>
            <a:endParaRPr i="1">
              <a:latin typeface="Consolas"/>
              <a:ea typeface="Consolas"/>
              <a:cs typeface="Consolas"/>
              <a:sym typeface="Consolas"/>
            </a:endParaRPr>
          </a:p>
          <a:p>
            <a:pPr indent="0" lvl="0" marL="0" rtl="0" algn="l">
              <a:lnSpc>
                <a:spcPct val="90000"/>
              </a:lnSpc>
              <a:spcBef>
                <a:spcPts val="1000"/>
              </a:spcBef>
              <a:spcAft>
                <a:spcPts val="0"/>
              </a:spcAft>
              <a:buClr>
                <a:schemeClr val="dk1"/>
              </a:buClr>
              <a:buSzPts val="2800"/>
              <a:buNone/>
            </a:pPr>
            <a:r>
              <a:rPr i="1" lang="en-US">
                <a:latin typeface="Consolas"/>
                <a:ea typeface="Consolas"/>
                <a:cs typeface="Consolas"/>
                <a:sym typeface="Consolas"/>
              </a:rPr>
              <a:t> Return</a:t>
            </a:r>
            <a:r>
              <a:rPr lang="en-US">
                <a:latin typeface="Consolas"/>
                <a:ea typeface="Consolas"/>
                <a:cs typeface="Consolas"/>
                <a:sym typeface="Consolas"/>
              </a:rPr>
              <a:t>(not-found)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Unordered search – time complexity</a:t>
            </a:r>
            <a:endParaRPr/>
          </a:p>
        </p:txBody>
      </p:sp>
      <p:sp>
        <p:nvSpPr>
          <p:cNvPr id="125" name="Google Shape;125;p5"/>
          <p:cNvSpPr txBox="1"/>
          <p:nvPr>
            <p:ph idx="1" type="body"/>
          </p:nvPr>
        </p:nvSpPr>
        <p:spPr>
          <a:xfrm>
            <a:off x="838200" y="1825625"/>
            <a:ext cx="10515600" cy="4796848"/>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2590"/>
              <a:buChar char="•"/>
            </a:pPr>
            <a:r>
              <a:rPr lang="en-US" sz="2590"/>
              <a:t>Upper bound on LinearSearch</a:t>
            </a:r>
            <a:endParaRPr sz="2590"/>
          </a:p>
          <a:p>
            <a:pPr indent="-228600" lvl="1" marL="685800" rtl="0" algn="l">
              <a:lnSpc>
                <a:spcPct val="70000"/>
              </a:lnSpc>
              <a:spcBef>
                <a:spcPts val="500"/>
              </a:spcBef>
              <a:spcAft>
                <a:spcPts val="0"/>
              </a:spcAft>
              <a:buClr>
                <a:schemeClr val="dk1"/>
              </a:buClr>
              <a:buSzPts val="2220"/>
              <a:buChar char="•"/>
            </a:pPr>
            <a:r>
              <a:rPr lang="en-US" sz="2220"/>
              <a:t>Could get lucky and find a match on the first array element</a:t>
            </a:r>
            <a:endParaRPr/>
          </a:p>
          <a:p>
            <a:pPr indent="-228600" lvl="1" marL="685800" rtl="0" algn="l">
              <a:lnSpc>
                <a:spcPct val="70000"/>
              </a:lnSpc>
              <a:spcBef>
                <a:spcPts val="500"/>
              </a:spcBef>
              <a:spcAft>
                <a:spcPts val="0"/>
              </a:spcAft>
              <a:buClr>
                <a:schemeClr val="dk1"/>
              </a:buClr>
              <a:buSzPts val="2220"/>
              <a:buChar char="•"/>
            </a:pPr>
            <a:r>
              <a:rPr lang="en-US" sz="2220"/>
              <a:t>Given an array of n numbers, makes at most n comparisons</a:t>
            </a:r>
            <a:endParaRPr/>
          </a:p>
          <a:p>
            <a:pPr indent="-87630" lvl="1" marL="685800" rtl="0" algn="l">
              <a:lnSpc>
                <a:spcPct val="70000"/>
              </a:lnSpc>
              <a:spcBef>
                <a:spcPts val="500"/>
              </a:spcBef>
              <a:spcAft>
                <a:spcPts val="0"/>
              </a:spcAft>
              <a:buClr>
                <a:schemeClr val="dk1"/>
              </a:buClr>
              <a:buSzPts val="2220"/>
              <a:buNone/>
            </a:pPr>
            <a:r>
              <a:t/>
            </a:r>
            <a:endParaRPr sz="2220"/>
          </a:p>
          <a:p>
            <a:pPr indent="-228600" lvl="0" marL="228600" rtl="0" algn="l">
              <a:lnSpc>
                <a:spcPct val="70000"/>
              </a:lnSpc>
              <a:spcBef>
                <a:spcPts val="1000"/>
              </a:spcBef>
              <a:spcAft>
                <a:spcPts val="0"/>
              </a:spcAft>
              <a:buClr>
                <a:schemeClr val="dk1"/>
              </a:buClr>
              <a:buSzPts val="2590"/>
              <a:buChar char="•"/>
            </a:pPr>
            <a:r>
              <a:rPr lang="en-US" sz="2590"/>
              <a:t>We parameterize the time complexity in terms of the input size, n</a:t>
            </a:r>
            <a:endParaRPr/>
          </a:p>
          <a:p>
            <a:pPr indent="-228600" lvl="0" marL="228600" rtl="0" algn="l">
              <a:lnSpc>
                <a:spcPct val="70000"/>
              </a:lnSpc>
              <a:spcBef>
                <a:spcPts val="1000"/>
              </a:spcBef>
              <a:spcAft>
                <a:spcPts val="0"/>
              </a:spcAft>
              <a:buClr>
                <a:schemeClr val="dk1"/>
              </a:buClr>
              <a:buSzPts val="2590"/>
              <a:buChar char="•"/>
            </a:pPr>
            <a:r>
              <a:rPr lang="en-US" sz="2590"/>
              <a:t>We assume that comparisons take one unit of time in our model of computation</a:t>
            </a:r>
            <a:endParaRPr/>
          </a:p>
          <a:p>
            <a:pPr indent="-228600" lvl="0" marL="228600" rtl="0" algn="l">
              <a:lnSpc>
                <a:spcPct val="70000"/>
              </a:lnSpc>
              <a:spcBef>
                <a:spcPts val="1000"/>
              </a:spcBef>
              <a:spcAft>
                <a:spcPts val="0"/>
              </a:spcAft>
              <a:buClr>
                <a:schemeClr val="dk1"/>
              </a:buClr>
              <a:buSzPts val="2590"/>
              <a:buChar char="•"/>
            </a:pPr>
            <a:r>
              <a:rPr lang="en-US" sz="2590"/>
              <a:t>We consider the worst case as it is a guaranteed upper bound.</a:t>
            </a:r>
            <a:endParaRPr/>
          </a:p>
          <a:p>
            <a:pPr indent="-228600" lvl="0" marL="228600" rtl="0" algn="l">
              <a:lnSpc>
                <a:spcPct val="70000"/>
              </a:lnSpc>
              <a:spcBef>
                <a:spcPts val="1000"/>
              </a:spcBef>
              <a:spcAft>
                <a:spcPts val="0"/>
              </a:spcAft>
              <a:buClr>
                <a:schemeClr val="dk1"/>
              </a:buClr>
              <a:buSzPts val="2590"/>
              <a:buChar char="•"/>
            </a:pPr>
            <a:r>
              <a:rPr lang="en-US" sz="2590"/>
              <a:t>Time complexity is </a:t>
            </a:r>
            <a:r>
              <a:rPr lang="en-US" sz="2590">
                <a:latin typeface="Cambria"/>
                <a:ea typeface="Cambria"/>
                <a:cs typeface="Cambria"/>
                <a:sym typeface="Cambria"/>
              </a:rPr>
              <a:t>O(n)</a:t>
            </a:r>
            <a:endParaRPr sz="2590"/>
          </a:p>
          <a:p>
            <a:pPr indent="-228600" lvl="0" marL="228600" rtl="0" algn="l">
              <a:lnSpc>
                <a:spcPct val="70000"/>
              </a:lnSpc>
              <a:spcBef>
                <a:spcPts val="1000"/>
              </a:spcBef>
              <a:spcAft>
                <a:spcPts val="0"/>
              </a:spcAft>
              <a:buClr>
                <a:schemeClr val="dk1"/>
              </a:buClr>
              <a:buSzPts val="2590"/>
              <a:buChar char="•"/>
            </a:pPr>
            <a:r>
              <a:rPr lang="en-US" sz="2590"/>
              <a:t>Lower bound on the problem</a:t>
            </a:r>
            <a:endParaRPr/>
          </a:p>
          <a:p>
            <a:pPr indent="-228600" lvl="1" marL="685800" rtl="0" algn="l">
              <a:lnSpc>
                <a:spcPct val="70000"/>
              </a:lnSpc>
              <a:spcBef>
                <a:spcPts val="500"/>
              </a:spcBef>
              <a:spcAft>
                <a:spcPts val="0"/>
              </a:spcAft>
              <a:buClr>
                <a:schemeClr val="dk1"/>
              </a:buClr>
              <a:buSzPts val="2220"/>
              <a:buChar char="•"/>
            </a:pPr>
            <a:r>
              <a:rPr lang="en-US" sz="2220"/>
              <a:t>Only slightly less obvious, </a:t>
            </a:r>
            <a:r>
              <a:rPr i="1" lang="en-US" sz="2220"/>
              <a:t>any</a:t>
            </a:r>
            <a:r>
              <a:rPr lang="en-US" sz="2220"/>
              <a:t> comparison-based algorithm must compare x to every element in the array, otherwise if it did not compare to some element then we could change the value of the element to invalidate the correctness of the algorithm.</a:t>
            </a:r>
            <a:endParaRPr/>
          </a:p>
          <a:p>
            <a:pPr indent="-228600" lvl="1" marL="685800" rtl="0" algn="l">
              <a:lnSpc>
                <a:spcPct val="70000"/>
              </a:lnSpc>
              <a:spcBef>
                <a:spcPts val="500"/>
              </a:spcBef>
              <a:spcAft>
                <a:spcPts val="0"/>
              </a:spcAft>
              <a:buClr>
                <a:schemeClr val="dk1"/>
              </a:buClr>
              <a:buSzPts val="2220"/>
              <a:buChar char="•"/>
            </a:pPr>
            <a:r>
              <a:rPr lang="en-US" sz="2220"/>
              <a:t>Hence any comparison-based algorithm must make at least n comparisons. </a:t>
            </a:r>
            <a:endParaRPr/>
          </a:p>
          <a:p>
            <a:pPr indent="-64135" lvl="0" marL="228600" rtl="0" algn="l">
              <a:lnSpc>
                <a:spcPct val="70000"/>
              </a:lnSpc>
              <a:spcBef>
                <a:spcPts val="1000"/>
              </a:spcBef>
              <a:spcAft>
                <a:spcPts val="0"/>
              </a:spcAft>
              <a:buClr>
                <a:schemeClr val="dk1"/>
              </a:buClr>
              <a:buSzPts val="2590"/>
              <a:buNone/>
            </a:pPr>
            <a:r>
              <a:t/>
            </a:r>
            <a:endParaRPr sz="259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Ordered array – Linear Search</a:t>
            </a:r>
            <a:endParaRPr/>
          </a:p>
        </p:txBody>
      </p:sp>
      <p:sp>
        <p:nvSpPr>
          <p:cNvPr id="131" name="Google Shape;131;p6"/>
          <p:cNvSpPr txBox="1"/>
          <p:nvPr>
            <p:ph idx="1" type="body"/>
          </p:nvPr>
        </p:nvSpPr>
        <p:spPr>
          <a:xfrm>
            <a:off x="838200" y="1825624"/>
            <a:ext cx="10515600" cy="4931079"/>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800"/>
              <a:buChar char="•"/>
            </a:pPr>
            <a:r>
              <a:rPr lang="en-US"/>
              <a:t>Find element x in an </a:t>
            </a:r>
            <a:r>
              <a:rPr i="1" lang="en-US"/>
              <a:t>ordered</a:t>
            </a:r>
            <a:r>
              <a:rPr lang="en-US"/>
              <a:t> array of n distinct elements A[1]</a:t>
            </a:r>
            <a:r>
              <a:rPr baseline="-25000" lang="en-US"/>
              <a:t> </a:t>
            </a:r>
            <a:r>
              <a:rPr lang="en-US"/>
              <a:t>&lt;</a:t>
            </a:r>
            <a:r>
              <a:rPr baseline="-25000" lang="en-US"/>
              <a:t> </a:t>
            </a:r>
            <a:r>
              <a:rPr lang="en-US"/>
              <a:t> A[2] &lt; … &lt; A[n] . (i.e. find i such that x = A[i]  else return not-found )</a:t>
            </a:r>
            <a:endParaRPr/>
          </a:p>
          <a:p>
            <a:pPr indent="-228600" lvl="0" marL="228600" rtl="0" algn="l">
              <a:lnSpc>
                <a:spcPct val="80000"/>
              </a:lnSpc>
              <a:spcBef>
                <a:spcPts val="1000"/>
              </a:spcBef>
              <a:spcAft>
                <a:spcPts val="0"/>
              </a:spcAft>
              <a:buClr>
                <a:schemeClr val="dk1"/>
              </a:buClr>
              <a:buSzPts val="2800"/>
              <a:buChar char="•"/>
            </a:pPr>
            <a:r>
              <a:rPr lang="en-US" u="sng"/>
              <a:t>Linear search</a:t>
            </a:r>
            <a:endParaRPr/>
          </a:p>
          <a:p>
            <a:pPr indent="0" lvl="0" marL="0" rtl="0" algn="l">
              <a:lnSpc>
                <a:spcPct val="80000"/>
              </a:lnSpc>
              <a:spcBef>
                <a:spcPts val="1000"/>
              </a:spcBef>
              <a:spcAft>
                <a:spcPts val="0"/>
              </a:spcAft>
              <a:buClr>
                <a:schemeClr val="dk1"/>
              </a:buClr>
              <a:buSzPts val="2800"/>
              <a:buNone/>
            </a:pPr>
            <a:r>
              <a:rPr lang="en-US"/>
              <a:t>   </a:t>
            </a:r>
            <a:r>
              <a:rPr lang="en-US">
                <a:latin typeface="Consolas"/>
                <a:ea typeface="Consolas"/>
                <a:cs typeface="Consolas"/>
                <a:sym typeface="Consolas"/>
              </a:rPr>
              <a:t>For i = 1 To n</a:t>
            </a:r>
            <a:endParaRPr/>
          </a:p>
          <a:p>
            <a:pPr indent="0" lvl="0" marL="0" rtl="0" algn="l">
              <a:lnSpc>
                <a:spcPct val="80000"/>
              </a:lnSpc>
              <a:spcBef>
                <a:spcPts val="1000"/>
              </a:spcBef>
              <a:spcAft>
                <a:spcPts val="0"/>
              </a:spcAft>
              <a:buClr>
                <a:schemeClr val="dk1"/>
              </a:buClr>
              <a:buSzPts val="2800"/>
              <a:buNone/>
            </a:pPr>
            <a:r>
              <a:rPr lang="en-US">
                <a:latin typeface="Consolas"/>
                <a:ea typeface="Consolas"/>
                <a:cs typeface="Consolas"/>
                <a:sym typeface="Consolas"/>
              </a:rPr>
              <a:t>     If x = A[i] Then Return(i)</a:t>
            </a:r>
            <a:endParaRPr/>
          </a:p>
          <a:p>
            <a:pPr indent="0" lvl="0" marL="0" rtl="0" algn="l">
              <a:lnSpc>
                <a:spcPct val="80000"/>
              </a:lnSpc>
              <a:spcBef>
                <a:spcPts val="1000"/>
              </a:spcBef>
              <a:spcAft>
                <a:spcPts val="0"/>
              </a:spcAft>
              <a:buClr>
                <a:schemeClr val="dk1"/>
              </a:buClr>
              <a:buSzPts val="2800"/>
              <a:buNone/>
            </a:pPr>
            <a:r>
              <a:rPr lang="en-US">
                <a:latin typeface="Consolas"/>
                <a:ea typeface="Consolas"/>
                <a:cs typeface="Consolas"/>
                <a:sym typeface="Consolas"/>
              </a:rPr>
              <a:t> Endfor</a:t>
            </a:r>
            <a:endParaRPr>
              <a:latin typeface="Consolas"/>
              <a:ea typeface="Consolas"/>
              <a:cs typeface="Consolas"/>
              <a:sym typeface="Consolas"/>
            </a:endParaRPr>
          </a:p>
          <a:p>
            <a:pPr indent="0" lvl="0" marL="0" rtl="0" algn="l">
              <a:lnSpc>
                <a:spcPct val="80000"/>
              </a:lnSpc>
              <a:spcBef>
                <a:spcPts val="1000"/>
              </a:spcBef>
              <a:spcAft>
                <a:spcPts val="0"/>
              </a:spcAft>
              <a:buClr>
                <a:schemeClr val="dk1"/>
              </a:buClr>
              <a:buSzPts val="2800"/>
              <a:buNone/>
            </a:pPr>
            <a:r>
              <a:rPr lang="en-US">
                <a:latin typeface="Consolas"/>
                <a:ea typeface="Consolas"/>
                <a:cs typeface="Consolas"/>
                <a:sym typeface="Consolas"/>
              </a:rPr>
              <a:t> Return(not-found)</a:t>
            </a:r>
            <a:endParaRPr/>
          </a:p>
          <a:p>
            <a:pPr indent="0" lvl="0" marL="0" rtl="0" algn="l">
              <a:lnSpc>
                <a:spcPct val="80000"/>
              </a:lnSpc>
              <a:spcBef>
                <a:spcPts val="1000"/>
              </a:spcBef>
              <a:spcAft>
                <a:spcPts val="0"/>
              </a:spcAft>
              <a:buClr>
                <a:schemeClr val="dk1"/>
              </a:buClr>
              <a:buSzPts val="2800"/>
              <a:buNone/>
            </a:pPr>
            <a:r>
              <a:t/>
            </a:r>
            <a:endParaRPr>
              <a:latin typeface="Consolas"/>
              <a:ea typeface="Consolas"/>
              <a:cs typeface="Consolas"/>
              <a:sym typeface="Consolas"/>
            </a:endParaRPr>
          </a:p>
          <a:p>
            <a:pPr indent="-228600" lvl="0" marL="228600" rtl="0" algn="l">
              <a:lnSpc>
                <a:spcPct val="80000"/>
              </a:lnSpc>
              <a:spcBef>
                <a:spcPts val="1000"/>
              </a:spcBef>
              <a:spcAft>
                <a:spcPts val="0"/>
              </a:spcAft>
              <a:buClr>
                <a:schemeClr val="dk1"/>
              </a:buClr>
              <a:buSzPts val="2800"/>
              <a:buChar char="•"/>
            </a:pPr>
            <a:r>
              <a:rPr lang="en-US"/>
              <a:t>Time complexity continues to be O(n)</a:t>
            </a:r>
            <a:endParaRPr/>
          </a:p>
          <a:p>
            <a:pPr indent="-228600" lvl="0" marL="228600" rtl="0" algn="l">
              <a:lnSpc>
                <a:spcPct val="80000"/>
              </a:lnSpc>
              <a:spcBef>
                <a:spcPts val="1000"/>
              </a:spcBef>
              <a:spcAft>
                <a:spcPts val="0"/>
              </a:spcAft>
              <a:buClr>
                <a:schemeClr val="dk1"/>
              </a:buClr>
              <a:buSzPts val="2800"/>
              <a:buChar char="•"/>
            </a:pPr>
            <a:r>
              <a:rPr lang="en-US"/>
              <a:t>Can we exploit the order structure in the input to gain performance, i.e. reduce time complexity?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Ordered array – Chunk Search</a:t>
            </a:r>
            <a:endParaRPr/>
          </a:p>
        </p:txBody>
      </p:sp>
      <p:sp>
        <p:nvSpPr>
          <p:cNvPr id="137" name="Google Shape;137;p7"/>
          <p:cNvSpPr txBox="1"/>
          <p:nvPr>
            <p:ph idx="1" type="body"/>
          </p:nvPr>
        </p:nvSpPr>
        <p:spPr>
          <a:xfrm>
            <a:off x="838200" y="2085109"/>
            <a:ext cx="11222182" cy="467159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Think of array as broken into contiguous “chunks” of size c, i.e. </a:t>
            </a:r>
            <a:endParaRPr/>
          </a:p>
          <a:p>
            <a:pPr indent="0" lvl="0" marL="0" rtl="0" algn="l">
              <a:lnSpc>
                <a:spcPct val="90000"/>
              </a:lnSpc>
              <a:spcBef>
                <a:spcPts val="1000"/>
              </a:spcBef>
              <a:spcAft>
                <a:spcPts val="0"/>
              </a:spcAft>
              <a:buClr>
                <a:schemeClr val="dk1"/>
              </a:buClr>
              <a:buSzPts val="2800"/>
              <a:buNone/>
            </a:pPr>
            <a:r>
              <a:rPr lang="en-US"/>
              <a:t>       1</a:t>
            </a:r>
            <a:r>
              <a:rPr baseline="30000" lang="en-US"/>
              <a:t>st</a:t>
            </a:r>
            <a:r>
              <a:rPr lang="en-US"/>
              <a:t> chunk                        2</a:t>
            </a:r>
            <a:r>
              <a:rPr baseline="30000" lang="en-US"/>
              <a:t>nd</a:t>
            </a:r>
            <a:r>
              <a:rPr lang="en-US"/>
              <a:t> chunk                               (n/c)th chunk</a:t>
            </a:r>
            <a:endParaRPr/>
          </a:p>
          <a:p>
            <a:pPr indent="0" lvl="0" marL="0" rtl="0" algn="l">
              <a:lnSpc>
                <a:spcPct val="90000"/>
              </a:lnSpc>
              <a:spcBef>
                <a:spcPts val="1000"/>
              </a:spcBef>
              <a:spcAft>
                <a:spcPts val="0"/>
              </a:spcAft>
              <a:buClr>
                <a:schemeClr val="dk1"/>
              </a:buClr>
              <a:buSzPts val="2800"/>
              <a:buNone/>
            </a:pPr>
            <a:r>
              <a:rPr lang="en-US"/>
              <a:t>A[1], A[2] … A[c],     A[c+1], A[c+2], … A[2c], … A[n-c+1], A[n-c+2], … A[n]</a:t>
            </a:r>
            <a:endParaRPr baseline="-25000"/>
          </a:p>
          <a:p>
            <a:pPr indent="-228600" lvl="0" marL="228600" rtl="0" algn="l">
              <a:lnSpc>
                <a:spcPct val="90000"/>
              </a:lnSpc>
              <a:spcBef>
                <a:spcPts val="1000"/>
              </a:spcBef>
              <a:spcAft>
                <a:spcPts val="0"/>
              </a:spcAft>
              <a:buClr>
                <a:schemeClr val="dk1"/>
              </a:buClr>
              <a:buSzPts val="2800"/>
              <a:buChar char="•"/>
            </a:pPr>
            <a:r>
              <a:rPr lang="en-US"/>
              <a:t>Do a linear search over the subsequence comprised of the last elements of each chunk to find a potential chunk where x might be located and then do linear search over that chunk</a:t>
            </a:r>
            <a:endParaRPr/>
          </a:p>
          <a:p>
            <a:pPr indent="-228600" lvl="0" marL="228600" rtl="0" algn="l">
              <a:lnSpc>
                <a:spcPct val="90000"/>
              </a:lnSpc>
              <a:spcBef>
                <a:spcPts val="1000"/>
              </a:spcBef>
              <a:spcAft>
                <a:spcPts val="0"/>
              </a:spcAft>
              <a:buClr>
                <a:schemeClr val="dk1"/>
              </a:buClr>
              <a:buSzPts val="2800"/>
              <a:buChar char="•"/>
            </a:pPr>
            <a:r>
              <a:rPr lang="en-US"/>
              <a:t>Idea: if x is greater than the last element of a chunk then it could not possibly be located in that chunk and we can skip the chunk entirely saving a chunk-worth of comparisons</a:t>
            </a:r>
            <a:endParaRPr/>
          </a:p>
          <a:p>
            <a:pPr indent="0" lvl="0" marL="0" rtl="0" algn="l">
              <a:lnSpc>
                <a:spcPct val="90000"/>
              </a:lnSpc>
              <a:spcBef>
                <a:spcPts val="1000"/>
              </a:spcBef>
              <a:spcAft>
                <a:spcPts val="0"/>
              </a:spcAft>
              <a:buClr>
                <a:schemeClr val="dk1"/>
              </a:buClr>
              <a:buSzPts val="2800"/>
              <a:buNone/>
            </a:pPr>
            <a:r>
              <a:t/>
            </a:r>
            <a:endParaRPr>
              <a:latin typeface="Consolas"/>
              <a:ea typeface="Consolas"/>
              <a:cs typeface="Consolas"/>
              <a:sym typeface="Consolas"/>
            </a:endParaRPr>
          </a:p>
        </p:txBody>
      </p:sp>
      <p:cxnSp>
        <p:nvCxnSpPr>
          <p:cNvPr id="138" name="Google Shape;138;p7"/>
          <p:cNvCxnSpPr/>
          <p:nvPr/>
        </p:nvCxnSpPr>
        <p:spPr>
          <a:xfrm flipH="1" rot="10800000">
            <a:off x="973758" y="3089997"/>
            <a:ext cx="2309769" cy="1"/>
          </a:xfrm>
          <a:prstGeom prst="straightConnector1">
            <a:avLst/>
          </a:prstGeom>
          <a:noFill/>
          <a:ln cap="flat" cmpd="sng" w="38100">
            <a:solidFill>
              <a:schemeClr val="accent1"/>
            </a:solidFill>
            <a:prstDash val="solid"/>
            <a:miter lim="800000"/>
            <a:headEnd len="sm" w="sm" type="none"/>
            <a:tailEnd len="sm" w="sm" type="none"/>
          </a:ln>
        </p:spPr>
      </p:cxnSp>
      <p:cxnSp>
        <p:nvCxnSpPr>
          <p:cNvPr id="139" name="Google Shape;139;p7"/>
          <p:cNvCxnSpPr/>
          <p:nvPr/>
        </p:nvCxnSpPr>
        <p:spPr>
          <a:xfrm>
            <a:off x="3862431" y="3111645"/>
            <a:ext cx="3147969" cy="0"/>
          </a:xfrm>
          <a:prstGeom prst="straightConnector1">
            <a:avLst/>
          </a:prstGeom>
          <a:noFill/>
          <a:ln cap="flat" cmpd="sng" w="38100">
            <a:solidFill>
              <a:schemeClr val="accent1"/>
            </a:solidFill>
            <a:prstDash val="solid"/>
            <a:miter lim="800000"/>
            <a:headEnd len="sm" w="sm" type="none"/>
            <a:tailEnd len="sm" w="sm" type="none"/>
          </a:ln>
        </p:spPr>
      </p:cxnSp>
      <p:cxnSp>
        <p:nvCxnSpPr>
          <p:cNvPr id="140" name="Google Shape;140;p7"/>
          <p:cNvCxnSpPr/>
          <p:nvPr/>
        </p:nvCxnSpPr>
        <p:spPr>
          <a:xfrm flipH="1" rot="10800000">
            <a:off x="7630869" y="3089997"/>
            <a:ext cx="3722931" cy="14721"/>
          </a:xfrm>
          <a:prstGeom prst="straightConnector1">
            <a:avLst/>
          </a:prstGeom>
          <a:noFill/>
          <a:ln cap="flat" cmpd="sng" w="38100">
            <a:solidFill>
              <a:schemeClr val="accent1"/>
            </a:solidFill>
            <a:prstDash val="solid"/>
            <a:miter lim="800000"/>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Ordered array – Chunk Search</a:t>
            </a:r>
            <a:endParaRPr/>
          </a:p>
        </p:txBody>
      </p:sp>
      <p:sp>
        <p:nvSpPr>
          <p:cNvPr id="146" name="Google Shape;146;p8"/>
          <p:cNvSpPr txBox="1"/>
          <p:nvPr>
            <p:ph idx="1" type="body"/>
          </p:nvPr>
        </p:nvSpPr>
        <p:spPr>
          <a:xfrm>
            <a:off x="838200" y="2292927"/>
            <a:ext cx="10515600" cy="446377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u="sng"/>
              <a:t>ChunkSearch</a:t>
            </a:r>
            <a:endParaRPr u="sng"/>
          </a:p>
          <a:p>
            <a:pPr indent="0" lvl="0" marL="0" rtl="0" algn="l">
              <a:lnSpc>
                <a:spcPct val="90000"/>
              </a:lnSpc>
              <a:spcBef>
                <a:spcPts val="1000"/>
              </a:spcBef>
              <a:spcAft>
                <a:spcPts val="0"/>
              </a:spcAft>
              <a:buClr>
                <a:schemeClr val="dk1"/>
              </a:buClr>
              <a:buSzPts val="2800"/>
              <a:buNone/>
            </a:pPr>
            <a:r>
              <a:rPr lang="en-US"/>
              <a:t>   </a:t>
            </a:r>
            <a:r>
              <a:rPr lang="en-US">
                <a:latin typeface="Consolas"/>
                <a:ea typeface="Consolas"/>
                <a:cs typeface="Consolas"/>
                <a:sym typeface="Consolas"/>
              </a:rPr>
              <a:t>For i = c To n, step c</a:t>
            </a:r>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If x ≤ a</a:t>
            </a:r>
            <a:r>
              <a:rPr baseline="-25000" lang="en-US">
                <a:latin typeface="Consolas"/>
                <a:ea typeface="Consolas"/>
                <a:cs typeface="Consolas"/>
                <a:sym typeface="Consolas"/>
              </a:rPr>
              <a:t>i</a:t>
            </a:r>
            <a:r>
              <a:rPr lang="en-US">
                <a:latin typeface="Consolas"/>
                <a:ea typeface="Consolas"/>
                <a:cs typeface="Consolas"/>
                <a:sym typeface="Consolas"/>
              </a:rPr>
              <a:t> Then For j = i-c+1 to i</a:t>
            </a:r>
            <a:endParaRPr>
              <a:latin typeface="Consolas"/>
              <a:ea typeface="Consolas"/>
              <a:cs typeface="Consolas"/>
              <a:sym typeface="Consolas"/>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If x = a</a:t>
            </a:r>
            <a:r>
              <a:rPr baseline="-25000" lang="en-US">
                <a:latin typeface="Consolas"/>
                <a:ea typeface="Consolas"/>
                <a:cs typeface="Consolas"/>
                <a:sym typeface="Consolas"/>
              </a:rPr>
              <a:t>j</a:t>
            </a:r>
            <a:r>
              <a:rPr lang="en-US">
                <a:latin typeface="Consolas"/>
                <a:ea typeface="Consolas"/>
                <a:cs typeface="Consolas"/>
                <a:sym typeface="Consolas"/>
              </a:rPr>
              <a:t> Then Return(j)</a:t>
            </a:r>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Endfor</a:t>
            </a:r>
            <a:endParaRPr>
              <a:latin typeface="Consolas"/>
              <a:ea typeface="Consolas"/>
              <a:cs typeface="Consolas"/>
              <a:sym typeface="Consolas"/>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Return(not-found)   </a:t>
            </a:r>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Endfor</a:t>
            </a:r>
            <a:endParaRPr>
              <a:latin typeface="Consolas"/>
              <a:ea typeface="Consolas"/>
              <a:cs typeface="Consolas"/>
              <a:sym typeface="Consolas"/>
            </a:endParaRPr>
          </a:p>
          <a:p>
            <a:pPr indent="0" lvl="0" marL="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Return(not-found)</a:t>
            </a:r>
            <a:endParaRPr/>
          </a:p>
          <a:p>
            <a:pPr indent="0" lvl="0" marL="0" rtl="0" algn="l">
              <a:lnSpc>
                <a:spcPct val="90000"/>
              </a:lnSpc>
              <a:spcBef>
                <a:spcPts val="1000"/>
              </a:spcBef>
              <a:spcAft>
                <a:spcPts val="0"/>
              </a:spcAft>
              <a:buClr>
                <a:schemeClr val="dk1"/>
              </a:buClr>
              <a:buSzPts val="2800"/>
              <a:buNone/>
            </a:pPr>
            <a:r>
              <a:t/>
            </a:r>
            <a:endParaRPr>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Ordered array – Chunk Search</a:t>
            </a:r>
            <a:endParaRPr/>
          </a:p>
        </p:txBody>
      </p:sp>
      <p:sp>
        <p:nvSpPr>
          <p:cNvPr id="152" name="Google Shape;152;p9"/>
          <p:cNvSpPr txBox="1"/>
          <p:nvPr>
            <p:ph idx="1" type="body"/>
          </p:nvPr>
        </p:nvSpPr>
        <p:spPr>
          <a:xfrm>
            <a:off x="838200" y="1825624"/>
            <a:ext cx="10515600" cy="493107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the time complexity of Chunk-Search?</a:t>
            </a:r>
            <a:endParaRPr/>
          </a:p>
          <a:p>
            <a:pPr indent="-228600" lvl="0" marL="228600" rtl="0" algn="l">
              <a:lnSpc>
                <a:spcPct val="90000"/>
              </a:lnSpc>
              <a:spcBef>
                <a:spcPts val="1000"/>
              </a:spcBef>
              <a:spcAft>
                <a:spcPts val="0"/>
              </a:spcAft>
              <a:buClr>
                <a:schemeClr val="dk1"/>
              </a:buClr>
              <a:buSzPts val="2800"/>
              <a:buChar char="•"/>
            </a:pPr>
            <a:r>
              <a:rPr lang="en-US"/>
              <a:t>Again, we consider the worst-case. In the worst case we compare with the entire subsequence of last elements and then compare against the entire last chunk.</a:t>
            </a:r>
            <a:endParaRPr/>
          </a:p>
          <a:p>
            <a:pPr indent="-228600" lvl="0" marL="228600" rtl="0" algn="l">
              <a:lnSpc>
                <a:spcPct val="90000"/>
              </a:lnSpc>
              <a:spcBef>
                <a:spcPts val="1000"/>
              </a:spcBef>
              <a:spcAft>
                <a:spcPts val="0"/>
              </a:spcAft>
              <a:buClr>
                <a:schemeClr val="dk1"/>
              </a:buClr>
              <a:buSzPts val="2800"/>
              <a:buChar char="•"/>
            </a:pPr>
            <a:r>
              <a:rPr lang="en-US"/>
              <a:t>#comparisons = n/c + c</a:t>
            </a:r>
            <a:endParaRPr/>
          </a:p>
          <a:p>
            <a:pPr indent="-228600" lvl="0" marL="228600" rtl="0" algn="l">
              <a:lnSpc>
                <a:spcPct val="90000"/>
              </a:lnSpc>
              <a:spcBef>
                <a:spcPts val="1000"/>
              </a:spcBef>
              <a:spcAft>
                <a:spcPts val="0"/>
              </a:spcAft>
              <a:buClr>
                <a:schemeClr val="dk1"/>
              </a:buClr>
              <a:buSzPts val="2800"/>
              <a:buChar char="•"/>
            </a:pPr>
            <a:r>
              <a:rPr lang="en-US"/>
              <a:t>Remember, we control c and can choose c to minimize the above. Balance #chunks &amp; chunk-size</a:t>
            </a:r>
            <a:endParaRPr/>
          </a:p>
          <a:p>
            <a:pPr indent="0" lvl="0" marL="0" rtl="0" algn="l">
              <a:lnSpc>
                <a:spcPct val="90000"/>
              </a:lnSpc>
              <a:spcBef>
                <a:spcPts val="1000"/>
              </a:spcBef>
              <a:spcAft>
                <a:spcPts val="0"/>
              </a:spcAft>
              <a:buClr>
                <a:schemeClr val="dk1"/>
              </a:buClr>
              <a:buSzPts val="2800"/>
              <a:buNone/>
            </a:pPr>
            <a:r>
              <a:rPr lang="en-US"/>
              <a:t>   n/c = c or c =√n   =&gt;  #comparisons = 2√n</a:t>
            </a:r>
            <a:endParaRPr/>
          </a:p>
          <a:p>
            <a:pPr indent="-228600" lvl="0" marL="228600" rtl="0" algn="l">
              <a:lnSpc>
                <a:spcPct val="90000"/>
              </a:lnSpc>
              <a:spcBef>
                <a:spcPts val="1000"/>
              </a:spcBef>
              <a:spcAft>
                <a:spcPts val="0"/>
              </a:spcAft>
              <a:buClr>
                <a:schemeClr val="dk1"/>
              </a:buClr>
              <a:buSzPts val="2800"/>
              <a:buChar char="•"/>
            </a:pPr>
            <a:r>
              <a:rPr lang="en-US"/>
              <a:t>Time complexity is O(√n)</a:t>
            </a:r>
            <a:endParaRPr/>
          </a:p>
          <a:p>
            <a:pPr indent="-228600" lvl="0" marL="228600" rtl="0" algn="l">
              <a:lnSpc>
                <a:spcPct val="90000"/>
              </a:lnSpc>
              <a:spcBef>
                <a:spcPts val="1000"/>
              </a:spcBef>
              <a:spcAft>
                <a:spcPts val="0"/>
              </a:spcAft>
              <a:buClr>
                <a:schemeClr val="dk1"/>
              </a:buClr>
              <a:buSzPts val="2800"/>
              <a:buChar char="•"/>
            </a:pPr>
            <a:r>
              <a:rPr lang="en-US"/>
              <a:t>Can we exploit the order structure yet more?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Ordered array – Binary Search</a:t>
            </a:r>
            <a:endParaRPr/>
          </a:p>
        </p:txBody>
      </p:sp>
      <p:sp>
        <p:nvSpPr>
          <p:cNvPr id="158" name="Google Shape;158;p10"/>
          <p:cNvSpPr txBox="1"/>
          <p:nvPr>
            <p:ph idx="1" type="body"/>
          </p:nvPr>
        </p:nvSpPr>
        <p:spPr>
          <a:xfrm>
            <a:off x="838199" y="2126673"/>
            <a:ext cx="11098279" cy="4630030"/>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590"/>
              <a:buChar char="•"/>
            </a:pPr>
            <a:r>
              <a:rPr lang="en-US" sz="2590"/>
              <a:t>Instead of linear search over the subsequence of last elements we could break them into chunks again or 2-level chunk search! What is best chunk hierarchy? </a:t>
            </a:r>
            <a:endParaRPr/>
          </a:p>
          <a:p>
            <a:pPr indent="-228600" lvl="0" marL="228600" rtl="0" algn="l">
              <a:lnSpc>
                <a:spcPct val="80000"/>
              </a:lnSpc>
              <a:spcBef>
                <a:spcPts val="1000"/>
              </a:spcBef>
              <a:spcAft>
                <a:spcPts val="0"/>
              </a:spcAft>
              <a:buClr>
                <a:schemeClr val="dk1"/>
              </a:buClr>
              <a:buSzPts val="2590"/>
              <a:buChar char="•"/>
            </a:pPr>
            <a:r>
              <a:rPr lang="en-US" sz="2590"/>
              <a:t>Key idea: when we compare x with A[i]</a:t>
            </a:r>
            <a:r>
              <a:rPr baseline="-25000" lang="en-US" sz="2590"/>
              <a:t> </a:t>
            </a:r>
            <a:r>
              <a:rPr lang="en-US" sz="2590"/>
              <a:t>then depending on the outcome we can ignore all elements before or after i</a:t>
            </a:r>
            <a:endParaRPr sz="2590"/>
          </a:p>
          <a:p>
            <a:pPr indent="-228600" lvl="0" marL="228600" rtl="0" algn="l">
              <a:lnSpc>
                <a:spcPct val="80000"/>
              </a:lnSpc>
              <a:spcBef>
                <a:spcPts val="1000"/>
              </a:spcBef>
              <a:spcAft>
                <a:spcPts val="0"/>
              </a:spcAft>
              <a:buClr>
                <a:schemeClr val="dk1"/>
              </a:buClr>
              <a:buSzPts val="2590"/>
              <a:buChar char="•"/>
            </a:pPr>
            <a:r>
              <a:rPr lang="en-US" sz="2590" u="sng"/>
              <a:t>BinarySearch(low, high)</a:t>
            </a:r>
            <a:endParaRPr/>
          </a:p>
          <a:p>
            <a:pPr indent="0" lvl="0" marL="0" rtl="0" algn="l">
              <a:lnSpc>
                <a:spcPct val="80000"/>
              </a:lnSpc>
              <a:spcBef>
                <a:spcPts val="1000"/>
              </a:spcBef>
              <a:spcAft>
                <a:spcPts val="0"/>
              </a:spcAft>
              <a:buClr>
                <a:schemeClr val="dk1"/>
              </a:buClr>
              <a:buSzPts val="2590"/>
              <a:buNone/>
            </a:pPr>
            <a:r>
              <a:rPr lang="en-US" sz="2590">
                <a:latin typeface="Consolas"/>
                <a:ea typeface="Consolas"/>
                <a:cs typeface="Consolas"/>
                <a:sym typeface="Consolas"/>
              </a:rPr>
              <a:t> If (high &lt; low) Then Return(not-found)</a:t>
            </a:r>
            <a:endParaRPr/>
          </a:p>
          <a:p>
            <a:pPr indent="0" lvl="0" marL="0" rtl="0" algn="l">
              <a:lnSpc>
                <a:spcPct val="80000"/>
              </a:lnSpc>
              <a:spcBef>
                <a:spcPts val="1000"/>
              </a:spcBef>
              <a:spcAft>
                <a:spcPts val="0"/>
              </a:spcAft>
              <a:buClr>
                <a:schemeClr val="dk1"/>
              </a:buClr>
              <a:buSzPts val="2590"/>
              <a:buNone/>
            </a:pPr>
            <a:r>
              <a:rPr lang="en-US" sz="2590">
                <a:latin typeface="Consolas"/>
                <a:ea typeface="Consolas"/>
                <a:cs typeface="Consolas"/>
                <a:sym typeface="Consolas"/>
              </a:rPr>
              <a:t> mid = (low + high) / 2</a:t>
            </a:r>
            <a:endParaRPr/>
          </a:p>
          <a:p>
            <a:pPr indent="0" lvl="0" marL="0" rtl="0" algn="l">
              <a:lnSpc>
                <a:spcPct val="80000"/>
              </a:lnSpc>
              <a:spcBef>
                <a:spcPts val="1000"/>
              </a:spcBef>
              <a:spcAft>
                <a:spcPts val="0"/>
              </a:spcAft>
              <a:buClr>
                <a:schemeClr val="dk1"/>
              </a:buClr>
              <a:buSzPts val="2590"/>
              <a:buNone/>
            </a:pPr>
            <a:r>
              <a:rPr lang="en-US" sz="2590">
                <a:latin typeface="Consolas"/>
                <a:ea typeface="Consolas"/>
                <a:cs typeface="Consolas"/>
                <a:sym typeface="Consolas"/>
              </a:rPr>
              <a:t> If (A[mid] &gt; x) Then Return(BinarySearch(low, mid-1))</a:t>
            </a:r>
            <a:endParaRPr/>
          </a:p>
          <a:p>
            <a:pPr indent="0" lvl="0" marL="0" rtl="0" algn="l">
              <a:lnSpc>
                <a:spcPct val="80000"/>
              </a:lnSpc>
              <a:spcBef>
                <a:spcPts val="1000"/>
              </a:spcBef>
              <a:spcAft>
                <a:spcPts val="0"/>
              </a:spcAft>
              <a:buClr>
                <a:schemeClr val="dk1"/>
              </a:buClr>
              <a:buSzPts val="2590"/>
              <a:buNone/>
            </a:pPr>
            <a:r>
              <a:rPr lang="en-US" sz="2590">
                <a:latin typeface="Consolas"/>
                <a:ea typeface="Consolas"/>
                <a:cs typeface="Consolas"/>
                <a:sym typeface="Consolas"/>
              </a:rPr>
              <a:t> ElseIf (A[mid] &lt; x) Then Return(BinarySearch(mid+1, high))</a:t>
            </a:r>
            <a:endParaRPr/>
          </a:p>
          <a:p>
            <a:pPr indent="0" lvl="0" marL="0" rtl="0" algn="l">
              <a:lnSpc>
                <a:spcPct val="80000"/>
              </a:lnSpc>
              <a:spcBef>
                <a:spcPts val="1000"/>
              </a:spcBef>
              <a:spcAft>
                <a:spcPts val="0"/>
              </a:spcAft>
              <a:buClr>
                <a:schemeClr val="dk1"/>
              </a:buClr>
              <a:buSzPts val="2590"/>
              <a:buNone/>
            </a:pPr>
            <a:r>
              <a:rPr lang="en-US" sz="2590">
                <a:latin typeface="Consolas"/>
                <a:ea typeface="Consolas"/>
                <a:cs typeface="Consolas"/>
                <a:sym typeface="Consolas"/>
              </a:rPr>
              <a:t> Else Return(mid)</a:t>
            </a:r>
            <a:endParaRPr/>
          </a:p>
          <a:p>
            <a:pPr indent="0" lvl="0" marL="0" rtl="0" algn="l">
              <a:lnSpc>
                <a:spcPct val="80000"/>
              </a:lnSpc>
              <a:spcBef>
                <a:spcPts val="1000"/>
              </a:spcBef>
              <a:spcAft>
                <a:spcPts val="0"/>
              </a:spcAft>
              <a:buClr>
                <a:schemeClr val="dk1"/>
              </a:buClr>
              <a:buSzPts val="2590"/>
              <a:buNone/>
            </a:pPr>
            <a:r>
              <a:rPr lang="en-US" sz="2590">
                <a:latin typeface="Consolas"/>
                <a:ea typeface="Consolas"/>
                <a:cs typeface="Consolas"/>
                <a:sym typeface="Consolas"/>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Ordered array – Binary Search</a:t>
            </a:r>
            <a:endParaRPr/>
          </a:p>
        </p:txBody>
      </p:sp>
      <p:sp>
        <p:nvSpPr>
          <p:cNvPr id="164" name="Google Shape;164;p11"/>
          <p:cNvSpPr txBox="1"/>
          <p:nvPr>
            <p:ph idx="1" type="body"/>
          </p:nvPr>
        </p:nvSpPr>
        <p:spPr>
          <a:xfrm>
            <a:off x="838200" y="1825624"/>
            <a:ext cx="10515600" cy="493107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the time complexity of BinarySearch?</a:t>
            </a:r>
            <a:endParaRPr/>
          </a:p>
          <a:p>
            <a:pPr indent="-228600" lvl="0" marL="228600" rtl="0" algn="l">
              <a:lnSpc>
                <a:spcPct val="90000"/>
              </a:lnSpc>
              <a:spcBef>
                <a:spcPts val="1000"/>
              </a:spcBef>
              <a:spcAft>
                <a:spcPts val="0"/>
              </a:spcAft>
              <a:buClr>
                <a:schemeClr val="dk1"/>
              </a:buClr>
              <a:buSzPts val="2800"/>
              <a:buChar char="•"/>
            </a:pPr>
            <a:r>
              <a:rPr lang="en-US"/>
              <a:t>Recursive algorithm. Recurrence: T(n) = T(n/2) + 1; T(1)=1</a:t>
            </a:r>
            <a:endParaRPr/>
          </a:p>
          <a:p>
            <a:pPr indent="-228600" lvl="0" marL="228600" rtl="0" algn="l">
              <a:lnSpc>
                <a:spcPct val="90000"/>
              </a:lnSpc>
              <a:spcBef>
                <a:spcPts val="1000"/>
              </a:spcBef>
              <a:spcAft>
                <a:spcPts val="0"/>
              </a:spcAft>
              <a:buClr>
                <a:schemeClr val="dk1"/>
              </a:buClr>
              <a:buSzPts val="2800"/>
              <a:buChar char="•"/>
            </a:pPr>
            <a:r>
              <a:rPr lang="en-US"/>
              <a:t>Solution: T(n) = T(n/2) + 1 </a:t>
            </a:r>
            <a:endParaRPr/>
          </a:p>
          <a:p>
            <a:pPr indent="0" lvl="0" marL="0" rtl="0" algn="l">
              <a:lnSpc>
                <a:spcPct val="90000"/>
              </a:lnSpc>
              <a:spcBef>
                <a:spcPts val="1000"/>
              </a:spcBef>
              <a:spcAft>
                <a:spcPts val="0"/>
              </a:spcAft>
              <a:buClr>
                <a:schemeClr val="dk1"/>
              </a:buClr>
              <a:buSzPts val="2800"/>
              <a:buNone/>
            </a:pPr>
            <a:r>
              <a:rPr lang="en-US"/>
              <a:t>                            = T(n/2</a:t>
            </a:r>
            <a:r>
              <a:rPr baseline="30000" lang="en-US"/>
              <a:t>2</a:t>
            </a:r>
            <a:r>
              <a:rPr lang="en-US"/>
              <a:t>) + 2 </a:t>
            </a:r>
            <a:endParaRPr/>
          </a:p>
          <a:p>
            <a:pPr indent="0" lvl="0" marL="0" rtl="0" algn="l">
              <a:lnSpc>
                <a:spcPct val="90000"/>
              </a:lnSpc>
              <a:spcBef>
                <a:spcPts val="1000"/>
              </a:spcBef>
              <a:spcAft>
                <a:spcPts val="0"/>
              </a:spcAft>
              <a:buClr>
                <a:schemeClr val="dk1"/>
              </a:buClr>
              <a:buSzPts val="2800"/>
              <a:buNone/>
            </a:pPr>
            <a:r>
              <a:rPr lang="en-US"/>
              <a:t>                            = … </a:t>
            </a:r>
            <a:endParaRPr/>
          </a:p>
          <a:p>
            <a:pPr indent="0" lvl="0" marL="0" rtl="0" algn="l">
              <a:lnSpc>
                <a:spcPct val="90000"/>
              </a:lnSpc>
              <a:spcBef>
                <a:spcPts val="1000"/>
              </a:spcBef>
              <a:spcAft>
                <a:spcPts val="0"/>
              </a:spcAft>
              <a:buClr>
                <a:schemeClr val="dk1"/>
              </a:buClr>
              <a:buSzPts val="2800"/>
              <a:buNone/>
            </a:pPr>
            <a:r>
              <a:rPr lang="en-US"/>
              <a:t>                            = T(n/2</a:t>
            </a:r>
            <a:r>
              <a:rPr baseline="30000" lang="en-US"/>
              <a:t>k</a:t>
            </a:r>
            <a:r>
              <a:rPr lang="en-US"/>
              <a:t>) + k </a:t>
            </a:r>
            <a:endParaRPr/>
          </a:p>
          <a:p>
            <a:pPr indent="0" lvl="0" marL="0" rtl="0" algn="l">
              <a:lnSpc>
                <a:spcPct val="90000"/>
              </a:lnSpc>
              <a:spcBef>
                <a:spcPts val="1000"/>
              </a:spcBef>
              <a:spcAft>
                <a:spcPts val="0"/>
              </a:spcAft>
              <a:buClr>
                <a:schemeClr val="dk1"/>
              </a:buClr>
              <a:buSzPts val="2800"/>
              <a:buNone/>
            </a:pPr>
            <a:r>
              <a:rPr lang="en-US"/>
              <a:t>                            = T(n/2</a:t>
            </a:r>
            <a:r>
              <a:rPr baseline="30000" lang="en-US"/>
              <a:t>lg n</a:t>
            </a:r>
            <a:r>
              <a:rPr lang="en-US"/>
              <a:t>) + lg n</a:t>
            </a:r>
            <a:endParaRPr/>
          </a:p>
          <a:p>
            <a:pPr indent="0" lvl="0" marL="0" rtl="0" algn="l">
              <a:lnSpc>
                <a:spcPct val="90000"/>
              </a:lnSpc>
              <a:spcBef>
                <a:spcPts val="1000"/>
              </a:spcBef>
              <a:spcAft>
                <a:spcPts val="0"/>
              </a:spcAft>
              <a:buClr>
                <a:schemeClr val="dk1"/>
              </a:buClr>
              <a:buSzPts val="2800"/>
              <a:buNone/>
            </a:pPr>
            <a:r>
              <a:rPr lang="en-US"/>
              <a:t>                            =  </a:t>
            </a:r>
            <a:r>
              <a:rPr lang="en-US">
                <a:latin typeface="Cambria"/>
                <a:ea typeface="Cambria"/>
                <a:cs typeface="Cambria"/>
                <a:sym typeface="Cambria"/>
              </a:rPr>
              <a:t>O(lg n)</a:t>
            </a:r>
            <a:endParaRPr/>
          </a:p>
          <a:p>
            <a:pPr indent="-228600" lvl="0" marL="228600" rtl="0" algn="l">
              <a:lnSpc>
                <a:spcPct val="90000"/>
              </a:lnSpc>
              <a:spcBef>
                <a:spcPts val="1000"/>
              </a:spcBef>
              <a:spcAft>
                <a:spcPts val="0"/>
              </a:spcAft>
              <a:buClr>
                <a:schemeClr val="dk1"/>
              </a:buClr>
              <a:buSzPts val="2800"/>
              <a:buChar char="•"/>
            </a:pPr>
            <a:r>
              <a:rPr lang="en-US"/>
              <a:t>Time complexity is O(lg n). And this is tight.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type="title"/>
          </p:nvPr>
        </p:nvSpPr>
        <p:spPr>
          <a:xfrm>
            <a:off x="605126" y="-66116"/>
            <a:ext cx="11131115" cy="167660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Cellphone-Drop puzzle</a:t>
            </a:r>
            <a:endParaRPr/>
          </a:p>
        </p:txBody>
      </p:sp>
      <p:sp>
        <p:nvSpPr>
          <p:cNvPr id="170" name="Google Shape;170;p12"/>
          <p:cNvSpPr txBox="1"/>
          <p:nvPr>
            <p:ph idx="1" type="body"/>
          </p:nvPr>
        </p:nvSpPr>
        <p:spPr>
          <a:xfrm>
            <a:off x="630668" y="1384590"/>
            <a:ext cx="7423507" cy="431881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You are a summer intern at Samsung hired to test the breakability of cellphones. Your manager gives you one cellphone and asks you to find the lowest floor from which it will break when dropped from that floor. You know that it doesn’t break when dropped from the ground floor and it definitely breaks when dropped from the roof. What is the minimum number of drops you need to try in the worst case? </a:t>
            </a:r>
            <a:endParaRPr/>
          </a:p>
          <a:p>
            <a:pPr indent="-228600" lvl="0" marL="228600" rtl="0" algn="l">
              <a:lnSpc>
                <a:spcPct val="90000"/>
              </a:lnSpc>
              <a:spcBef>
                <a:spcPts val="1000"/>
              </a:spcBef>
              <a:spcAft>
                <a:spcPts val="0"/>
              </a:spcAft>
              <a:buClr>
                <a:schemeClr val="dk1"/>
              </a:buClr>
              <a:buSzPts val="2800"/>
              <a:buChar char="•"/>
            </a:pPr>
            <a:r>
              <a:rPr lang="en-US"/>
              <a:t>What if you had 2 cellphones? </a:t>
            </a:r>
            <a:endParaRPr/>
          </a:p>
          <a:p>
            <a:pPr indent="-228600" lvl="0" marL="228600" rtl="0" algn="l">
              <a:lnSpc>
                <a:spcPct val="90000"/>
              </a:lnSpc>
              <a:spcBef>
                <a:spcPts val="1000"/>
              </a:spcBef>
              <a:spcAft>
                <a:spcPts val="0"/>
              </a:spcAft>
              <a:buClr>
                <a:schemeClr val="dk1"/>
              </a:buClr>
              <a:buSzPts val="2800"/>
              <a:buChar char="•"/>
            </a:pPr>
            <a:r>
              <a:rPr lang="en-US"/>
              <a:t>3 cellphones?</a:t>
            </a:r>
            <a:endParaRPr/>
          </a:p>
          <a:p>
            <a:pPr indent="-228600" lvl="0" marL="228600" rtl="0" algn="l">
              <a:lnSpc>
                <a:spcPct val="90000"/>
              </a:lnSpc>
              <a:spcBef>
                <a:spcPts val="1000"/>
              </a:spcBef>
              <a:spcAft>
                <a:spcPts val="0"/>
              </a:spcAft>
              <a:buClr>
                <a:schemeClr val="dk1"/>
              </a:buClr>
              <a:buSzPts val="2800"/>
              <a:buChar char="•"/>
            </a:pPr>
            <a:r>
              <a:rPr lang="en-US"/>
              <a:t>An unlimited number of cellphones? </a:t>
            </a:r>
            <a:endParaRPr/>
          </a:p>
        </p:txBody>
      </p:sp>
      <p:pic>
        <p:nvPicPr>
          <p:cNvPr id="171" name="Google Shape;171;p12"/>
          <p:cNvPicPr preferRelativeResize="0"/>
          <p:nvPr/>
        </p:nvPicPr>
        <p:blipFill rotWithShape="1">
          <a:blip r:embed="rId4">
            <a:alphaModFix/>
          </a:blip>
          <a:srcRect b="9665" l="0" r="-2" t="22235"/>
          <a:stretch/>
        </p:blipFill>
        <p:spPr>
          <a:xfrm>
            <a:off x="8543592" y="230002"/>
            <a:ext cx="3682066" cy="6627997"/>
          </a:xfrm>
          <a:prstGeom prst="rect">
            <a:avLst/>
          </a:prstGeom>
          <a:noFill/>
          <a:ln>
            <a:noFill/>
          </a:ln>
        </p:spPr>
      </p:pic>
      <p:sp>
        <p:nvSpPr>
          <p:cNvPr id="172" name="Google Shape;172;p12"/>
          <p:cNvSpPr txBox="1"/>
          <p:nvPr/>
        </p:nvSpPr>
        <p:spPr>
          <a:xfrm>
            <a:off x="9884958" y="6657945"/>
            <a:ext cx="2307042" cy="200055"/>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00" u="sng" cap="none" strike="noStrike">
                <a:solidFill>
                  <a:srgbClr val="FFFFFF"/>
                </a:solidFill>
                <a:latin typeface="Calibri"/>
                <a:ea typeface="Calibri"/>
                <a:cs typeface="Calibri"/>
                <a:sym typeface="Calibri"/>
                <a:hlinkClick r:id="rId5">
                  <a:extLst>
                    <a:ext uri="{A12FA001-AC4F-418D-AE19-62706E023703}">
                      <ahyp:hlinkClr val="tx"/>
                    </a:ext>
                  </a:extLst>
                </a:hlinkClick>
              </a:rPr>
              <a:t>This Photo</a:t>
            </a:r>
            <a:r>
              <a:rPr b="0" i="0" lang="en-US" sz="700" u="none" cap="none" strike="noStrike">
                <a:solidFill>
                  <a:srgbClr val="FFFFFF"/>
                </a:solidFill>
                <a:latin typeface="Calibri"/>
                <a:ea typeface="Calibri"/>
                <a:cs typeface="Calibri"/>
                <a:sym typeface="Calibri"/>
              </a:rPr>
              <a:t> by Unknown Author is licensed under </a:t>
            </a:r>
            <a:r>
              <a:rPr b="0" i="0" lang="en-US" sz="700" u="sng" cap="none" strike="noStrike">
                <a:solidFill>
                  <a:srgbClr val="FFFFFF"/>
                </a:solidFill>
                <a:latin typeface="Calibri"/>
                <a:ea typeface="Calibri"/>
                <a:cs typeface="Calibri"/>
                <a:sym typeface="Calibri"/>
                <a:hlinkClick r:id="rId6">
                  <a:extLst>
                    <a:ext uri="{A12FA001-AC4F-418D-AE19-62706E023703}">
                      <ahyp:hlinkClr val="tx"/>
                    </a:ext>
                  </a:extLst>
                </a:hlinkClick>
              </a:rPr>
              <a:t>CC BY-SA</a:t>
            </a:r>
            <a:endParaRPr b="0" i="0" sz="700" u="none" cap="none" strike="noStrik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Summary</a:t>
            </a:r>
            <a:endParaRPr/>
          </a:p>
        </p:txBody>
      </p:sp>
      <p:sp>
        <p:nvSpPr>
          <p:cNvPr id="179" name="Google Shape;17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algorithm is a recipe that a computer uses to convert its input into the desired output.</a:t>
            </a:r>
            <a:endParaRPr/>
          </a:p>
          <a:p>
            <a:pPr indent="-228600" lvl="0" marL="228600" rtl="0" algn="l">
              <a:lnSpc>
                <a:spcPct val="90000"/>
              </a:lnSpc>
              <a:spcBef>
                <a:spcPts val="1000"/>
              </a:spcBef>
              <a:spcAft>
                <a:spcPts val="0"/>
              </a:spcAft>
              <a:buClr>
                <a:schemeClr val="dk1"/>
              </a:buClr>
              <a:buSzPts val="2800"/>
              <a:buChar char="•"/>
            </a:pPr>
            <a:r>
              <a:rPr lang="en-US"/>
              <a:t>We care about time and space complexity and parameterize them in terms of n the size of the input. </a:t>
            </a:r>
            <a:endParaRPr/>
          </a:p>
          <a:p>
            <a:pPr indent="-228600" lvl="0" marL="228600" rtl="0" algn="l">
              <a:lnSpc>
                <a:spcPct val="90000"/>
              </a:lnSpc>
              <a:spcBef>
                <a:spcPts val="1000"/>
              </a:spcBef>
              <a:spcAft>
                <a:spcPts val="0"/>
              </a:spcAft>
              <a:buClr>
                <a:schemeClr val="dk1"/>
              </a:buClr>
              <a:buSzPts val="2800"/>
              <a:buChar char="•"/>
            </a:pPr>
            <a:r>
              <a:rPr lang="en-US"/>
              <a:t>We work with an abstract model of the computer.</a:t>
            </a:r>
            <a:endParaRPr/>
          </a:p>
          <a:p>
            <a:pPr indent="-228600" lvl="0" marL="228600" rtl="0" algn="l">
              <a:lnSpc>
                <a:spcPct val="90000"/>
              </a:lnSpc>
              <a:spcBef>
                <a:spcPts val="1000"/>
              </a:spcBef>
              <a:spcAft>
                <a:spcPts val="0"/>
              </a:spcAft>
              <a:buClr>
                <a:schemeClr val="dk1"/>
              </a:buClr>
              <a:buSzPts val="2800"/>
              <a:buChar char="•"/>
            </a:pPr>
            <a:r>
              <a:rPr lang="en-US"/>
              <a:t>Main Takeaway: the complexity of an algorithm is a worst-case measure, parameterized in terms of input size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2019-09-13T03:48:54Z</dcterms:created>
  <dc:creator>koods koods</dc:creator>
</cp:coreProperties>
</file>