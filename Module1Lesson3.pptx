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3" roundtripDataSignature="AMtx7mi6tWNCaRwTX5eQ4fjJ67uFgVyod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Sulo Turne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FAC2CA-D94C-45AF-B1D6-B7EDCF0E6470}">
  <a:tblStyle styleId="{03FAC2CA-D94C-45AF-B1D6-B7EDCF0E647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0"/>
    <c:plotArea>
      <c:layout>
        <c:manualLayout>
          <c:layoutTarget val="inner"/>
          <c:xMode val="edge"/>
          <c:yMode val="edge"/>
          <c:x val="6.0415094316449078E-2"/>
          <c:y val="3.474718737437188E-2"/>
          <c:w val="0.81653520846523675"/>
          <c:h val="0.92198389717243923"/>
        </c:manualLayout>
      </c:layout>
      <c:lineChart>
        <c:grouping val="standard"/>
        <c:varyColors val="0"/>
        <c:ser>
          <c:idx val="0"/>
          <c:order val="0"/>
          <c:tx>
            <c:strRef>
              <c:f>Sheet1!$B$1</c:f>
              <c:strCache>
                <c:ptCount val="1"/>
                <c:pt idx="0">
                  <c:v>_D_</c:v>
                </c:pt>
              </c:strCache>
            </c:strRef>
          </c:tx>
          <c:spPr>
            <a:ln w="19050" cap="rnd" cmpd="sng" algn="ctr">
              <a:solidFill>
                <a:schemeClr val="dk1">
                  <a:tint val="88000"/>
                </a:schemeClr>
              </a:solidFill>
              <a:prstDash val="solid"/>
              <a:round/>
            </a:ln>
            <a:effectLst/>
          </c:spPr>
          <c:marker>
            <c:symbol val="none"/>
          </c:marker>
          <c:val>
            <c:numRef>
              <c:f>Sheet1!$B$2:$B$8</c:f>
              <c:numCache>
                <c:formatCode>General</c:formatCode>
                <c:ptCount val="7"/>
                <c:pt idx="0">
                  <c:v>2</c:v>
                </c:pt>
                <c:pt idx="1">
                  <c:v>2</c:v>
                </c:pt>
                <c:pt idx="2">
                  <c:v>2</c:v>
                </c:pt>
                <c:pt idx="3">
                  <c:v>2</c:v>
                </c:pt>
                <c:pt idx="4">
                  <c:v>2</c:v>
                </c:pt>
                <c:pt idx="5">
                  <c:v>2</c:v>
                </c:pt>
                <c:pt idx="6">
                  <c:v>2</c:v>
                </c:pt>
              </c:numCache>
            </c:numRef>
          </c:val>
          <c:smooth val="0"/>
          <c:extLst>
            <c:ext xmlns:c16="http://schemas.microsoft.com/office/drawing/2014/chart" uri="{C3380CC4-5D6E-409C-BE32-E72D297353CC}">
              <c16:uniqueId val="{00000000-A518-4C9C-8A36-A8E6FC8E364D}"/>
            </c:ext>
          </c:extLst>
        </c:ser>
        <c:ser>
          <c:idx val="1"/>
          <c:order val="1"/>
          <c:tx>
            <c:strRef>
              <c:f>Sheet1!$C$1</c:f>
              <c:strCache>
                <c:ptCount val="1"/>
                <c:pt idx="0">
                  <c:v>D_</c:v>
                </c:pt>
              </c:strCache>
            </c:strRef>
          </c:tx>
          <c:spPr>
            <a:ln w="19050" cap="rnd" cmpd="sng" algn="ctr">
              <a:solidFill>
                <a:schemeClr val="dk1">
                  <a:tint val="55000"/>
                </a:schemeClr>
              </a:solidFill>
              <a:prstDash val="solid"/>
              <a:round/>
            </a:ln>
            <a:effectLst/>
          </c:spPr>
          <c:marker>
            <c:symbol val="none"/>
          </c:marker>
          <c:val>
            <c:numRef>
              <c:f>Sheet1!$C$2:$C$8</c:f>
              <c:numCache>
                <c:formatCode>General</c:formatCode>
                <c:ptCount val="7"/>
                <c:pt idx="0">
                  <c:v>0</c:v>
                </c:pt>
                <c:pt idx="1">
                  <c:v>2</c:v>
                </c:pt>
                <c:pt idx="2">
                  <c:v>4</c:v>
                </c:pt>
                <c:pt idx="3">
                  <c:v>6</c:v>
                </c:pt>
                <c:pt idx="4">
                  <c:v>8</c:v>
                </c:pt>
                <c:pt idx="5">
                  <c:v>10</c:v>
                </c:pt>
                <c:pt idx="6">
                  <c:v>12</c:v>
                </c:pt>
              </c:numCache>
            </c:numRef>
          </c:val>
          <c:smooth val="0"/>
          <c:extLst>
            <c:ext xmlns:c16="http://schemas.microsoft.com/office/drawing/2014/chart" uri="{C3380CC4-5D6E-409C-BE32-E72D297353CC}">
              <c16:uniqueId val="{00000001-A518-4C9C-8A36-A8E6FC8E364D}"/>
            </c:ext>
          </c:extLst>
        </c:ser>
        <c:ser>
          <c:idx val="2"/>
          <c:order val="2"/>
          <c:tx>
            <c:strRef>
              <c:f>Sheet1!$D$1</c:f>
              <c:strCache>
                <c:ptCount val="1"/>
                <c:pt idx="0">
                  <c:v>D</c:v>
                </c:pt>
              </c:strCache>
            </c:strRef>
          </c:tx>
          <c:spPr>
            <a:ln w="19050" cap="rnd" cmpd="sng" algn="ctr">
              <a:solidFill>
                <a:schemeClr val="dk1">
                  <a:tint val="78000"/>
                </a:schemeClr>
              </a:solidFill>
              <a:prstDash val="solid"/>
              <a:round/>
            </a:ln>
            <a:effectLst/>
          </c:spPr>
          <c:marker>
            <c:symbol val="none"/>
          </c:marker>
          <c:val>
            <c:numRef>
              <c:f>Sheet1!$D$2:$D$8</c:f>
              <c:numCache>
                <c:formatCode>General</c:formatCode>
                <c:ptCount val="7"/>
                <c:pt idx="0">
                  <c:v>0</c:v>
                </c:pt>
                <c:pt idx="1">
                  <c:v>0</c:v>
                </c:pt>
                <c:pt idx="2">
                  <c:v>2</c:v>
                </c:pt>
                <c:pt idx="3">
                  <c:v>8</c:v>
                </c:pt>
                <c:pt idx="4">
                  <c:v>22</c:v>
                </c:pt>
                <c:pt idx="5">
                  <c:v>52</c:v>
                </c:pt>
                <c:pt idx="6">
                  <c:v>114</c:v>
                </c:pt>
              </c:numCache>
            </c:numRef>
          </c:val>
          <c:smooth val="0"/>
          <c:extLst>
            <c:ext xmlns:c16="http://schemas.microsoft.com/office/drawing/2014/chart" uri="{C3380CC4-5D6E-409C-BE32-E72D297353CC}">
              <c16:uniqueId val="{00000002-A518-4C9C-8A36-A8E6FC8E364D}"/>
            </c:ext>
          </c:extLst>
        </c:ser>
        <c:dLbls>
          <c:showLegendKey val="0"/>
          <c:showVal val="0"/>
          <c:showCatName val="0"/>
          <c:showSerName val="0"/>
          <c:showPercent val="0"/>
          <c:showBubbleSize val="0"/>
        </c:dLbls>
        <c:smooth val="0"/>
        <c:axId val="573839032"/>
        <c:axId val="350712968"/>
      </c:lineChart>
      <c:catAx>
        <c:axId val="573839032"/>
        <c:scaling>
          <c:orientation val="minMax"/>
        </c:scaling>
        <c:delete val="0"/>
        <c:axPos val="b"/>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50712968"/>
        <c:crosses val="autoZero"/>
        <c:auto val="1"/>
        <c:lblAlgn val="ctr"/>
        <c:lblOffset val="100"/>
        <c:noMultiLvlLbl val="0"/>
      </c:catAx>
      <c:valAx>
        <c:axId val="350712968"/>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57383903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acrossLinear" id="1">
  <a:schemeClr val="dk1">
    <a:tint val="88000"/>
  </a:schemeClr>
  <a:schemeClr val="dk1">
    <a:tint val="55000"/>
  </a:schemeClr>
  <a:schemeClr val="dk1">
    <a:tint val="78000"/>
  </a:schemeClr>
  <a:schemeClr val="dk1">
    <a:tint val="92000"/>
  </a:schemeClr>
  <a:schemeClr val="dk1">
    <a:tint val="70000"/>
  </a:schemeClr>
  <a:schemeClr val="dk1">
    <a:tint val="30000"/>
  </a:schemeClr>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0-09-11T19:36:18.859">
    <p:pos x="2940" y="1412"/>
    <p:text>Alt text: A table has four rows with headers and 6 rows. The headers from left to right are as follows. Heating cycle. Two sided distribution of strands. One sided distribution of strands. Terminal distribution of strands. The row entries are as follows. Row 1. Heating cycle, 1. Two sided distribution of strands, 2. One sided distribution of strands, 0. Terminal distribution of strands, 0. Row 2. Heating cycle, 2. Two sided distribution of strands, 2. One sided distribution of strands, 2. Terminal distribution of strands, 0. Row 3. Heating cycle, 3. Two sided distribution of strands, 2. One sided distribution of strands, 4. Terminal distribution of strands, 2. Row 4. Heating cycle, 4. Two sided distribution of strands, 2. One sided distribution of strands, 6. Terminal distribution of strands, 8. Row 5. Heating cycle, 5. Two sided distribution of strands, 2. One sided distribution of strands, 8. Terminal distribution of strands, 22. Row 6. Heating cycle, n. Two sided distribution of strands, 2. One sided distribution of strands, 2 times n minus 1. Terminal distribution of strands, 2-hat n minus 2 times n.</p:text>
    <p:extLst>
      <p:ext uri="{C676402C-5697-4E1C-873F-D02D1690AC5C}">
        <p15:threadingInfo timeZoneBias="0"/>
      </p:ext>
      <p:ext uri="http://customooxmlschemas.google.com/">
        <go:slidesCustomData xmlns:go="http://customooxmlschemas.google.com/" commentPostId="AAAAKPzAdno"/>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0-09-11T19:42:10.562">
    <p:pos x="3272" y="527"/>
    <p:text>Alt text: An x-y plane graph plots the distribution of exponential, polynomial, and constant strands. The exponential line rises steeply. The polynomial and constant lines rise much less steeply.</p:text>
    <p:extLst>
      <p:ext uri="{C676402C-5697-4E1C-873F-D02D1690AC5C}">
        <p15:threadingInfo timeZoneBias="0"/>
      </p:ext>
      <p:ext uri="http://customooxmlschemas.google.com/">
        <go:slidesCustomData xmlns:go="http://customooxmlschemas.google.com/" commentPostId="AAAAKPzAdo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7"/>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comments" Target="../comments/commen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comments" Target="../comments/comment2.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1452819" y="1204598"/>
            <a:ext cx="9144000" cy="3843765"/>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Calibri"/>
              <a:buNone/>
            </a:pPr>
            <a:r>
              <a:rPr lang="en-US" sz="4000" u="sng"/>
              <a:t>CS5800 – ALGORITHMS</a:t>
            </a:r>
            <a:br>
              <a:rPr lang="en-US" sz="4000"/>
            </a:br>
            <a:br>
              <a:rPr lang="en-US" sz="4000"/>
            </a:br>
            <a:r>
              <a:rPr lang="en-US" sz="4000"/>
              <a:t>MODULE 1. REVIEW OF ASYMPTOTIC NOTATION</a:t>
            </a:r>
            <a:br>
              <a:rPr lang="en-US" sz="4000"/>
            </a:br>
            <a:br>
              <a:rPr lang="en-US" sz="4000"/>
            </a:br>
            <a:r>
              <a:rPr lang="en-US" sz="4000"/>
              <a:t>Lesson 3: PCR</a:t>
            </a:r>
            <a:endParaRPr/>
          </a:p>
        </p:txBody>
      </p:sp>
      <p:sp>
        <p:nvSpPr>
          <p:cNvPr id="101" name="Google Shape;101;p1"/>
          <p:cNvSpPr txBox="1"/>
          <p:nvPr>
            <p:ph idx="1" type="subTitle"/>
          </p:nvPr>
        </p:nvSpPr>
        <p:spPr>
          <a:xfrm>
            <a:off x="1452819" y="5688991"/>
            <a:ext cx="9144000" cy="47773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u="sng"/>
              <a:t>Ravi Sundaram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Topics</a:t>
            </a:r>
            <a:endParaRPr/>
          </a:p>
        </p:txBody>
      </p:sp>
      <p:sp>
        <p:nvSpPr>
          <p:cNvPr id="107" name="Google Shape;10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What is PCR?</a:t>
            </a:r>
            <a:endParaRPr/>
          </a:p>
          <a:p>
            <a:pPr indent="-228600" lvl="0" marL="228600" rtl="0" algn="l">
              <a:lnSpc>
                <a:spcPct val="90000"/>
              </a:lnSpc>
              <a:spcBef>
                <a:spcPts val="1000"/>
              </a:spcBef>
              <a:spcAft>
                <a:spcPts val="0"/>
              </a:spcAft>
              <a:buClr>
                <a:schemeClr val="dk1"/>
              </a:buClr>
              <a:buSzPts val="2800"/>
              <a:buChar char="•"/>
            </a:pPr>
            <a:r>
              <a:rPr lang="en-US"/>
              <a:t>Why PCR?</a:t>
            </a:r>
            <a:endParaRPr/>
          </a:p>
          <a:p>
            <a:pPr indent="-228600" lvl="0" marL="228600" rtl="0" algn="l">
              <a:lnSpc>
                <a:spcPct val="90000"/>
              </a:lnSpc>
              <a:spcBef>
                <a:spcPts val="1000"/>
              </a:spcBef>
              <a:spcAft>
                <a:spcPts val="0"/>
              </a:spcAft>
              <a:buClr>
                <a:schemeClr val="dk1"/>
              </a:buClr>
              <a:buSzPts val="2800"/>
              <a:buChar char="•"/>
            </a:pPr>
            <a:r>
              <a:rPr lang="en-US"/>
              <a:t>Basics of biochemistry</a:t>
            </a:r>
            <a:endParaRPr/>
          </a:p>
          <a:p>
            <a:pPr indent="-228600" lvl="0" marL="228600" rtl="0" algn="l">
              <a:lnSpc>
                <a:spcPct val="90000"/>
              </a:lnSpc>
              <a:spcBef>
                <a:spcPts val="1000"/>
              </a:spcBef>
              <a:spcAft>
                <a:spcPts val="0"/>
              </a:spcAft>
              <a:buClr>
                <a:schemeClr val="dk1"/>
              </a:buClr>
              <a:buSzPts val="2800"/>
              <a:buChar char="•"/>
            </a:pPr>
            <a:r>
              <a:rPr lang="en-US"/>
              <a:t>An algorithmic puzzle</a:t>
            </a:r>
            <a:endParaRPr/>
          </a:p>
          <a:p>
            <a:pPr indent="-228600" lvl="0" marL="228600" rtl="0" algn="l">
              <a:lnSpc>
                <a:spcPct val="90000"/>
              </a:lnSpc>
              <a:spcBef>
                <a:spcPts val="1000"/>
              </a:spcBef>
              <a:spcAft>
                <a:spcPts val="0"/>
              </a:spcAft>
              <a:buClr>
                <a:schemeClr val="dk1"/>
              </a:buClr>
              <a:buSzPts val="2800"/>
              <a:buChar char="•"/>
            </a:pPr>
            <a:r>
              <a:rPr lang="en-US"/>
              <a:t>Summary</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PCR? </a:t>
            </a:r>
            <a:endParaRPr/>
          </a:p>
        </p:txBody>
      </p:sp>
      <p:sp>
        <p:nvSpPr>
          <p:cNvPr id="113" name="Google Shape;11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Polymerase Chain Reaction</a:t>
            </a:r>
            <a:endParaRPr/>
          </a:p>
          <a:p>
            <a:pPr indent="-228600" lvl="1" marL="685800" rtl="0" algn="l">
              <a:lnSpc>
                <a:spcPct val="90000"/>
              </a:lnSpc>
              <a:spcBef>
                <a:spcPts val="500"/>
              </a:spcBef>
              <a:spcAft>
                <a:spcPts val="0"/>
              </a:spcAft>
              <a:buClr>
                <a:schemeClr val="dk1"/>
              </a:buClr>
              <a:buSzPts val="2400"/>
              <a:buChar char="•"/>
            </a:pPr>
            <a:r>
              <a:rPr lang="en-US"/>
              <a:t>technique to generate millions of copies of a particular DNA sequence from a single piece of DNA</a:t>
            </a:r>
            <a:endParaRPr/>
          </a:p>
          <a:p>
            <a:pPr indent="-228600" lvl="1" marL="685800" rtl="0" algn="l">
              <a:lnSpc>
                <a:spcPct val="90000"/>
              </a:lnSpc>
              <a:spcBef>
                <a:spcPts val="500"/>
              </a:spcBef>
              <a:spcAft>
                <a:spcPts val="0"/>
              </a:spcAft>
              <a:buClr>
                <a:schemeClr val="dk1"/>
              </a:buClr>
              <a:buSzPts val="2400"/>
              <a:buChar char="•"/>
            </a:pPr>
            <a:r>
              <a:rPr lang="en-US"/>
              <a:t>Chain Reaction – nuclear 1 to 2 to 4 to 8 to explosion</a:t>
            </a:r>
            <a:endParaRPr/>
          </a:p>
          <a:p>
            <a:pPr indent="-228600" lvl="1" marL="685800" rtl="0" algn="l">
              <a:lnSpc>
                <a:spcPct val="90000"/>
              </a:lnSpc>
              <a:spcBef>
                <a:spcPts val="500"/>
              </a:spcBef>
              <a:spcAft>
                <a:spcPts val="0"/>
              </a:spcAft>
              <a:buClr>
                <a:schemeClr val="dk1"/>
              </a:buClr>
              <a:buSzPts val="2400"/>
              <a:buChar char="•"/>
            </a:pPr>
            <a:r>
              <a:rPr lang="en-US"/>
              <a:t>Polymerase enzyme that enables chain reaction</a:t>
            </a:r>
            <a:endParaRPr/>
          </a:p>
          <a:p>
            <a:pPr indent="-228600" lvl="0" marL="228600" rtl="0" algn="l">
              <a:lnSpc>
                <a:spcPct val="90000"/>
              </a:lnSpc>
              <a:spcBef>
                <a:spcPts val="1000"/>
              </a:spcBef>
              <a:spcAft>
                <a:spcPts val="0"/>
              </a:spcAft>
              <a:buClr>
                <a:schemeClr val="dk1"/>
              </a:buClr>
              <a:buSzPts val="2800"/>
              <a:buChar char="•"/>
            </a:pPr>
            <a:r>
              <a:rPr lang="en-US"/>
              <a:t>Kary Mullis won the 1993 Biology Nobel for discovering PCR</a:t>
            </a:r>
            <a:endParaRPr/>
          </a:p>
          <a:p>
            <a:pPr indent="-228600" lvl="0" marL="228600" rtl="0" algn="l">
              <a:lnSpc>
                <a:spcPct val="90000"/>
              </a:lnSpc>
              <a:spcBef>
                <a:spcPts val="1000"/>
              </a:spcBef>
              <a:spcAft>
                <a:spcPts val="0"/>
              </a:spcAft>
              <a:buClr>
                <a:schemeClr val="dk1"/>
              </a:buClr>
              <a:buSzPts val="2800"/>
              <a:buChar char="•"/>
            </a:pPr>
            <a:r>
              <a:rPr lang="en-US"/>
              <a:t>Revolutionary – Before PCR and After PCR</a:t>
            </a:r>
            <a:endParaRPr/>
          </a:p>
          <a:p>
            <a:pPr indent="-228600" lvl="1" marL="685800" rtl="0" algn="l">
              <a:lnSpc>
                <a:spcPct val="90000"/>
              </a:lnSpc>
              <a:spcBef>
                <a:spcPts val="500"/>
              </a:spcBef>
              <a:spcAft>
                <a:spcPts val="0"/>
              </a:spcAft>
              <a:buClr>
                <a:schemeClr val="dk1"/>
              </a:buClr>
              <a:buSzPts val="2400"/>
              <a:buChar char="•"/>
            </a:pPr>
            <a:r>
              <a:rPr lang="en-US"/>
              <a:t>Before: DNA cloning – back-breaking, countless lab hours, low yield</a:t>
            </a:r>
            <a:endParaRPr/>
          </a:p>
          <a:p>
            <a:pPr indent="-228600" lvl="1" marL="685800" rtl="0" algn="l">
              <a:lnSpc>
                <a:spcPct val="90000"/>
              </a:lnSpc>
              <a:spcBef>
                <a:spcPts val="500"/>
              </a:spcBef>
              <a:spcAft>
                <a:spcPts val="0"/>
              </a:spcAft>
              <a:buClr>
                <a:schemeClr val="dk1"/>
              </a:buClr>
              <a:buSzPts val="2400"/>
              <a:buChar char="•"/>
            </a:pPr>
            <a:r>
              <a:rPr lang="en-US"/>
              <a:t>After: CSI, 23andMe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PCR? </a:t>
            </a:r>
            <a:endParaRPr/>
          </a:p>
        </p:txBody>
      </p:sp>
      <p:sp>
        <p:nvSpPr>
          <p:cNvPr id="119" name="Google Shape;119;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Timely</a:t>
            </a:r>
            <a:endParaRPr/>
          </a:p>
          <a:p>
            <a:pPr indent="-228600" lvl="1" marL="685800" rtl="0" algn="l">
              <a:lnSpc>
                <a:spcPct val="90000"/>
              </a:lnSpc>
              <a:spcBef>
                <a:spcPts val="500"/>
              </a:spcBef>
              <a:spcAft>
                <a:spcPts val="0"/>
              </a:spcAft>
              <a:buClr>
                <a:schemeClr val="dk1"/>
              </a:buClr>
              <a:buSzPts val="2400"/>
              <a:buChar char="•"/>
            </a:pPr>
            <a:r>
              <a:rPr lang="en-US"/>
              <a:t>In the news thanks to Covid</a:t>
            </a:r>
            <a:endParaRPr/>
          </a:p>
          <a:p>
            <a:pPr indent="-228600" lvl="0" marL="228600" rtl="0" algn="l">
              <a:lnSpc>
                <a:spcPct val="90000"/>
              </a:lnSpc>
              <a:spcBef>
                <a:spcPts val="1000"/>
              </a:spcBef>
              <a:spcAft>
                <a:spcPts val="0"/>
              </a:spcAft>
              <a:buClr>
                <a:schemeClr val="dk1"/>
              </a:buClr>
              <a:buSzPts val="2800"/>
              <a:buChar char="•"/>
            </a:pPr>
            <a:r>
              <a:rPr lang="en-US"/>
              <a:t>At its heart it is an algorithm </a:t>
            </a:r>
            <a:endParaRPr/>
          </a:p>
          <a:p>
            <a:pPr indent="-228600" lvl="1" marL="685800" rtl="0" algn="l">
              <a:lnSpc>
                <a:spcPct val="90000"/>
              </a:lnSpc>
              <a:spcBef>
                <a:spcPts val="500"/>
              </a:spcBef>
              <a:spcAft>
                <a:spcPts val="0"/>
              </a:spcAft>
              <a:buClr>
                <a:schemeClr val="dk1"/>
              </a:buClr>
              <a:buSzPts val="2400"/>
              <a:buChar char="•"/>
            </a:pPr>
            <a:r>
              <a:rPr lang="en-US"/>
              <a:t>Should have been discovered by a computer scientist</a:t>
            </a:r>
            <a:endParaRPr/>
          </a:p>
          <a:p>
            <a:pPr indent="-228600" lvl="0" marL="228600" rtl="0" algn="l">
              <a:lnSpc>
                <a:spcPct val="90000"/>
              </a:lnSpc>
              <a:spcBef>
                <a:spcPts val="1000"/>
              </a:spcBef>
              <a:spcAft>
                <a:spcPts val="0"/>
              </a:spcAft>
              <a:buClr>
                <a:schemeClr val="dk1"/>
              </a:buClr>
              <a:buSzPts val="2800"/>
              <a:buChar char="•"/>
            </a:pPr>
            <a:r>
              <a:rPr lang="en-US"/>
              <a:t>Polynomial vs Exponential</a:t>
            </a:r>
            <a:endParaRPr/>
          </a:p>
          <a:p>
            <a:pPr indent="-228600" lvl="1" marL="685800" rtl="0" algn="l">
              <a:lnSpc>
                <a:spcPct val="90000"/>
              </a:lnSpc>
              <a:spcBef>
                <a:spcPts val="500"/>
              </a:spcBef>
              <a:spcAft>
                <a:spcPts val="0"/>
              </a:spcAft>
              <a:buClr>
                <a:schemeClr val="dk1"/>
              </a:buClr>
              <a:buSzPts val="2400"/>
              <a:buChar char="•"/>
            </a:pPr>
            <a:r>
              <a:rPr lang="en-US"/>
              <a:t>Exemplary demonstration of exponential growth rate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Basics of biochemistry</a:t>
            </a:r>
            <a:endParaRPr/>
          </a:p>
        </p:txBody>
      </p:sp>
      <p:sp>
        <p:nvSpPr>
          <p:cNvPr id="125" name="Google Shape;12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Deoxyribonucleic acid (DNA) </a:t>
            </a:r>
            <a:endParaRPr/>
          </a:p>
          <a:p>
            <a:pPr indent="-228600" lvl="1" marL="685800" rtl="0" algn="l">
              <a:lnSpc>
                <a:spcPct val="90000"/>
              </a:lnSpc>
              <a:spcBef>
                <a:spcPts val="500"/>
              </a:spcBef>
              <a:spcAft>
                <a:spcPts val="0"/>
              </a:spcAft>
              <a:buClr>
                <a:schemeClr val="dk1"/>
              </a:buClr>
              <a:buSzPts val="2400"/>
              <a:buChar char="•"/>
            </a:pPr>
            <a:r>
              <a:rPr lang="en-US"/>
              <a:t>a nucleic acid containing genetic instructions used in development/ functioning of most known living organisms. </a:t>
            </a:r>
            <a:endParaRPr/>
          </a:p>
          <a:p>
            <a:pPr indent="-228600" lvl="1" marL="685800" rtl="0" algn="l">
              <a:lnSpc>
                <a:spcPct val="90000"/>
              </a:lnSpc>
              <a:spcBef>
                <a:spcPts val="500"/>
              </a:spcBef>
              <a:spcAft>
                <a:spcPts val="0"/>
              </a:spcAft>
              <a:buClr>
                <a:schemeClr val="dk1"/>
              </a:buClr>
              <a:buSzPts val="2400"/>
              <a:buChar char="•"/>
            </a:pPr>
            <a:r>
              <a:rPr lang="en-US"/>
              <a:t>Segments carrying genetic information are called genes. </a:t>
            </a:r>
            <a:endParaRPr/>
          </a:p>
          <a:p>
            <a:pPr indent="-228600" lvl="1" marL="685800" rtl="0" algn="l">
              <a:lnSpc>
                <a:spcPct val="90000"/>
              </a:lnSpc>
              <a:spcBef>
                <a:spcPts val="500"/>
              </a:spcBef>
              <a:spcAft>
                <a:spcPts val="0"/>
              </a:spcAft>
              <a:buClr>
                <a:schemeClr val="dk1"/>
              </a:buClr>
              <a:buSzPts val="2400"/>
              <a:buChar char="•"/>
            </a:pPr>
            <a:r>
              <a:rPr lang="en-US"/>
              <a:t>Consists of two long polymers of simple units called nucleotides. These two strands run in opposite directions to each other. </a:t>
            </a:r>
            <a:endParaRPr/>
          </a:p>
          <a:p>
            <a:pPr indent="-228600" lvl="1" marL="685800" rtl="0" algn="l">
              <a:lnSpc>
                <a:spcPct val="90000"/>
              </a:lnSpc>
              <a:spcBef>
                <a:spcPts val="500"/>
              </a:spcBef>
              <a:spcAft>
                <a:spcPts val="0"/>
              </a:spcAft>
              <a:buClr>
                <a:schemeClr val="dk1"/>
              </a:buClr>
              <a:buSzPts val="2400"/>
              <a:buChar char="•"/>
            </a:pPr>
            <a:r>
              <a:rPr lang="en-US"/>
              <a:t>Each nucleotide contains one of four types of molecules called bases (or nucleobases or nucleic acids). These four bases are denoted: A (adenine), T (thymine), C (cytosine) and G (guanine).</a:t>
            </a:r>
            <a:endParaRPr/>
          </a:p>
          <a:p>
            <a:pPr indent="-76200" lvl="1" marL="685800" rtl="0" algn="l">
              <a:lnSpc>
                <a:spcPct val="90000"/>
              </a:lnSpc>
              <a:spcBef>
                <a:spcPts val="500"/>
              </a:spcBef>
              <a:spcAft>
                <a:spcPts val="0"/>
              </a:spcAft>
              <a:buClr>
                <a:schemeClr val="dk1"/>
              </a:buClr>
              <a:buSzPts val="2400"/>
              <a:buNone/>
            </a:pPr>
            <a:r>
              <a:t/>
            </a:r>
            <a:endParaRPr/>
          </a:p>
          <a:p>
            <a:pPr indent="0" lvl="1" marL="457200" rtl="0" algn="l">
              <a:lnSpc>
                <a:spcPct val="90000"/>
              </a:lnSpc>
              <a:spcBef>
                <a:spcPts val="500"/>
              </a:spcBef>
              <a:spcAft>
                <a:spcPts val="0"/>
              </a:spcAft>
              <a:buClr>
                <a:schemeClr val="dk1"/>
              </a:buClr>
              <a:buSzPts val="2400"/>
              <a:buNone/>
            </a:pPr>
            <a:r>
              <a:rPr lang="en-US"/>
              <a:t>A→T→T→C→A→G→T</a:t>
            </a:r>
            <a:endParaRPr/>
          </a:p>
          <a:p>
            <a:pPr indent="0" lvl="1" marL="4572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Basics of biochemistry (continued)</a:t>
            </a:r>
            <a:endParaRPr/>
          </a:p>
        </p:txBody>
      </p:sp>
      <p:sp>
        <p:nvSpPr>
          <p:cNvPr id="131" name="Google Shape;13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Within cells DNA is organized into long structures called chromosomes </a:t>
            </a:r>
            <a:endParaRPr/>
          </a:p>
          <a:p>
            <a:pPr indent="-228600" lvl="0" marL="228600" rtl="0" algn="l">
              <a:lnSpc>
                <a:spcPct val="90000"/>
              </a:lnSpc>
              <a:spcBef>
                <a:spcPts val="1000"/>
              </a:spcBef>
              <a:spcAft>
                <a:spcPts val="0"/>
              </a:spcAft>
              <a:buClr>
                <a:schemeClr val="dk1"/>
              </a:buClr>
              <a:buSzPts val="2800"/>
              <a:buChar char="•"/>
            </a:pPr>
            <a:r>
              <a:rPr lang="en-US"/>
              <a:t>Characterized by the now-legendary Watson-Crick double-helix structure comprised of two anti-parallel strands with the weak bonds: A –T and C–G.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A→T→T→C→A→G→T</a:t>
            </a:r>
            <a:endParaRPr/>
          </a:p>
          <a:p>
            <a:pPr indent="0" lvl="0" marL="0" rtl="0" algn="l">
              <a:lnSpc>
                <a:spcPct val="90000"/>
              </a:lnSpc>
              <a:spcBef>
                <a:spcPts val="1000"/>
              </a:spcBef>
              <a:spcAft>
                <a:spcPts val="0"/>
              </a:spcAft>
              <a:buClr>
                <a:schemeClr val="dk1"/>
              </a:buClr>
              <a:buSzPts val="2800"/>
              <a:buNone/>
            </a:pPr>
            <a:r>
              <a:rPr lang="en-US"/>
              <a:t>|    |     |    |    |     |    |</a:t>
            </a:r>
            <a:endParaRPr/>
          </a:p>
          <a:p>
            <a:pPr indent="0" lvl="0" marL="0" rtl="0" algn="l">
              <a:lnSpc>
                <a:spcPct val="90000"/>
              </a:lnSpc>
              <a:spcBef>
                <a:spcPts val="1000"/>
              </a:spcBef>
              <a:spcAft>
                <a:spcPts val="0"/>
              </a:spcAft>
              <a:buClr>
                <a:schemeClr val="dk1"/>
              </a:buClr>
              <a:buSzPts val="2800"/>
              <a:buNone/>
            </a:pPr>
            <a:r>
              <a:rPr lang="en-US"/>
              <a:t>T←A←A←G←T←C←A</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Puzzle: 4 well-known facts</a:t>
            </a:r>
            <a:endParaRPr/>
          </a:p>
        </p:txBody>
      </p:sp>
      <p:sp>
        <p:nvSpPr>
          <p:cNvPr id="137" name="Google Shape;13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2590"/>
              <a:buChar char="•"/>
            </a:pPr>
            <a:r>
              <a:rPr b="1" lang="en-US" sz="2590"/>
              <a:t>Heating</a:t>
            </a:r>
            <a:endParaRPr/>
          </a:p>
          <a:p>
            <a:pPr indent="-228600" lvl="1" marL="685800" rtl="0" algn="l">
              <a:lnSpc>
                <a:spcPct val="70000"/>
              </a:lnSpc>
              <a:spcBef>
                <a:spcPts val="500"/>
              </a:spcBef>
              <a:spcAft>
                <a:spcPts val="0"/>
              </a:spcAft>
              <a:buClr>
                <a:schemeClr val="dk1"/>
              </a:buClr>
              <a:buSzPts val="2220"/>
              <a:buChar char="•"/>
            </a:pPr>
            <a:r>
              <a:rPr lang="en-US" sz="2220"/>
              <a:t>when a test tube of double stranded DNA is </a:t>
            </a:r>
            <a:r>
              <a:rPr b="1" lang="en-US" sz="2220"/>
              <a:t>heated</a:t>
            </a:r>
            <a:r>
              <a:rPr lang="en-US" sz="2220"/>
              <a:t> (in a controlled fashion) then it breaks up into two constituent and complementary single strands</a:t>
            </a:r>
            <a:endParaRPr/>
          </a:p>
          <a:p>
            <a:pPr indent="-228600" lvl="0" marL="228600" rtl="0" algn="l">
              <a:lnSpc>
                <a:spcPct val="70000"/>
              </a:lnSpc>
              <a:spcBef>
                <a:spcPts val="1000"/>
              </a:spcBef>
              <a:spcAft>
                <a:spcPts val="0"/>
              </a:spcAft>
              <a:buClr>
                <a:schemeClr val="dk1"/>
              </a:buClr>
              <a:buSzPts val="2590"/>
              <a:buChar char="•"/>
            </a:pPr>
            <a:r>
              <a:rPr b="1" lang="en-US" sz="2590"/>
              <a:t>Cooling</a:t>
            </a:r>
            <a:endParaRPr/>
          </a:p>
          <a:p>
            <a:pPr indent="-228600" lvl="1" marL="685800" rtl="0" algn="l">
              <a:lnSpc>
                <a:spcPct val="70000"/>
              </a:lnSpc>
              <a:spcBef>
                <a:spcPts val="500"/>
              </a:spcBef>
              <a:spcAft>
                <a:spcPts val="0"/>
              </a:spcAft>
              <a:buClr>
                <a:schemeClr val="dk1"/>
              </a:buClr>
              <a:buSzPts val="2220"/>
              <a:buChar char="•"/>
            </a:pPr>
            <a:r>
              <a:rPr lang="en-US" sz="2220"/>
              <a:t>when single strands of DNA are </a:t>
            </a:r>
            <a:r>
              <a:rPr b="1" lang="en-US" sz="2220"/>
              <a:t>cooled</a:t>
            </a:r>
            <a:r>
              <a:rPr lang="en-US" sz="2220"/>
              <a:t> then complementary copies will rejoin </a:t>
            </a:r>
            <a:endParaRPr/>
          </a:p>
          <a:p>
            <a:pPr indent="-228600" lvl="0" marL="228600" rtl="0" algn="l">
              <a:lnSpc>
                <a:spcPct val="70000"/>
              </a:lnSpc>
              <a:spcBef>
                <a:spcPts val="1000"/>
              </a:spcBef>
              <a:spcAft>
                <a:spcPts val="0"/>
              </a:spcAft>
              <a:buClr>
                <a:schemeClr val="dk1"/>
              </a:buClr>
              <a:buSzPts val="2590"/>
              <a:buChar char="•"/>
            </a:pPr>
            <a:r>
              <a:rPr b="1" lang="en-US" sz="2590"/>
              <a:t>Polymerase</a:t>
            </a:r>
            <a:endParaRPr/>
          </a:p>
          <a:p>
            <a:pPr indent="-228600" lvl="1" marL="685800" rtl="0" algn="l">
              <a:lnSpc>
                <a:spcPct val="70000"/>
              </a:lnSpc>
              <a:spcBef>
                <a:spcPts val="500"/>
              </a:spcBef>
              <a:spcAft>
                <a:spcPts val="0"/>
              </a:spcAft>
              <a:buClr>
                <a:schemeClr val="dk1"/>
              </a:buClr>
              <a:buSzPts val="2220"/>
              <a:buChar char="•"/>
            </a:pPr>
            <a:r>
              <a:rPr lang="en-US" sz="2220"/>
              <a:t>when a strand of DNA is cooled in a test tube with an abundant supply of bases along with </a:t>
            </a:r>
            <a:r>
              <a:rPr b="1" lang="en-US" sz="2220"/>
              <a:t>polymerase</a:t>
            </a:r>
            <a:r>
              <a:rPr lang="en-US" sz="2220"/>
              <a:t> then polymerase will create a complementary strand by moving along the given strand and adding bases one by one. </a:t>
            </a:r>
            <a:endParaRPr/>
          </a:p>
          <a:p>
            <a:pPr indent="-87630" lvl="1" marL="685800" rtl="0" algn="l">
              <a:lnSpc>
                <a:spcPct val="70000"/>
              </a:lnSpc>
              <a:spcBef>
                <a:spcPts val="500"/>
              </a:spcBef>
              <a:spcAft>
                <a:spcPts val="0"/>
              </a:spcAft>
              <a:buClr>
                <a:schemeClr val="dk1"/>
              </a:buClr>
              <a:buSzPts val="2220"/>
              <a:buNone/>
            </a:pPr>
            <a:r>
              <a:t/>
            </a:r>
            <a:endParaRPr sz="2220"/>
          </a:p>
          <a:p>
            <a:pPr indent="0" lvl="0" marL="0" rtl="0" algn="l">
              <a:lnSpc>
                <a:spcPct val="70000"/>
              </a:lnSpc>
              <a:spcBef>
                <a:spcPts val="1000"/>
              </a:spcBef>
              <a:spcAft>
                <a:spcPts val="0"/>
              </a:spcAft>
              <a:buClr>
                <a:schemeClr val="dk1"/>
              </a:buClr>
              <a:buSzPts val="2590"/>
              <a:buNone/>
            </a:pPr>
            <a:r>
              <a:rPr lang="en-US" sz="2590"/>
              <a:t>A→T→T→C→A→G→T</a:t>
            </a:r>
            <a:endParaRPr/>
          </a:p>
          <a:p>
            <a:pPr indent="0" lvl="0" marL="0" rtl="0" algn="l">
              <a:lnSpc>
                <a:spcPct val="70000"/>
              </a:lnSpc>
              <a:spcBef>
                <a:spcPts val="1000"/>
              </a:spcBef>
              <a:spcAft>
                <a:spcPts val="0"/>
              </a:spcAft>
              <a:buClr>
                <a:schemeClr val="dk1"/>
              </a:buClr>
              <a:buSzPts val="2590"/>
              <a:buNone/>
            </a:pPr>
            <a:r>
              <a:rPr lang="en-US" sz="2590"/>
              <a:t>                               |     |</a:t>
            </a:r>
            <a:endParaRPr/>
          </a:p>
          <a:p>
            <a:pPr indent="0" lvl="0" marL="0" rtl="0" algn="l">
              <a:lnSpc>
                <a:spcPct val="70000"/>
              </a:lnSpc>
              <a:spcBef>
                <a:spcPts val="1000"/>
              </a:spcBef>
              <a:spcAft>
                <a:spcPts val="0"/>
              </a:spcAft>
              <a:buClr>
                <a:schemeClr val="dk1"/>
              </a:buClr>
              <a:buSzPts val="2590"/>
              <a:buNone/>
            </a:pPr>
            <a:r>
              <a:rPr lang="en-US" sz="2590"/>
              <a:t>                                C←A</a:t>
            </a:r>
            <a:endParaRPr/>
          </a:p>
          <a:p>
            <a:pPr indent="-64135" lvl="0" marL="228600" rtl="0" algn="l">
              <a:lnSpc>
                <a:spcPct val="70000"/>
              </a:lnSpc>
              <a:spcBef>
                <a:spcPts val="1000"/>
              </a:spcBef>
              <a:spcAft>
                <a:spcPts val="0"/>
              </a:spcAft>
              <a:buClr>
                <a:schemeClr val="dk1"/>
              </a:buClr>
              <a:buSzPts val="2590"/>
              <a:buNone/>
            </a:pPr>
            <a:r>
              <a:t/>
            </a:r>
            <a:endParaRPr sz="2590"/>
          </a:p>
          <a:p>
            <a:pPr indent="-87630" lvl="1" marL="685800" rtl="0" algn="l">
              <a:lnSpc>
                <a:spcPct val="70000"/>
              </a:lnSpc>
              <a:spcBef>
                <a:spcPts val="500"/>
              </a:spcBef>
              <a:spcAft>
                <a:spcPts val="0"/>
              </a:spcAft>
              <a:buClr>
                <a:schemeClr val="dk1"/>
              </a:buClr>
              <a:buSzPts val="2220"/>
              <a:buNone/>
            </a:pPr>
            <a:r>
              <a:t/>
            </a:r>
            <a:endParaRPr sz="222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Puzzle: 4 well-known facts</a:t>
            </a:r>
            <a:endParaRPr/>
          </a:p>
        </p:txBody>
      </p:sp>
      <p:sp>
        <p:nvSpPr>
          <p:cNvPr id="143" name="Google Shape;14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1" marL="685800" rtl="0" algn="l">
              <a:lnSpc>
                <a:spcPct val="80000"/>
              </a:lnSpc>
              <a:spcBef>
                <a:spcPts val="0"/>
              </a:spcBef>
              <a:spcAft>
                <a:spcPts val="0"/>
              </a:spcAft>
              <a:buClr>
                <a:schemeClr val="dk1"/>
              </a:buClr>
              <a:buSzPts val="2220"/>
              <a:buChar char="•"/>
            </a:pPr>
            <a:r>
              <a:rPr lang="en-US" sz="2220"/>
              <a:t>Polymerase will only add in the complementary direction to the given strand:</a:t>
            </a:r>
            <a:endParaRPr/>
          </a:p>
          <a:p>
            <a:pPr indent="0" lvl="0" marL="0" rtl="0" algn="l">
              <a:lnSpc>
                <a:spcPct val="80000"/>
              </a:lnSpc>
              <a:spcBef>
                <a:spcPts val="1000"/>
              </a:spcBef>
              <a:spcAft>
                <a:spcPts val="0"/>
              </a:spcAft>
              <a:buClr>
                <a:schemeClr val="dk1"/>
              </a:buClr>
              <a:buSzPts val="2590"/>
              <a:buNone/>
            </a:pPr>
            <a:r>
              <a:t/>
            </a:r>
            <a:endParaRPr sz="2590"/>
          </a:p>
          <a:p>
            <a:pPr indent="0" lvl="0" marL="0" rtl="0" algn="l">
              <a:lnSpc>
                <a:spcPct val="80000"/>
              </a:lnSpc>
              <a:spcBef>
                <a:spcPts val="1000"/>
              </a:spcBef>
              <a:spcAft>
                <a:spcPts val="0"/>
              </a:spcAft>
              <a:buClr>
                <a:schemeClr val="dk1"/>
              </a:buClr>
              <a:buSzPts val="2590"/>
              <a:buNone/>
            </a:pPr>
            <a:r>
              <a:rPr lang="en-US" sz="2590"/>
              <a:t>A→T→T→C→A→G→T</a:t>
            </a:r>
            <a:endParaRPr/>
          </a:p>
          <a:p>
            <a:pPr indent="0" lvl="0" marL="0" rtl="0" algn="l">
              <a:lnSpc>
                <a:spcPct val="80000"/>
              </a:lnSpc>
              <a:spcBef>
                <a:spcPts val="1000"/>
              </a:spcBef>
              <a:spcAft>
                <a:spcPts val="0"/>
              </a:spcAft>
              <a:buClr>
                <a:schemeClr val="dk1"/>
              </a:buClr>
              <a:buSzPts val="2590"/>
              <a:buNone/>
            </a:pPr>
            <a:r>
              <a:rPr lang="en-US" sz="2590"/>
              <a:t>|    |     |   </a:t>
            </a:r>
            <a:endParaRPr/>
          </a:p>
          <a:p>
            <a:pPr indent="0" lvl="0" marL="0" rtl="0" algn="l">
              <a:lnSpc>
                <a:spcPct val="80000"/>
              </a:lnSpc>
              <a:spcBef>
                <a:spcPts val="1000"/>
              </a:spcBef>
              <a:spcAft>
                <a:spcPts val="0"/>
              </a:spcAft>
              <a:buClr>
                <a:schemeClr val="dk1"/>
              </a:buClr>
              <a:buSzPts val="2590"/>
              <a:buNone/>
            </a:pPr>
            <a:r>
              <a:rPr lang="en-US" sz="2590"/>
              <a:t>T←A←A                          </a:t>
            </a:r>
            <a:endParaRPr/>
          </a:p>
          <a:p>
            <a:pPr indent="0" lvl="0" marL="0" rtl="0" algn="l">
              <a:lnSpc>
                <a:spcPct val="80000"/>
              </a:lnSpc>
              <a:spcBef>
                <a:spcPts val="1000"/>
              </a:spcBef>
              <a:spcAft>
                <a:spcPts val="0"/>
              </a:spcAft>
              <a:buClr>
                <a:schemeClr val="dk1"/>
              </a:buClr>
              <a:buSzPts val="2590"/>
              <a:buNone/>
            </a:pPr>
            <a:r>
              <a:rPr lang="en-US" sz="2590"/>
              <a:t> </a:t>
            </a:r>
            <a:endParaRPr/>
          </a:p>
          <a:p>
            <a:pPr indent="-228600" lvl="1" marL="685800" rtl="0" algn="l">
              <a:lnSpc>
                <a:spcPct val="80000"/>
              </a:lnSpc>
              <a:spcBef>
                <a:spcPts val="500"/>
              </a:spcBef>
              <a:spcAft>
                <a:spcPts val="0"/>
              </a:spcAft>
              <a:buClr>
                <a:schemeClr val="dk1"/>
              </a:buClr>
              <a:buSzPts val="2220"/>
              <a:buChar char="•"/>
            </a:pPr>
            <a:r>
              <a:rPr lang="en-US" sz="2220"/>
              <a:t>Complementary strands started by polymerase are not stable until they are many bases long. Addition of polymerase will only rarely result in a complementary strand that starts at the beginning and goes all the way to the end. </a:t>
            </a:r>
            <a:endParaRPr/>
          </a:p>
          <a:p>
            <a:pPr indent="-228600" lvl="0" marL="228600" rtl="0" algn="l">
              <a:lnSpc>
                <a:spcPct val="80000"/>
              </a:lnSpc>
              <a:spcBef>
                <a:spcPts val="1000"/>
              </a:spcBef>
              <a:spcAft>
                <a:spcPts val="0"/>
              </a:spcAft>
              <a:buClr>
                <a:schemeClr val="dk1"/>
              </a:buClr>
              <a:buSzPts val="2590"/>
              <a:buChar char="•"/>
            </a:pPr>
            <a:r>
              <a:rPr b="1" lang="en-US" sz="2590"/>
              <a:t>Primers - </a:t>
            </a:r>
            <a:r>
              <a:rPr lang="en-US" sz="2590"/>
              <a:t>short DNA strands (tens of bases) obtainable in quantities through conventional (pre-PCR) techniques.</a:t>
            </a:r>
            <a:endParaRPr/>
          </a:p>
          <a:p>
            <a:pPr indent="-64135" lvl="0" marL="228600" rtl="0" algn="l">
              <a:lnSpc>
                <a:spcPct val="80000"/>
              </a:lnSpc>
              <a:spcBef>
                <a:spcPts val="1000"/>
              </a:spcBef>
              <a:spcAft>
                <a:spcPts val="0"/>
              </a:spcAft>
              <a:buClr>
                <a:schemeClr val="dk1"/>
              </a:buClr>
              <a:buSzPts val="2590"/>
              <a:buNone/>
            </a:pPr>
            <a:r>
              <a:t/>
            </a:r>
            <a:endParaRPr sz="2590"/>
          </a:p>
          <a:p>
            <a:pPr indent="-64135" lvl="0" marL="228600" rtl="0" algn="l">
              <a:lnSpc>
                <a:spcPct val="80000"/>
              </a:lnSpc>
              <a:spcBef>
                <a:spcPts val="1000"/>
              </a:spcBef>
              <a:spcAft>
                <a:spcPts val="0"/>
              </a:spcAft>
              <a:buClr>
                <a:schemeClr val="dk1"/>
              </a:buClr>
              <a:buSzPts val="2590"/>
              <a:buNone/>
            </a:pPr>
            <a:r>
              <a:t/>
            </a:r>
            <a:endParaRPr sz="2590"/>
          </a:p>
          <a:p>
            <a:pPr indent="-64135" lvl="0" marL="228600" rtl="0" algn="l">
              <a:lnSpc>
                <a:spcPct val="80000"/>
              </a:lnSpc>
              <a:spcBef>
                <a:spcPts val="1000"/>
              </a:spcBef>
              <a:spcAft>
                <a:spcPts val="0"/>
              </a:spcAft>
              <a:buClr>
                <a:schemeClr val="dk1"/>
              </a:buClr>
              <a:buSzPts val="2590"/>
              <a:buNone/>
            </a:pPr>
            <a:r>
              <a:t/>
            </a:r>
            <a:endParaRPr sz="259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Algorithmic Puzzle</a:t>
            </a:r>
            <a:endParaRPr/>
          </a:p>
        </p:txBody>
      </p:sp>
      <p:sp>
        <p:nvSpPr>
          <p:cNvPr id="149" name="Google Shape;14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given a small quantity of DNA containing a DNA subsequence of interest, create many copies of the DNA subsequence.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PCR - Kary Mullis’ algorithm</a:t>
            </a:r>
            <a:endParaRPr/>
          </a:p>
        </p:txBody>
      </p:sp>
      <p:sp>
        <p:nvSpPr>
          <p:cNvPr id="155" name="Google Shape;155;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2800"/>
              <a:buNone/>
            </a:pPr>
            <a:r>
              <a:t/>
            </a:r>
            <a:endParaRPr/>
          </a:p>
          <a:p>
            <a:pPr indent="0" lvl="0" marL="0" rtl="0" algn="l">
              <a:lnSpc>
                <a:spcPct val="80000"/>
              </a:lnSpc>
              <a:spcBef>
                <a:spcPts val="1000"/>
              </a:spcBef>
              <a:spcAft>
                <a:spcPts val="0"/>
              </a:spcAft>
              <a:buClr>
                <a:schemeClr val="dk1"/>
              </a:buClr>
              <a:buSzPts val="2800"/>
              <a:buNone/>
            </a:pPr>
            <a:r>
              <a:rPr lang="en-US"/>
              <a:t>Let the given double strand be </a:t>
            </a:r>
            <a:endParaRPr/>
          </a:p>
          <a:p>
            <a:pPr indent="0" lvl="0" marL="0" rtl="0" algn="l">
              <a:lnSpc>
                <a:spcPct val="80000"/>
              </a:lnSpc>
              <a:spcBef>
                <a:spcPts val="1000"/>
              </a:spcBef>
              <a:spcAft>
                <a:spcPts val="0"/>
              </a:spcAft>
              <a:buClr>
                <a:schemeClr val="dk1"/>
              </a:buClr>
              <a:buSzPts val="2800"/>
              <a:buNone/>
            </a:pPr>
            <a:r>
              <a:rPr lang="en-US"/>
              <a:t>……..→ο→……..→ω→…….</a:t>
            </a:r>
            <a:endParaRPr/>
          </a:p>
          <a:p>
            <a:pPr indent="0" lvl="0" marL="0" rtl="0" algn="l">
              <a:lnSpc>
                <a:spcPct val="80000"/>
              </a:lnSpc>
              <a:spcBef>
                <a:spcPts val="1000"/>
              </a:spcBef>
              <a:spcAft>
                <a:spcPts val="0"/>
              </a:spcAft>
              <a:buClr>
                <a:schemeClr val="dk1"/>
              </a:buClr>
              <a:buSzPts val="2800"/>
              <a:buNone/>
            </a:pPr>
            <a:r>
              <a:rPr lang="en-US"/>
              <a:t>            |                 |</a:t>
            </a:r>
            <a:endParaRPr/>
          </a:p>
          <a:p>
            <a:pPr indent="0" lvl="0" marL="0" rtl="0" algn="l">
              <a:lnSpc>
                <a:spcPct val="80000"/>
              </a:lnSpc>
              <a:spcBef>
                <a:spcPts val="1000"/>
              </a:spcBef>
              <a:spcAft>
                <a:spcPts val="0"/>
              </a:spcAft>
              <a:buClr>
                <a:schemeClr val="dk1"/>
              </a:buClr>
              <a:buSzPts val="2800"/>
              <a:buNone/>
            </a:pPr>
            <a:r>
              <a:rPr lang="en-US"/>
              <a:t>……..←ό←……..←ώ←…….</a:t>
            </a:r>
            <a:endParaRPr/>
          </a:p>
          <a:p>
            <a:pPr indent="0" lvl="0" marL="0" rtl="0" algn="l">
              <a:lnSpc>
                <a:spcPct val="80000"/>
              </a:lnSpc>
              <a:spcBef>
                <a:spcPts val="1000"/>
              </a:spcBef>
              <a:spcAft>
                <a:spcPts val="0"/>
              </a:spcAft>
              <a:buClr>
                <a:schemeClr val="dk1"/>
              </a:buClr>
              <a:buSzPts val="2800"/>
              <a:buNone/>
            </a:pPr>
            <a:r>
              <a:rPr lang="en-US"/>
              <a:t> and let the sequence of interest be bracketed between ο and ω, i.e.  ο→……..→ω.</a:t>
            </a:r>
            <a:endParaRPr/>
          </a:p>
          <a:p>
            <a:pPr indent="0" lvl="0" marL="0" rtl="0" algn="l">
              <a:lnSpc>
                <a:spcPct val="80000"/>
              </a:lnSpc>
              <a:spcBef>
                <a:spcPts val="1000"/>
              </a:spcBef>
              <a:spcAft>
                <a:spcPts val="0"/>
              </a:spcAft>
              <a:buClr>
                <a:schemeClr val="dk1"/>
              </a:buClr>
              <a:buSzPts val="2800"/>
              <a:buNone/>
            </a:pPr>
            <a:r>
              <a:t/>
            </a:r>
            <a:endParaRPr/>
          </a:p>
          <a:p>
            <a:pPr indent="0" lvl="0" marL="0" rtl="0" algn="l">
              <a:lnSpc>
                <a:spcPct val="80000"/>
              </a:lnSpc>
              <a:spcBef>
                <a:spcPts val="1000"/>
              </a:spcBef>
              <a:spcAft>
                <a:spcPts val="0"/>
              </a:spcAft>
              <a:buClr>
                <a:schemeClr val="dk1"/>
              </a:buClr>
              <a:buSzPts val="2800"/>
              <a:buNone/>
            </a:pPr>
            <a:r>
              <a:rPr lang="en-US"/>
              <a:t>add enough primers ο and ώ and then to heat and cool repeatedly</a:t>
            </a:r>
            <a:endParaRPr/>
          </a:p>
          <a:p>
            <a:pPr indent="-50800" lvl="0" marL="228600" rtl="0" algn="l">
              <a:lnSpc>
                <a:spcPct val="8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2-sided and 1-sided strands</a:t>
            </a:r>
            <a:endParaRPr/>
          </a:p>
        </p:txBody>
      </p:sp>
      <p:sp>
        <p:nvSpPr>
          <p:cNvPr id="161" name="Google Shape;16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2170"/>
              <a:buChar char="•"/>
            </a:pPr>
            <a:r>
              <a:rPr lang="en-US" sz="2170"/>
              <a:t>after the first heating: </a:t>
            </a:r>
            <a:endParaRPr/>
          </a:p>
          <a:p>
            <a:pPr indent="0" lvl="0" marL="0" rtl="0" algn="l">
              <a:lnSpc>
                <a:spcPct val="70000"/>
              </a:lnSpc>
              <a:spcBef>
                <a:spcPts val="1000"/>
              </a:spcBef>
              <a:spcAft>
                <a:spcPts val="0"/>
              </a:spcAft>
              <a:buClr>
                <a:schemeClr val="dk1"/>
              </a:buClr>
              <a:buSzPts val="2170"/>
              <a:buNone/>
            </a:pPr>
            <a:r>
              <a:rPr lang="en-US" sz="2170"/>
              <a:t>……..→ο→……..→ω→…….</a:t>
            </a:r>
            <a:endParaRPr/>
          </a:p>
          <a:p>
            <a:pPr indent="0" lvl="0" marL="0" rtl="0" algn="l">
              <a:lnSpc>
                <a:spcPct val="70000"/>
              </a:lnSpc>
              <a:spcBef>
                <a:spcPts val="1000"/>
              </a:spcBef>
              <a:spcAft>
                <a:spcPts val="0"/>
              </a:spcAft>
              <a:buClr>
                <a:schemeClr val="dk1"/>
              </a:buClr>
              <a:buSzPts val="2170"/>
              <a:buNone/>
            </a:pPr>
            <a:r>
              <a:rPr lang="en-US" sz="2170"/>
              <a:t>and</a:t>
            </a:r>
            <a:endParaRPr/>
          </a:p>
          <a:p>
            <a:pPr indent="0" lvl="0" marL="0" rtl="0" algn="l">
              <a:lnSpc>
                <a:spcPct val="70000"/>
              </a:lnSpc>
              <a:spcBef>
                <a:spcPts val="1000"/>
              </a:spcBef>
              <a:spcAft>
                <a:spcPts val="0"/>
              </a:spcAft>
              <a:buClr>
                <a:schemeClr val="dk1"/>
              </a:buClr>
              <a:buSzPts val="2170"/>
              <a:buNone/>
            </a:pPr>
            <a:r>
              <a:rPr lang="en-US" sz="2170"/>
              <a:t>……..←ό←……..←ώ←…….</a:t>
            </a:r>
            <a:endParaRPr/>
          </a:p>
          <a:p>
            <a:pPr indent="-228600" lvl="0" marL="228600" rtl="0" algn="l">
              <a:lnSpc>
                <a:spcPct val="70000"/>
              </a:lnSpc>
              <a:spcBef>
                <a:spcPts val="1000"/>
              </a:spcBef>
              <a:spcAft>
                <a:spcPts val="0"/>
              </a:spcAft>
              <a:buClr>
                <a:schemeClr val="dk1"/>
              </a:buClr>
              <a:buSzPts val="2170"/>
              <a:buChar char="•"/>
            </a:pPr>
            <a:r>
              <a:rPr lang="en-US" sz="2170"/>
              <a:t>Now comes the magic of polymerase with the primers, and we get:</a:t>
            </a:r>
            <a:endParaRPr/>
          </a:p>
          <a:p>
            <a:pPr indent="0" lvl="0" marL="0" rtl="0" algn="l">
              <a:lnSpc>
                <a:spcPct val="70000"/>
              </a:lnSpc>
              <a:spcBef>
                <a:spcPts val="1000"/>
              </a:spcBef>
              <a:spcAft>
                <a:spcPts val="0"/>
              </a:spcAft>
              <a:buClr>
                <a:schemeClr val="dk1"/>
              </a:buClr>
              <a:buSzPts val="2170"/>
              <a:buNone/>
            </a:pPr>
            <a:r>
              <a:rPr lang="en-US" sz="2170"/>
              <a:t>……..→ο→……..→ω→…….</a:t>
            </a:r>
            <a:endParaRPr/>
          </a:p>
          <a:p>
            <a:pPr indent="0" lvl="0" marL="0" rtl="0" algn="l">
              <a:lnSpc>
                <a:spcPct val="70000"/>
              </a:lnSpc>
              <a:spcBef>
                <a:spcPts val="1000"/>
              </a:spcBef>
              <a:spcAft>
                <a:spcPts val="0"/>
              </a:spcAft>
              <a:buClr>
                <a:schemeClr val="dk1"/>
              </a:buClr>
              <a:buSzPts val="2170"/>
              <a:buNone/>
            </a:pPr>
            <a:r>
              <a:rPr lang="en-US" sz="2170"/>
              <a:t>             |                 |</a:t>
            </a:r>
            <a:endParaRPr/>
          </a:p>
          <a:p>
            <a:pPr indent="0" lvl="0" marL="0" rtl="0" algn="l">
              <a:lnSpc>
                <a:spcPct val="70000"/>
              </a:lnSpc>
              <a:spcBef>
                <a:spcPts val="1000"/>
              </a:spcBef>
              <a:spcAft>
                <a:spcPts val="0"/>
              </a:spcAft>
              <a:buClr>
                <a:schemeClr val="dk1"/>
              </a:buClr>
              <a:buSzPts val="2170"/>
              <a:buNone/>
            </a:pPr>
            <a:r>
              <a:rPr lang="en-US" sz="2170"/>
              <a:t> ……..←ό←……..←ώ</a:t>
            </a:r>
            <a:endParaRPr/>
          </a:p>
          <a:p>
            <a:pPr indent="0" lvl="0" marL="0" rtl="0" algn="l">
              <a:lnSpc>
                <a:spcPct val="70000"/>
              </a:lnSpc>
              <a:spcBef>
                <a:spcPts val="1000"/>
              </a:spcBef>
              <a:spcAft>
                <a:spcPts val="0"/>
              </a:spcAft>
              <a:buClr>
                <a:schemeClr val="dk1"/>
              </a:buClr>
              <a:buSzPts val="2170"/>
              <a:buNone/>
            </a:pPr>
            <a:r>
              <a:rPr lang="en-US" sz="2170"/>
              <a:t>And</a:t>
            </a:r>
            <a:endParaRPr/>
          </a:p>
          <a:p>
            <a:pPr indent="0" lvl="0" marL="0" rtl="0" algn="l">
              <a:lnSpc>
                <a:spcPct val="70000"/>
              </a:lnSpc>
              <a:spcBef>
                <a:spcPts val="1000"/>
              </a:spcBef>
              <a:spcAft>
                <a:spcPts val="0"/>
              </a:spcAft>
              <a:buClr>
                <a:schemeClr val="dk1"/>
              </a:buClr>
              <a:buSzPts val="2170"/>
              <a:buNone/>
            </a:pPr>
            <a:r>
              <a:rPr lang="en-US" sz="2170"/>
              <a:t>             ο→……..→ω→…….</a:t>
            </a:r>
            <a:endParaRPr/>
          </a:p>
          <a:p>
            <a:pPr indent="0" lvl="0" marL="0" rtl="0" algn="l">
              <a:lnSpc>
                <a:spcPct val="70000"/>
              </a:lnSpc>
              <a:spcBef>
                <a:spcPts val="1000"/>
              </a:spcBef>
              <a:spcAft>
                <a:spcPts val="0"/>
              </a:spcAft>
              <a:buClr>
                <a:schemeClr val="dk1"/>
              </a:buClr>
              <a:buSzPts val="2170"/>
              <a:buNone/>
            </a:pPr>
            <a:r>
              <a:rPr lang="en-US" sz="2170"/>
              <a:t>             |                 |</a:t>
            </a:r>
            <a:endParaRPr/>
          </a:p>
          <a:p>
            <a:pPr indent="0" lvl="0" marL="0" rtl="0" algn="l">
              <a:lnSpc>
                <a:spcPct val="70000"/>
              </a:lnSpc>
              <a:spcBef>
                <a:spcPts val="1000"/>
              </a:spcBef>
              <a:spcAft>
                <a:spcPts val="0"/>
              </a:spcAft>
              <a:buClr>
                <a:schemeClr val="dk1"/>
              </a:buClr>
              <a:buSzPts val="2170"/>
              <a:buNone/>
            </a:pPr>
            <a:r>
              <a:rPr lang="en-US" sz="2170"/>
              <a:t>……..←ό←……..←ώ←…….</a:t>
            </a:r>
            <a:endParaRPr/>
          </a:p>
          <a:p>
            <a:pPr indent="-90804" lvl="0" marL="228600" rtl="0" algn="l">
              <a:lnSpc>
                <a:spcPct val="70000"/>
              </a:lnSpc>
              <a:spcBef>
                <a:spcPts val="1000"/>
              </a:spcBef>
              <a:spcAft>
                <a:spcPts val="0"/>
              </a:spcAft>
              <a:buClr>
                <a:schemeClr val="dk1"/>
              </a:buClr>
              <a:buSzPts val="2170"/>
              <a:buNone/>
            </a:pPr>
            <a:r>
              <a:t/>
            </a:r>
            <a:endParaRPr sz="217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Terminal strands appear</a:t>
            </a:r>
            <a:endParaRPr/>
          </a:p>
        </p:txBody>
      </p:sp>
      <p:sp>
        <p:nvSpPr>
          <p:cNvPr id="167" name="Google Shape;167;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After the second heating: </a:t>
            </a:r>
            <a:endParaRPr/>
          </a:p>
          <a:p>
            <a:pPr indent="0" lvl="0" marL="0" rtl="0" algn="l">
              <a:lnSpc>
                <a:spcPct val="90000"/>
              </a:lnSpc>
              <a:spcBef>
                <a:spcPts val="1000"/>
              </a:spcBef>
              <a:spcAft>
                <a:spcPts val="0"/>
              </a:spcAft>
              <a:buClr>
                <a:schemeClr val="dk1"/>
              </a:buClr>
              <a:buSzPts val="2800"/>
              <a:buNone/>
            </a:pPr>
            <a:r>
              <a:rPr lang="en-US"/>
              <a:t>……..→ο→……..→ω→…….</a:t>
            </a:r>
            <a:endParaRPr/>
          </a:p>
          <a:p>
            <a:pPr indent="0" lvl="0" marL="0" rtl="0" algn="l">
              <a:lnSpc>
                <a:spcPct val="90000"/>
              </a:lnSpc>
              <a:spcBef>
                <a:spcPts val="1000"/>
              </a:spcBef>
              <a:spcAft>
                <a:spcPts val="0"/>
              </a:spcAft>
              <a:buClr>
                <a:schemeClr val="dk1"/>
              </a:buClr>
              <a:buSzPts val="2800"/>
              <a:buNone/>
            </a:pPr>
            <a:r>
              <a:rPr lang="en-US"/>
              <a:t>and</a:t>
            </a:r>
            <a:endParaRPr/>
          </a:p>
          <a:p>
            <a:pPr indent="0" lvl="0" marL="0" rtl="0" algn="l">
              <a:lnSpc>
                <a:spcPct val="90000"/>
              </a:lnSpc>
              <a:spcBef>
                <a:spcPts val="1000"/>
              </a:spcBef>
              <a:spcAft>
                <a:spcPts val="0"/>
              </a:spcAft>
              <a:buClr>
                <a:schemeClr val="dk1"/>
              </a:buClr>
              <a:buSzPts val="2800"/>
              <a:buNone/>
            </a:pPr>
            <a:r>
              <a:rPr lang="en-US"/>
              <a:t>                                                     ……..←ό←……..←ώ</a:t>
            </a:r>
            <a:endParaRPr/>
          </a:p>
          <a:p>
            <a:pPr indent="0" lvl="0" marL="0" rtl="0" algn="l">
              <a:lnSpc>
                <a:spcPct val="90000"/>
              </a:lnSpc>
              <a:spcBef>
                <a:spcPts val="1000"/>
              </a:spcBef>
              <a:spcAft>
                <a:spcPts val="0"/>
              </a:spcAft>
              <a:buClr>
                <a:schemeClr val="dk1"/>
              </a:buClr>
              <a:buSzPts val="2800"/>
              <a:buNone/>
            </a:pPr>
            <a:r>
              <a:rPr lang="en-US"/>
              <a:t>and</a:t>
            </a:r>
            <a:endParaRPr/>
          </a:p>
          <a:p>
            <a:pPr indent="0" lvl="0" marL="0" rtl="0" algn="l">
              <a:lnSpc>
                <a:spcPct val="90000"/>
              </a:lnSpc>
              <a:spcBef>
                <a:spcPts val="1000"/>
              </a:spcBef>
              <a:spcAft>
                <a:spcPts val="0"/>
              </a:spcAft>
              <a:buClr>
                <a:schemeClr val="dk1"/>
              </a:buClr>
              <a:buSzPts val="2800"/>
              <a:buNone/>
            </a:pPr>
            <a:r>
              <a:rPr lang="en-US"/>
              <a:t>                                                                   ο→……..→ω→…….</a:t>
            </a:r>
            <a:endParaRPr/>
          </a:p>
          <a:p>
            <a:pPr indent="0" lvl="0" marL="0" rtl="0" algn="l">
              <a:lnSpc>
                <a:spcPct val="90000"/>
              </a:lnSpc>
              <a:spcBef>
                <a:spcPts val="1000"/>
              </a:spcBef>
              <a:spcAft>
                <a:spcPts val="0"/>
              </a:spcAft>
              <a:buClr>
                <a:schemeClr val="dk1"/>
              </a:buClr>
              <a:buSzPts val="2800"/>
              <a:buNone/>
            </a:pPr>
            <a:r>
              <a:rPr lang="en-US"/>
              <a:t>and</a:t>
            </a:r>
            <a:endParaRPr/>
          </a:p>
          <a:p>
            <a:pPr indent="0" lvl="0" marL="0" rtl="0" algn="l">
              <a:lnSpc>
                <a:spcPct val="90000"/>
              </a:lnSpc>
              <a:spcBef>
                <a:spcPts val="1000"/>
              </a:spcBef>
              <a:spcAft>
                <a:spcPts val="0"/>
              </a:spcAft>
              <a:buClr>
                <a:schemeClr val="dk1"/>
              </a:buClr>
              <a:buSzPts val="2800"/>
              <a:buNone/>
            </a:pPr>
            <a:r>
              <a:rPr lang="en-US"/>
              <a:t>……..←ό←……..←ώ←…….</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966952" y="1204108"/>
            <a:ext cx="2669406" cy="17811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lang="en-US" sz="3200">
                <a:solidFill>
                  <a:srgbClr val="FFFFFF"/>
                </a:solidFill>
              </a:rPr>
              <a:t>Analysis</a:t>
            </a:r>
            <a:endParaRPr/>
          </a:p>
        </p:txBody>
      </p:sp>
      <p:sp>
        <p:nvSpPr>
          <p:cNvPr id="173" name="Google Shape;173;p13"/>
          <p:cNvSpPr txBox="1"/>
          <p:nvPr>
            <p:ph idx="1" type="body"/>
          </p:nvPr>
        </p:nvSpPr>
        <p:spPr>
          <a:xfrm>
            <a:off x="966951" y="3355130"/>
            <a:ext cx="2669407" cy="242733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t>Let D denote desired seq or complement, and _ denote extension</a:t>
            </a:r>
            <a:endParaRPr/>
          </a:p>
          <a:p>
            <a:pPr indent="0" lvl="0" marL="0" rtl="0" algn="l">
              <a:lnSpc>
                <a:spcPct val="90000"/>
              </a:lnSpc>
              <a:spcBef>
                <a:spcPts val="1000"/>
              </a:spcBef>
              <a:spcAft>
                <a:spcPts val="0"/>
              </a:spcAft>
              <a:buClr>
                <a:schemeClr val="dk1"/>
              </a:buClr>
              <a:buSzPts val="1600"/>
              <a:buNone/>
            </a:pPr>
            <a:r>
              <a:t/>
            </a:r>
            <a:endParaRPr sz="1600"/>
          </a:p>
        </p:txBody>
      </p:sp>
      <p:graphicFrame>
        <p:nvGraphicFramePr>
          <p:cNvPr id="174" name="Google Shape;174;p13"/>
          <p:cNvGraphicFramePr/>
          <p:nvPr/>
        </p:nvGraphicFramePr>
        <p:xfrm>
          <a:off x="4667578" y="2241892"/>
          <a:ext cx="3000000" cy="3000000"/>
        </p:xfrm>
        <a:graphic>
          <a:graphicData uri="http://schemas.openxmlformats.org/drawingml/2006/table">
            <a:tbl>
              <a:tblPr bandRow="1" firstCol="1" firstRow="1">
                <a:noFill/>
                <a:tableStyleId>{03FAC2CA-D94C-45AF-B1D6-B7EDCF0E6470}</a:tableStyleId>
              </a:tblPr>
              <a:tblGrid>
                <a:gridCol w="2618125"/>
                <a:gridCol w="1202200"/>
                <a:gridCol w="1479975"/>
                <a:gridCol w="1603425"/>
              </a:tblGrid>
              <a:tr h="496300">
                <a:tc>
                  <a:txBody>
                    <a:bodyPr/>
                    <a:lstStyle/>
                    <a:p>
                      <a:pPr indent="0" lvl="0" marL="0" marR="0" rtl="0" algn="ctr">
                        <a:spcBef>
                          <a:spcPts val="0"/>
                        </a:spcBef>
                        <a:spcAft>
                          <a:spcPts val="0"/>
                        </a:spcAft>
                        <a:buNone/>
                      </a:pPr>
                      <a:r>
                        <a:rPr lang="en-US" sz="2700" u="none" cap="none" strike="noStrike"/>
                        <a:t>Heating cycle</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_D_</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D_</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D</a:t>
                      </a:r>
                      <a:endParaRPr sz="2700" u="none" cap="none" strike="noStrike">
                        <a:latin typeface="Calibri"/>
                        <a:ea typeface="Calibri"/>
                        <a:cs typeface="Calibri"/>
                        <a:sym typeface="Calibri"/>
                      </a:endParaRPr>
                    </a:p>
                  </a:txBody>
                  <a:tcPr marT="0" marB="0" marR="166675" marL="166675"/>
                </a:tc>
              </a:tr>
              <a:tr h="496300">
                <a:tc>
                  <a:txBody>
                    <a:bodyPr/>
                    <a:lstStyle/>
                    <a:p>
                      <a:pPr indent="0" lvl="0" marL="0" marR="0" rtl="0" algn="ctr">
                        <a:spcBef>
                          <a:spcPts val="0"/>
                        </a:spcBef>
                        <a:spcAft>
                          <a:spcPts val="0"/>
                        </a:spcAft>
                        <a:buNone/>
                      </a:pPr>
                      <a:r>
                        <a:rPr lang="en-US" sz="2700" u="none" cap="none" strike="noStrike"/>
                        <a:t>1</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0</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0</a:t>
                      </a:r>
                      <a:endParaRPr sz="2700" u="none" cap="none" strike="noStrike">
                        <a:latin typeface="Calibri"/>
                        <a:ea typeface="Calibri"/>
                        <a:cs typeface="Calibri"/>
                        <a:sym typeface="Calibri"/>
                      </a:endParaRPr>
                    </a:p>
                  </a:txBody>
                  <a:tcPr marT="0" marB="0" marR="166675" marL="166675"/>
                </a:tc>
              </a:tr>
              <a:tr h="496300">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0</a:t>
                      </a:r>
                      <a:endParaRPr sz="2700" u="none" cap="none" strike="noStrike">
                        <a:latin typeface="Calibri"/>
                        <a:ea typeface="Calibri"/>
                        <a:cs typeface="Calibri"/>
                        <a:sym typeface="Calibri"/>
                      </a:endParaRPr>
                    </a:p>
                  </a:txBody>
                  <a:tcPr marT="0" marB="0" marR="166675" marL="166675"/>
                </a:tc>
              </a:tr>
              <a:tr h="496300">
                <a:tc>
                  <a:txBody>
                    <a:bodyPr/>
                    <a:lstStyle/>
                    <a:p>
                      <a:pPr indent="0" lvl="0" marL="0" marR="0" rtl="0" algn="ctr">
                        <a:spcBef>
                          <a:spcPts val="0"/>
                        </a:spcBef>
                        <a:spcAft>
                          <a:spcPts val="0"/>
                        </a:spcAft>
                        <a:buNone/>
                      </a:pPr>
                      <a:r>
                        <a:rPr lang="en-US" sz="2700" u="none" cap="none" strike="noStrike"/>
                        <a:t>3</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4</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r>
              <a:tr h="496300">
                <a:tc>
                  <a:txBody>
                    <a:bodyPr/>
                    <a:lstStyle/>
                    <a:p>
                      <a:pPr indent="0" lvl="0" marL="0" marR="0" rtl="0" algn="ctr">
                        <a:spcBef>
                          <a:spcPts val="0"/>
                        </a:spcBef>
                        <a:spcAft>
                          <a:spcPts val="0"/>
                        </a:spcAft>
                        <a:buNone/>
                      </a:pPr>
                      <a:r>
                        <a:rPr lang="en-US" sz="2700" u="none" cap="none" strike="noStrike"/>
                        <a:t>4</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6</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8</a:t>
                      </a:r>
                      <a:endParaRPr sz="2700" u="none" cap="none" strike="noStrike">
                        <a:latin typeface="Calibri"/>
                        <a:ea typeface="Calibri"/>
                        <a:cs typeface="Calibri"/>
                        <a:sym typeface="Calibri"/>
                      </a:endParaRPr>
                    </a:p>
                  </a:txBody>
                  <a:tcPr marT="0" marB="0" marR="166675" marL="166675"/>
                </a:tc>
              </a:tr>
              <a:tr h="496300">
                <a:tc>
                  <a:txBody>
                    <a:bodyPr/>
                    <a:lstStyle/>
                    <a:p>
                      <a:pPr indent="0" lvl="0" marL="0" marR="0" rtl="0" algn="ctr">
                        <a:spcBef>
                          <a:spcPts val="0"/>
                        </a:spcBef>
                        <a:spcAft>
                          <a:spcPts val="0"/>
                        </a:spcAft>
                        <a:buNone/>
                      </a:pPr>
                      <a:r>
                        <a:rPr lang="en-US" sz="2700" u="none" cap="none" strike="noStrike"/>
                        <a:t>5</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8</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22</a:t>
                      </a:r>
                      <a:endParaRPr sz="2700" u="none" cap="none" strike="noStrike">
                        <a:latin typeface="Calibri"/>
                        <a:ea typeface="Calibri"/>
                        <a:cs typeface="Calibri"/>
                        <a:sym typeface="Calibri"/>
                      </a:endParaRPr>
                    </a:p>
                  </a:txBody>
                  <a:tcPr marT="0" marB="0" marR="166675" marL="166675"/>
                </a:tc>
              </a:tr>
              <a:tr h="496300">
                <a:tc>
                  <a:txBody>
                    <a:bodyPr/>
                    <a:lstStyle/>
                    <a:p>
                      <a:pPr indent="0" lvl="0" marL="0" marR="0" rtl="0" algn="ctr">
                        <a:spcBef>
                          <a:spcPts val="0"/>
                        </a:spcBef>
                        <a:spcAft>
                          <a:spcPts val="0"/>
                        </a:spcAft>
                        <a:buNone/>
                      </a:pPr>
                      <a:r>
                        <a:rPr lang="en-US" sz="2700" u="none" cap="none" strike="noStrike"/>
                        <a:t> </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 </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 </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 </a:t>
                      </a:r>
                      <a:endParaRPr sz="2700" u="none" cap="none" strike="noStrike">
                        <a:latin typeface="Calibri"/>
                        <a:ea typeface="Calibri"/>
                        <a:cs typeface="Calibri"/>
                        <a:sym typeface="Calibri"/>
                      </a:endParaRPr>
                    </a:p>
                  </a:txBody>
                  <a:tcPr marT="0" marB="0" marR="166675" marL="166675"/>
                </a:tc>
              </a:tr>
              <a:tr h="496300">
                <a:tc>
                  <a:txBody>
                    <a:bodyPr/>
                    <a:lstStyle/>
                    <a:p>
                      <a:pPr indent="0" lvl="0" marL="0" marR="0" rtl="0" algn="ctr">
                        <a:spcBef>
                          <a:spcPts val="0"/>
                        </a:spcBef>
                        <a:spcAft>
                          <a:spcPts val="0"/>
                        </a:spcAft>
                        <a:buNone/>
                      </a:pPr>
                      <a:r>
                        <a:rPr lang="en-US" sz="2700" u="none" cap="none" strike="noStrike"/>
                        <a:t>n</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2(n-1)</a:t>
                      </a:r>
                      <a:endParaRPr sz="2700" u="none" cap="none" strike="noStrike">
                        <a:latin typeface="Calibri"/>
                        <a:ea typeface="Calibri"/>
                        <a:cs typeface="Calibri"/>
                        <a:sym typeface="Calibri"/>
                      </a:endParaRPr>
                    </a:p>
                  </a:txBody>
                  <a:tcPr marT="0" marB="0" marR="166675" marL="166675"/>
                </a:tc>
                <a:tc>
                  <a:txBody>
                    <a:bodyPr/>
                    <a:lstStyle/>
                    <a:p>
                      <a:pPr indent="0" lvl="0" marL="0" marR="0" rtl="0" algn="ctr">
                        <a:spcBef>
                          <a:spcPts val="0"/>
                        </a:spcBef>
                        <a:spcAft>
                          <a:spcPts val="0"/>
                        </a:spcAft>
                        <a:buNone/>
                      </a:pPr>
                      <a:r>
                        <a:rPr lang="en-US" sz="2700" u="none" cap="none" strike="noStrike"/>
                        <a:t>2^n-2n</a:t>
                      </a:r>
                      <a:endParaRPr sz="2700" u="none" cap="none" strike="noStrike">
                        <a:latin typeface="Calibri"/>
                        <a:ea typeface="Calibri"/>
                        <a:cs typeface="Calibri"/>
                        <a:sym typeface="Calibri"/>
                      </a:endParaRPr>
                    </a:p>
                  </a:txBody>
                  <a:tcPr marT="0" marB="0" marR="166675" marL="166675"/>
                </a:tc>
              </a:tr>
            </a:tbl>
          </a:graphicData>
        </a:graphic>
      </p:graphicFrame>
      <p:sp>
        <p:nvSpPr>
          <p:cNvPr id="175" name="Google Shape;175;p13"/>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Distribution of strands – 2-sided, 1-sided and terminal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863029" y="1012004"/>
            <a:ext cx="3416158" cy="47954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b="1" lang="en-US">
                <a:solidFill>
                  <a:srgbClr val="FFFFFF"/>
                </a:solidFill>
              </a:rPr>
              <a:t>Exponential vs Polynomial vs Constant</a:t>
            </a:r>
            <a:endParaRPr>
              <a:solidFill>
                <a:srgbClr val="FFFFFF"/>
              </a:solidFill>
            </a:endParaRPr>
          </a:p>
        </p:txBody>
      </p:sp>
      <p:graphicFrame>
        <p:nvGraphicFramePr>
          <p:cNvPr id="181" name="Google Shape;181;p14"/>
          <p:cNvGraphicFramePr/>
          <p:nvPr/>
        </p:nvGraphicFramePr>
        <p:xfrm>
          <a:off x="5194300" y="837779"/>
          <a:ext cx="6513600" cy="5885400"/>
        </p:xfrm>
        <a:graphic>
          <a:graphicData uri="http://schemas.openxmlformats.org/drawingml/2006/chart">
            <c:chart r:id="rId4"/>
          </a:graphicData>
        </a:graphic>
      </p:graphicFrame>
      <p:sp>
        <p:nvSpPr>
          <p:cNvPr id="182" name="Google Shape;182;p14"/>
          <p:cNvSpPr txBox="1"/>
          <p:nvPr/>
        </p:nvSpPr>
        <p:spPr>
          <a:xfrm>
            <a:off x="257802" y="13479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70000"/>
              </a:lnSpc>
              <a:spcBef>
                <a:spcPts val="0"/>
              </a:spcBef>
              <a:spcAft>
                <a:spcPts val="0"/>
              </a:spcAft>
              <a:buClr>
                <a:schemeClr val="dk1"/>
              </a:buClr>
              <a:buSzPts val="3740"/>
              <a:buFont typeface="Calibri"/>
              <a:buNone/>
            </a:pPr>
            <a:r>
              <a:rPr b="0" i="0" lang="en-US" sz="3740" u="none" cap="none" strike="noStrike">
                <a:solidFill>
                  <a:schemeClr val="dk1"/>
                </a:solidFill>
                <a:latin typeface="Calibri"/>
                <a:ea typeface="Calibri"/>
                <a:cs typeface="Calibri"/>
                <a:sym typeface="Calibri"/>
              </a:rPr>
              <a:t>Distribution of strands – exponential vs polynomial(linear) vs </a:t>
            </a:r>
            <a:endParaRPr/>
          </a:p>
          <a:p>
            <a:pPr indent="0" lvl="0" marL="0" marR="0" rtl="0" algn="l">
              <a:lnSpc>
                <a:spcPct val="70000"/>
              </a:lnSpc>
              <a:spcBef>
                <a:spcPts val="0"/>
              </a:spcBef>
              <a:spcAft>
                <a:spcPts val="0"/>
              </a:spcAft>
              <a:buClr>
                <a:schemeClr val="dk1"/>
              </a:buClr>
              <a:buSzPts val="3740"/>
              <a:buFont typeface="Calibri"/>
              <a:buNone/>
            </a:pPr>
            <a:r>
              <a:rPr b="0" i="0" lang="en-US" sz="3740" u="none" cap="none" strike="noStrike">
                <a:solidFill>
                  <a:schemeClr val="dk1"/>
                </a:solidFill>
                <a:latin typeface="Calibri"/>
                <a:ea typeface="Calibri"/>
                <a:cs typeface="Calibri"/>
                <a:sym typeface="Calibri"/>
              </a:rPr>
              <a:t>constant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Summary</a:t>
            </a:r>
            <a:endParaRPr/>
          </a:p>
        </p:txBody>
      </p:sp>
      <p:sp>
        <p:nvSpPr>
          <p:cNvPr id="188" name="Google Shape;18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Algorithms are central to the functioning of modern-day society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time complexity of an algorithm is a worst-case measure, parameterized in terms of input size and expressed in order notation which is asymptotic and ignores constants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Main Takeaway: Exponential growth dramatically outpaces polynomial growth, hence the emphasis on discovering and using polynomial-time algorithms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2019-09-13T03:48:54Z</dcterms:created>
  <dc:creator>koods koods</dc:creator>
</cp:coreProperties>
</file>