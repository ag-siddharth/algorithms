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8" roundtripDataSignature="AMtx7miLBiOH1F3PuU79b5o3D0dp3iODw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ulo Turner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0-09-11T19:27:08.109">
    <p:pos x="4433" y="1947"/>
    <p:text>Alt text: An x-y plane graph shows time along the y axis and n along the x axis and charts two lines. The first line is labeled the g of n and it rises steeply. The second line is labeled the f of n and its steepness varies from left to right, causing it to intersect with the g of n line twice.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AKO7W5fw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1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"/>
          <p:cNvSpPr txBox="1"/>
          <p:nvPr>
            <p:ph type="ctrTitle"/>
          </p:nvPr>
        </p:nvSpPr>
        <p:spPr>
          <a:xfrm>
            <a:off x="1452819" y="1204598"/>
            <a:ext cx="9144000" cy="384376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</a:pPr>
            <a:r>
              <a:rPr lang="en-US" sz="4000" u="sng"/>
              <a:t>CS5800 – ALGORITHMS</a:t>
            </a:r>
            <a:br>
              <a:rPr lang="en-US" sz="4000"/>
            </a:br>
            <a:br>
              <a:rPr lang="en-US" sz="4000"/>
            </a:br>
            <a:r>
              <a:rPr lang="en-US" sz="4000"/>
              <a:t>MODULE 1. REVIEW OF ASYMPTOTIC NOTATION</a:t>
            </a:r>
            <a:br>
              <a:rPr lang="en-US" sz="4000"/>
            </a:br>
            <a:br>
              <a:rPr lang="en-US" sz="4000"/>
            </a:br>
            <a:r>
              <a:rPr lang="en-US" sz="4000"/>
              <a:t>Lesson 2: Asymptotics &amp; Order Notation</a:t>
            </a:r>
            <a:endParaRPr/>
          </a:p>
        </p:txBody>
      </p:sp>
      <p:sp>
        <p:nvSpPr>
          <p:cNvPr id="101" name="Google Shape;101;p1"/>
          <p:cNvSpPr txBox="1"/>
          <p:nvPr>
            <p:ph idx="1" type="subTitle"/>
          </p:nvPr>
        </p:nvSpPr>
        <p:spPr>
          <a:xfrm>
            <a:off x="1452819" y="5688991"/>
            <a:ext cx="9144000" cy="4777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u="sng"/>
              <a:t>Ravi Sundaram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Topics</a:t>
            </a:r>
            <a:endParaRPr/>
          </a:p>
        </p:txBody>
      </p:sp>
      <p:sp>
        <p:nvSpPr>
          <p:cNvPr id="107" name="Google Shape;107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042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 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Worst-case, asymptotic</a:t>
            </a:r>
            <a:endParaRPr/>
          </a:p>
        </p:txBody>
      </p:sp>
      <p:sp>
        <p:nvSpPr>
          <p:cNvPr id="113" name="Google Shape;11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 worst-case (for given size/family of inputs)?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Different algorithms may be better on different instances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Worst-case gives a uniform way to compare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Does not require consensus on “average” case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Why asymptotic (as input size goes to infinity)?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Input parameterized by 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Care about complexity as n → ∞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scalability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Some common runtimes</a:t>
            </a:r>
            <a:endParaRPr/>
          </a:p>
        </p:txBody>
      </p:sp>
      <p:sp>
        <p:nvSpPr>
          <p:cNvPr id="119" name="Google Shape;119;p4"/>
          <p:cNvSpPr txBox="1"/>
          <p:nvPr>
            <p:ph idx="1" type="body"/>
          </p:nvPr>
        </p:nvSpPr>
        <p:spPr>
          <a:xfrm>
            <a:off x="838200" y="1825624"/>
            <a:ext cx="10515600" cy="4848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Linear time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algorithm takes time proportional to the size of the input — time taken is Cn for some constant 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Example: Finding the maximum of a set of numbers — keep the biggest number seen so far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Logarithmic time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time taken is proportional to C log</a:t>
            </a:r>
            <a:r>
              <a:rPr baseline="-25000" lang="en-US"/>
              <a:t>2</a:t>
            </a:r>
            <a:r>
              <a:rPr lang="en-US"/>
              <a:t> n  = C lg n for some constant C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Because different log bases are different only by a constant, we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typically omit the base: C log n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Example: Binary search on a sorted list of numbers, throws out half the data at each step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Other common runtimes</a:t>
            </a:r>
            <a:endParaRPr/>
          </a:p>
        </p:txBody>
      </p:sp>
      <p:sp>
        <p:nvSpPr>
          <p:cNvPr id="125" name="Google Shape;125;p5"/>
          <p:cNvSpPr txBox="1"/>
          <p:nvPr>
            <p:ph idx="1" type="body"/>
          </p:nvPr>
        </p:nvSpPr>
        <p:spPr>
          <a:xfrm>
            <a:off x="838200" y="1825624"/>
            <a:ext cx="10515600" cy="4848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Polynomial time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broad category that includes constant, linear, logarithmic, and quadratic time, as well as any time bounded by Cn</a:t>
            </a:r>
            <a:r>
              <a:rPr baseline="30000" lang="en-US"/>
              <a:t>k</a:t>
            </a:r>
            <a:r>
              <a:rPr lang="en-US"/>
              <a:t> for some constant k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Often considered theoretically “efficient” or “tractable”; n</a:t>
            </a:r>
            <a:r>
              <a:rPr baseline="30000" lang="en-US"/>
              <a:t>100</a:t>
            </a:r>
            <a:r>
              <a:rPr lang="en-US"/>
              <a:t> would be terrible in practice, but such exponents don’t tend to arise naturally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Exponential time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size of the input is in the exponent, for example, 2</a:t>
            </a:r>
            <a:r>
              <a:rPr baseline="30000" lang="en-US"/>
              <a:t>n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Is terrible - if n &gt;= 50 or so for all practical purposes same as running forever 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Often arises when you’re trying all possible combinations of things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Example: try all possible numbers in a sudoku puzzle</a:t>
            </a:r>
            <a:endParaRPr/>
          </a:p>
          <a:p>
            <a:pPr indent="-228600" lvl="1" marL="68580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Example: factoring by trying all possible factors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Wealth of other possible running times e.g. n</a:t>
            </a:r>
            <a:r>
              <a:rPr baseline="30000" lang="en-US"/>
              <a:t>log n</a:t>
            </a:r>
            <a:r>
              <a:rPr lang="en-US"/>
              <a:t>, 2</a:t>
            </a:r>
            <a:r>
              <a:rPr baseline="30000" lang="en-US"/>
              <a:t>n!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Big-O</a:t>
            </a:r>
            <a:endParaRPr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838200" y="1825624"/>
            <a:ext cx="5830897" cy="4848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 = O(g(n)) if, for some positive c and n</a:t>
            </a:r>
            <a:r>
              <a:rPr baseline="-25000" lang="en-US"/>
              <a:t>0</a:t>
            </a:r>
            <a:r>
              <a:rPr lang="en-US"/>
              <a:t>, f(n) ≤ cg(n) for all n ≥ n</a:t>
            </a:r>
            <a:r>
              <a:rPr baseline="-25000" lang="en-US"/>
              <a:t>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Core idea: f(n) = O(g(n)) if f(n) ≤ cg(n) as n gets large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f(n) can be greater than g(n) for a little while, as long as g(n) passes it in the long run.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This allows us to perform expensive setups that pay off in the long term. Also constants don’t matter. 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cxnSp>
        <p:nvCxnSpPr>
          <p:cNvPr id="132" name="Google Shape;132;p6"/>
          <p:cNvCxnSpPr/>
          <p:nvPr/>
        </p:nvCxnSpPr>
        <p:spPr>
          <a:xfrm flipH="1" rot="10800000">
            <a:off x="8125566" y="5661614"/>
            <a:ext cx="3767109" cy="65706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3" name="Google Shape;133;p6"/>
          <p:cNvSpPr txBox="1"/>
          <p:nvPr/>
        </p:nvSpPr>
        <p:spPr>
          <a:xfrm>
            <a:off x="7038109" y="3091375"/>
            <a:ext cx="13277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Time</a:t>
            </a:r>
            <a:endParaRPr/>
          </a:p>
        </p:txBody>
      </p:sp>
      <p:sp>
        <p:nvSpPr>
          <p:cNvPr id="134" name="Google Shape;134;p6"/>
          <p:cNvSpPr txBox="1"/>
          <p:nvPr/>
        </p:nvSpPr>
        <p:spPr>
          <a:xfrm>
            <a:off x="9559636" y="5779157"/>
            <a:ext cx="13277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</p:txBody>
      </p:sp>
      <p:cxnSp>
        <p:nvCxnSpPr>
          <p:cNvPr id="135" name="Google Shape;135;p6"/>
          <p:cNvCxnSpPr/>
          <p:nvPr/>
        </p:nvCxnSpPr>
        <p:spPr>
          <a:xfrm flipH="1" rot="10800000">
            <a:off x="8169369" y="1752600"/>
            <a:ext cx="3322976" cy="3974720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6" name="Google Shape;136;p6"/>
          <p:cNvCxnSpPr/>
          <p:nvPr/>
        </p:nvCxnSpPr>
        <p:spPr>
          <a:xfrm rot="10800000">
            <a:off x="8169370" y="1378528"/>
            <a:ext cx="8648" cy="4348792"/>
          </a:xfrm>
          <a:prstGeom prst="straightConnector1">
            <a:avLst/>
          </a:prstGeom>
          <a:noFill/>
          <a:ln cap="flat" cmpd="sng" w="635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7" name="Google Shape;137;p6"/>
          <p:cNvSpPr txBox="1"/>
          <p:nvPr/>
        </p:nvSpPr>
        <p:spPr>
          <a:xfrm>
            <a:off x="10414801" y="1690688"/>
            <a:ext cx="13277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g(n)</a:t>
            </a:r>
            <a:endParaRPr/>
          </a:p>
        </p:txBody>
      </p:sp>
      <p:cxnSp>
        <p:nvCxnSpPr>
          <p:cNvPr id="138" name="Google Shape;138;p6"/>
          <p:cNvCxnSpPr/>
          <p:nvPr/>
        </p:nvCxnSpPr>
        <p:spPr>
          <a:xfrm>
            <a:off x="8178018" y="4301836"/>
            <a:ext cx="1652839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39" name="Google Shape;139;p6"/>
          <p:cNvCxnSpPr/>
          <p:nvPr/>
        </p:nvCxnSpPr>
        <p:spPr>
          <a:xfrm flipH="1">
            <a:off x="9839505" y="3304309"/>
            <a:ext cx="169615" cy="997527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0" name="Google Shape;140;p6"/>
          <p:cNvCxnSpPr/>
          <p:nvPr/>
        </p:nvCxnSpPr>
        <p:spPr>
          <a:xfrm flipH="1" rot="10800000">
            <a:off x="10009120" y="3304309"/>
            <a:ext cx="1069579" cy="6927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41" name="Google Shape;141;p6"/>
          <p:cNvCxnSpPr/>
          <p:nvPr/>
        </p:nvCxnSpPr>
        <p:spPr>
          <a:xfrm flipH="1" rot="10800000">
            <a:off x="11078699" y="2951018"/>
            <a:ext cx="531410" cy="346168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6"/>
          <p:cNvSpPr txBox="1"/>
          <p:nvPr/>
        </p:nvSpPr>
        <p:spPr>
          <a:xfrm>
            <a:off x="10524247" y="3268427"/>
            <a:ext cx="132779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f(n)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Big-O</a:t>
            </a:r>
            <a:endParaRPr/>
          </a:p>
        </p:txBody>
      </p:sp>
      <p:sp>
        <p:nvSpPr>
          <p:cNvPr id="148" name="Google Shape;148;p7"/>
          <p:cNvSpPr txBox="1"/>
          <p:nvPr>
            <p:ph idx="1" type="body"/>
          </p:nvPr>
        </p:nvSpPr>
        <p:spPr>
          <a:xfrm>
            <a:off x="838199" y="1825624"/>
            <a:ext cx="11021291" cy="4848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Upper bound of function relations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Big-O is analogous to ≤.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It holds when two growth rates are essentially equal: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2n = O(n). (Both linear)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It holds when the first growth rate is asymptotically less than the second: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2n = O(2</a:t>
            </a:r>
            <a:r>
              <a:rPr baseline="30000" lang="en-US"/>
              <a:t>n</a:t>
            </a:r>
            <a:r>
              <a:rPr lang="en-US"/>
              <a:t>). (Linear vs exponential)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Always put big-O on the right of the equals sign: 5n = O(n) – is saying that the function on the LHS is a member of the category on the RHS.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Most commonly used of the bounds because with algorithms, we usually want an upper bound on the worst case running time.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Big-Omega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Ω</a:t>
            </a:r>
            <a:endParaRPr/>
          </a:p>
        </p:txBody>
      </p:sp>
      <p:sp>
        <p:nvSpPr>
          <p:cNvPr id="154" name="Google Shape;154;p8"/>
          <p:cNvSpPr txBox="1"/>
          <p:nvPr>
            <p:ph idx="1" type="body"/>
          </p:nvPr>
        </p:nvSpPr>
        <p:spPr>
          <a:xfrm>
            <a:off x="838199" y="1825624"/>
            <a:ext cx="11021291" cy="4848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Lower bound of function relations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Ω</a:t>
            </a:r>
            <a:r>
              <a:rPr lang="en-US"/>
              <a:t> is analogous to ≥.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Used when we may want to say, “This algorithm must take at least this much time”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 =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Ω</a:t>
            </a:r>
            <a:r>
              <a:rPr lang="en-US"/>
              <a:t>(g(n)) if, for some positive c and n</a:t>
            </a:r>
            <a:r>
              <a:rPr baseline="-25000" lang="en-US"/>
              <a:t>0</a:t>
            </a:r>
            <a:r>
              <a:rPr lang="en-US"/>
              <a:t>, f(n) ≥ cg(n) for all n ≥ n</a:t>
            </a:r>
            <a:r>
              <a:rPr baseline="-25000" lang="en-US"/>
              <a:t>0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aseline="-25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 =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Ω</a:t>
            </a:r>
            <a:r>
              <a:rPr lang="en-US"/>
              <a:t>(g(n)) iff g = O(f(n))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 Theta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Θ</a:t>
            </a:r>
            <a:endParaRPr/>
          </a:p>
        </p:txBody>
      </p:sp>
      <p:sp>
        <p:nvSpPr>
          <p:cNvPr id="160" name="Google Shape;160;p9"/>
          <p:cNvSpPr txBox="1"/>
          <p:nvPr>
            <p:ph idx="1" type="body"/>
          </p:nvPr>
        </p:nvSpPr>
        <p:spPr>
          <a:xfrm>
            <a:off x="838199" y="1825624"/>
            <a:ext cx="11021291" cy="4848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Equality of function relations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>
                <a:latin typeface="Cambria"/>
                <a:ea typeface="Cambria"/>
                <a:cs typeface="Cambria"/>
                <a:sym typeface="Cambria"/>
              </a:rPr>
              <a:t>Θ</a:t>
            </a:r>
            <a:r>
              <a:rPr lang="en-US"/>
              <a:t> is analogous to =.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Used when we may want to say, “This is the exact growth rate of the algorithm’s time complexity”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aseline="-250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 =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Ω</a:t>
            </a:r>
            <a:r>
              <a:rPr lang="en-US"/>
              <a:t>(g(n)) and f = O(g(n)) =&gt; f = 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Θ(g(n))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-1158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Calibri"/>
              <a:buNone/>
            </a:pPr>
            <a:r>
              <a:rPr lang="en-US"/>
              <a:t> </a:t>
            </a:r>
            <a:endParaRPr/>
          </a:p>
        </p:txBody>
      </p:sp>
      <p:sp>
        <p:nvSpPr>
          <p:cNvPr id="166" name="Google Shape;166;p10"/>
          <p:cNvSpPr txBox="1"/>
          <p:nvPr>
            <p:ph idx="1" type="body"/>
          </p:nvPr>
        </p:nvSpPr>
        <p:spPr>
          <a:xfrm>
            <a:off x="838199" y="1825624"/>
            <a:ext cx="11021291" cy="48489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we want to say one growth rate is strictly faster or slower than another, we use little-o and little-ω: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 = o(n</a:t>
            </a:r>
            <a:r>
              <a:rPr baseline="30000" lang="en-US"/>
              <a:t>2</a:t>
            </a:r>
            <a:r>
              <a:rPr lang="en-US"/>
              <a:t>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n = ω(log 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These are analogous to &lt; and &gt; for growth rates.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The technical definition of little-o is f(n) = o(g(n)) if Lim</a:t>
            </a:r>
            <a:r>
              <a:rPr baseline="-25000" lang="en-US"/>
              <a:t>n-&gt;</a:t>
            </a:r>
            <a:r>
              <a:rPr baseline="-25000" lang="en-US">
                <a:latin typeface="Cambria"/>
                <a:ea typeface="Cambria"/>
                <a:cs typeface="Cambria"/>
                <a:sym typeface="Cambria"/>
              </a:rPr>
              <a:t>∞</a:t>
            </a:r>
            <a:r>
              <a:rPr lang="en-US">
                <a:latin typeface="Cambria"/>
                <a:ea typeface="Cambria"/>
                <a:cs typeface="Cambria"/>
                <a:sym typeface="Cambria"/>
              </a:rPr>
              <a:t> f(n)/g(n) = 0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Similarly, f(n) = ω(g(n)) if the limit is infinite.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Summary</a:t>
            </a:r>
            <a:endParaRPr/>
          </a:p>
        </p:txBody>
      </p:sp>
      <p:sp>
        <p:nvSpPr>
          <p:cNvPr id="172" name="Google Shape;172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/>
              <a:t>We describe algorithm speed by the growth in number of operations required as a function of n, the input size. We want that function to grow as slowly as possible!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/>
              <a:t>big-O: an upper bound on a growth rate, ignoring constants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/>
              <a:t>big-Ω: a lower bound on a growth rate, ignoring constants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/>
              <a:t>big-Θ: a tight bound on a growth rate, ignoring constants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/>
              <a:t>o, ω: “strictly less than,” “strictly greater than”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/>
              <a:t>Each polynomial degree Θ(n</a:t>
            </a:r>
            <a:r>
              <a:rPr baseline="30000" lang="en-US" sz="2590"/>
              <a:t>k</a:t>
            </a:r>
            <a:r>
              <a:rPr lang="en-US" sz="2590"/>
              <a:t>) is its own category of growth rate</a:t>
            </a:r>
            <a:endParaRPr/>
          </a:p>
          <a:p>
            <a:pPr indent="-228600" lvl="0" marL="22860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90"/>
              <a:buChar char="•"/>
            </a:pPr>
            <a:r>
              <a:rPr lang="en-US" sz="2590"/>
              <a:t>A problem is efficiently solvable or tractable when it has a polynomial time algorithm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2019-09-13T03:48:54Z</dcterms:created>
  <dc:creator>koods koods</dc:creator>
</cp:coreProperties>
</file>