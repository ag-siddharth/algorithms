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9" roundtripDataSignature="AMtx7mjWNBoKor3UTmsKgImYUnAfwLVf7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Sulo Turn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0-09-11T20:08:17.488">
    <p:pos x="4890" y="593"/>
    <p:text>Alt text: A silhouetted illustration of a man leaning back in an office chair. Above him is a word balloon with the following text. After Merge Sort our next project will be an O algorithm.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J59dADM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0-09-14T19:24:35.892">
    <p:pos x="528" y="1150"/>
    <p:text>Alt text: A decision tree is shown. At the top is x is less than y. The true side of the decision tree flows to y is less than z. This flows to two other branches as follows. X is less than y which is less than z. X is less than y. X is less than y flows into two other branches as follows. X is less than z which is less than y. Z is less than x which is less than y. The false side of the decision tree flows to x is less than z. This flows to two other branches as follows. Y is less than x which is less than z. Y is less than z. Y is less than z flows into two other branches as follows. Y is less than z which is less than x. Z is less than y which is less than x.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J6C_pss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0-09-14T19:24:51.362">
    <p:pos x="2051" y="1514"/>
    <p:text>Alt text: A decision tree is shown. At the top is x is less than y. The true side of the decision tree flows to y is less than z. This flows to two other branches as follows. X is less than y which is less than z. X is less than y. X is less than y flows into two other branches as follows. X is less than z which is less than y. Z is less than x which is less than y. The false side of the decision tree flows to x is less than z. This flows to two other branches as follows. Y is less than x which is less than z. Y is less than z. Y is less than z flows into two other branches as follows. Y is less than z which is less than x. Z is less than y which is less than x.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J6C_psw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1452819" y="1204598"/>
            <a:ext cx="9144000" cy="3843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u="sng"/>
              <a:t>CS5800 – ALGORITHMS</a:t>
            </a:r>
            <a:br>
              <a:rPr lang="en-US" sz="4000"/>
            </a:br>
            <a:br>
              <a:rPr lang="en-US" sz="4000"/>
            </a:br>
            <a:r>
              <a:rPr lang="en-US" sz="4000"/>
              <a:t>MODULE 4. DIVIDE &amp; CONQUER - II</a:t>
            </a:r>
            <a:br>
              <a:rPr lang="en-US" sz="4000"/>
            </a:br>
            <a:br>
              <a:rPr lang="en-US" sz="4000"/>
            </a:br>
            <a:r>
              <a:rPr lang="en-US" sz="4000"/>
              <a:t>Lesson 2: Lower Bound</a:t>
            </a:r>
            <a:endParaRPr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452819" y="5688991"/>
            <a:ext cx="9144000" cy="477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u="sng"/>
              <a:t>Ravi Sundaram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lower bounds?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Comparison-based algorithms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special case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Decision Tree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Orderings and height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Summary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Lower bound – why?</a:t>
            </a:r>
            <a:endParaRPr/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515148" y="1510145"/>
            <a:ext cx="6987088" cy="4896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Lower bounds put a limit on what we can achieve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They give us a target to shoot for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Once we reach the limit, we can stop</a:t>
            </a:r>
            <a:endParaRPr/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7230" y="3090398"/>
            <a:ext cx="2586890" cy="231970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7764187" y="942734"/>
            <a:ext cx="2978644" cy="2070767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7978890" y="1447895"/>
            <a:ext cx="26452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Merge Sort our next project will be an O(nloglogn) algorithm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Comparison-based algorithms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838200" y="1825625"/>
            <a:ext cx="10515600" cy="479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With Merge Sort we have achieved an O(nlogn) algorithm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Is O(nlogn) the best we can do?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Yes, there is an </a:t>
            </a:r>
            <a:r>
              <a:rPr lang="en-US" sz="3200">
                <a:latin typeface="Cambria"/>
                <a:ea typeface="Cambria"/>
                <a:cs typeface="Cambria"/>
                <a:sym typeface="Cambria"/>
              </a:rPr>
              <a:t>Ω(nlogn) lower bound on sorting algorithms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Cambria"/>
                <a:ea typeface="Cambria"/>
                <a:cs typeface="Cambria"/>
                <a:sym typeface="Cambria"/>
              </a:rPr>
              <a:t>Any</a:t>
            </a:r>
            <a:r>
              <a:rPr lang="en-US" sz="3200"/>
              <a:t> comparison-based algorithm that sorts n elements must take at least cnlogn time in the worst case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Key points: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comparison-based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No special assumptions on input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Special Case </a:t>
            </a:r>
            <a:endParaRPr/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the input has only 0s and 1s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Count the 0s, say there are k of them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 k 0s followed by n-k 1s 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O(n) – linear time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Counting beats comparing but comparisons are general purpose</a:t>
            </a:r>
            <a:endParaRPr/>
          </a:p>
        </p:txBody>
      </p:sp>
      <p:cxnSp>
        <p:nvCxnSpPr>
          <p:cNvPr id="129" name="Google Shape;129;p5"/>
          <p:cNvCxnSpPr/>
          <p:nvPr/>
        </p:nvCxnSpPr>
        <p:spPr>
          <a:xfrm>
            <a:off x="1295400" y="2999509"/>
            <a:ext cx="64146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" name="Google Shape;130;p5"/>
          <p:cNvCxnSpPr/>
          <p:nvPr/>
        </p:nvCxnSpPr>
        <p:spPr>
          <a:xfrm>
            <a:off x="1295400" y="3629890"/>
            <a:ext cx="64146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5"/>
          <p:cNvCxnSpPr/>
          <p:nvPr/>
        </p:nvCxnSpPr>
        <p:spPr>
          <a:xfrm rot="10800000">
            <a:off x="1295400" y="2999510"/>
            <a:ext cx="0" cy="63038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5"/>
          <p:cNvCxnSpPr/>
          <p:nvPr/>
        </p:nvCxnSpPr>
        <p:spPr>
          <a:xfrm rot="10800000">
            <a:off x="1911927" y="2999510"/>
            <a:ext cx="0" cy="63038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5"/>
          <p:cNvCxnSpPr/>
          <p:nvPr/>
        </p:nvCxnSpPr>
        <p:spPr>
          <a:xfrm rot="10800000">
            <a:off x="2549237" y="2999510"/>
            <a:ext cx="0" cy="63038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5"/>
          <p:cNvCxnSpPr/>
          <p:nvPr/>
        </p:nvCxnSpPr>
        <p:spPr>
          <a:xfrm rot="10800000">
            <a:off x="3186546" y="2999509"/>
            <a:ext cx="0" cy="63038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5"/>
          <p:cNvCxnSpPr/>
          <p:nvPr/>
        </p:nvCxnSpPr>
        <p:spPr>
          <a:xfrm rot="10800000">
            <a:off x="7093527" y="2999509"/>
            <a:ext cx="0" cy="63038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5"/>
          <p:cNvCxnSpPr/>
          <p:nvPr/>
        </p:nvCxnSpPr>
        <p:spPr>
          <a:xfrm rot="10800000">
            <a:off x="7710055" y="2999509"/>
            <a:ext cx="0" cy="63038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5"/>
          <p:cNvSpPr txBox="1"/>
          <p:nvPr/>
        </p:nvSpPr>
        <p:spPr>
          <a:xfrm>
            <a:off x="1353590" y="2939177"/>
            <a:ext cx="3906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2619897" y="2922003"/>
            <a:ext cx="3906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1998521" y="2922003"/>
            <a:ext cx="3906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7187392" y="2928785"/>
            <a:ext cx="3906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146" name="Google Shape;146;p6"/>
          <p:cNvSpPr txBox="1"/>
          <p:nvPr>
            <p:ph idx="1" type="body"/>
          </p:nvPr>
        </p:nvSpPr>
        <p:spPr>
          <a:xfrm>
            <a:off x="838201" y="1825625"/>
            <a:ext cx="401781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sorting {x, y, z}</a:t>
            </a:r>
            <a:endParaRPr/>
          </a:p>
        </p:txBody>
      </p:sp>
      <p:grpSp>
        <p:nvGrpSpPr>
          <p:cNvPr id="147" name="Google Shape;147;p6"/>
          <p:cNvGrpSpPr/>
          <p:nvPr/>
        </p:nvGrpSpPr>
        <p:grpSpPr>
          <a:xfrm>
            <a:off x="6045681" y="1595274"/>
            <a:ext cx="1773382" cy="900546"/>
            <a:chOff x="8070273" y="1052945"/>
            <a:chExt cx="1905000" cy="997528"/>
          </a:xfrm>
        </p:grpSpPr>
        <p:sp>
          <p:nvSpPr>
            <p:cNvPr id="148" name="Google Shape;148;p6"/>
            <p:cNvSpPr/>
            <p:nvPr/>
          </p:nvSpPr>
          <p:spPr>
            <a:xfrm>
              <a:off x="8070273" y="1052945"/>
              <a:ext cx="1683327" cy="997528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8402782" y="1179294"/>
              <a:ext cx="157249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&lt; y</a:t>
              </a:r>
              <a:endParaRPr/>
            </a:p>
          </p:txBody>
        </p:sp>
      </p:grpSp>
      <p:grpSp>
        <p:nvGrpSpPr>
          <p:cNvPr id="150" name="Google Shape;150;p6"/>
          <p:cNvGrpSpPr/>
          <p:nvPr/>
        </p:nvGrpSpPr>
        <p:grpSpPr>
          <a:xfrm>
            <a:off x="9077460" y="3940171"/>
            <a:ext cx="1773382" cy="900546"/>
            <a:chOff x="8070273" y="1052945"/>
            <a:chExt cx="1905000" cy="997528"/>
          </a:xfrm>
        </p:grpSpPr>
        <p:sp>
          <p:nvSpPr>
            <p:cNvPr id="151" name="Google Shape;151;p6"/>
            <p:cNvSpPr/>
            <p:nvPr/>
          </p:nvSpPr>
          <p:spPr>
            <a:xfrm>
              <a:off x="8070273" y="1052945"/>
              <a:ext cx="1683327" cy="997528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8402782" y="1179294"/>
              <a:ext cx="1572491" cy="715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 &lt; z</a:t>
              </a:r>
              <a:endParaRPr/>
            </a:p>
          </p:txBody>
        </p:sp>
      </p:grpSp>
      <p:grpSp>
        <p:nvGrpSpPr>
          <p:cNvPr id="153" name="Google Shape;153;p6"/>
          <p:cNvGrpSpPr/>
          <p:nvPr/>
        </p:nvGrpSpPr>
        <p:grpSpPr>
          <a:xfrm>
            <a:off x="5523403" y="3984633"/>
            <a:ext cx="1773382" cy="900546"/>
            <a:chOff x="8070273" y="1052945"/>
            <a:chExt cx="1905000" cy="997528"/>
          </a:xfrm>
        </p:grpSpPr>
        <p:sp>
          <p:nvSpPr>
            <p:cNvPr id="154" name="Google Shape;154;p6"/>
            <p:cNvSpPr/>
            <p:nvPr/>
          </p:nvSpPr>
          <p:spPr>
            <a:xfrm>
              <a:off x="8070273" y="1052945"/>
              <a:ext cx="1683327" cy="997528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8402782" y="1179294"/>
              <a:ext cx="1572491" cy="715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&lt; z</a:t>
              </a:r>
              <a:endParaRPr/>
            </a:p>
          </p:txBody>
        </p:sp>
      </p:grpSp>
      <p:grpSp>
        <p:nvGrpSpPr>
          <p:cNvPr id="156" name="Google Shape;156;p6"/>
          <p:cNvGrpSpPr/>
          <p:nvPr/>
        </p:nvGrpSpPr>
        <p:grpSpPr>
          <a:xfrm>
            <a:off x="7600677" y="2843293"/>
            <a:ext cx="1773382" cy="900546"/>
            <a:chOff x="8070273" y="1052945"/>
            <a:chExt cx="1905000" cy="997528"/>
          </a:xfrm>
        </p:grpSpPr>
        <p:sp>
          <p:nvSpPr>
            <p:cNvPr id="157" name="Google Shape;157;p6"/>
            <p:cNvSpPr/>
            <p:nvPr/>
          </p:nvSpPr>
          <p:spPr>
            <a:xfrm>
              <a:off x="8070273" y="1052945"/>
              <a:ext cx="1683327" cy="997528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 txBox="1"/>
            <p:nvPr/>
          </p:nvSpPr>
          <p:spPr>
            <a:xfrm>
              <a:off x="8402782" y="1179294"/>
              <a:ext cx="1572491" cy="715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&lt; z</a:t>
              </a:r>
              <a:endParaRPr/>
            </a:p>
          </p:txBody>
        </p:sp>
      </p:grpSp>
      <p:grpSp>
        <p:nvGrpSpPr>
          <p:cNvPr id="159" name="Google Shape;159;p6"/>
          <p:cNvGrpSpPr/>
          <p:nvPr/>
        </p:nvGrpSpPr>
        <p:grpSpPr>
          <a:xfrm>
            <a:off x="4322617" y="2856336"/>
            <a:ext cx="1773382" cy="900546"/>
            <a:chOff x="8070273" y="1052945"/>
            <a:chExt cx="1905000" cy="997528"/>
          </a:xfrm>
        </p:grpSpPr>
        <p:sp>
          <p:nvSpPr>
            <p:cNvPr id="160" name="Google Shape;160;p6"/>
            <p:cNvSpPr/>
            <p:nvPr/>
          </p:nvSpPr>
          <p:spPr>
            <a:xfrm>
              <a:off x="8070273" y="1052945"/>
              <a:ext cx="1683327" cy="997528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8402782" y="1179294"/>
              <a:ext cx="1572491" cy="715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 &lt; z</a:t>
              </a:r>
              <a:endParaRPr/>
            </a:p>
          </p:txBody>
        </p:sp>
      </p:grpSp>
      <p:grpSp>
        <p:nvGrpSpPr>
          <p:cNvPr id="162" name="Google Shape;162;p6"/>
          <p:cNvGrpSpPr/>
          <p:nvPr/>
        </p:nvGrpSpPr>
        <p:grpSpPr>
          <a:xfrm>
            <a:off x="3448320" y="4111741"/>
            <a:ext cx="1657080" cy="646331"/>
            <a:chOff x="3232208" y="4637894"/>
            <a:chExt cx="1657080" cy="646331"/>
          </a:xfrm>
        </p:grpSpPr>
        <p:sp>
          <p:nvSpPr>
            <p:cNvPr id="163" name="Google Shape;163;p6"/>
            <p:cNvSpPr/>
            <p:nvPr/>
          </p:nvSpPr>
          <p:spPr>
            <a:xfrm>
              <a:off x="3265479" y="4728268"/>
              <a:ext cx="1590539" cy="555957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6"/>
            <p:cNvSpPr txBox="1"/>
            <p:nvPr/>
          </p:nvSpPr>
          <p:spPr>
            <a:xfrm>
              <a:off x="3232208" y="4637894"/>
              <a:ext cx="165708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&lt; y &lt; z</a:t>
              </a:r>
              <a:endParaRPr/>
            </a:p>
          </p:txBody>
        </p:sp>
      </p:grpSp>
      <p:grpSp>
        <p:nvGrpSpPr>
          <p:cNvPr id="165" name="Google Shape;165;p6"/>
          <p:cNvGrpSpPr/>
          <p:nvPr/>
        </p:nvGrpSpPr>
        <p:grpSpPr>
          <a:xfrm>
            <a:off x="4294171" y="5253947"/>
            <a:ext cx="1657080" cy="648448"/>
            <a:chOff x="3255171" y="4635777"/>
            <a:chExt cx="1657080" cy="648448"/>
          </a:xfrm>
        </p:grpSpPr>
        <p:sp>
          <p:nvSpPr>
            <p:cNvPr id="166" name="Google Shape;166;p6"/>
            <p:cNvSpPr/>
            <p:nvPr/>
          </p:nvSpPr>
          <p:spPr>
            <a:xfrm>
              <a:off x="3265479" y="4728268"/>
              <a:ext cx="1590539" cy="555957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3255171" y="4635777"/>
              <a:ext cx="165708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&lt; z &lt; y</a:t>
              </a:r>
              <a:endParaRPr/>
            </a:p>
          </p:txBody>
        </p:sp>
      </p:grpSp>
      <p:grpSp>
        <p:nvGrpSpPr>
          <p:cNvPr id="168" name="Google Shape;168;p6"/>
          <p:cNvGrpSpPr/>
          <p:nvPr/>
        </p:nvGrpSpPr>
        <p:grpSpPr>
          <a:xfrm>
            <a:off x="6161984" y="5264898"/>
            <a:ext cx="1657080" cy="646331"/>
            <a:chOff x="3232208" y="4637894"/>
            <a:chExt cx="1657080" cy="646331"/>
          </a:xfrm>
        </p:grpSpPr>
        <p:sp>
          <p:nvSpPr>
            <p:cNvPr id="169" name="Google Shape;169;p6"/>
            <p:cNvSpPr/>
            <p:nvPr/>
          </p:nvSpPr>
          <p:spPr>
            <a:xfrm>
              <a:off x="3265479" y="4728268"/>
              <a:ext cx="1590539" cy="555957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3232208" y="4637894"/>
              <a:ext cx="165708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 &lt; x &lt; y</a:t>
              </a:r>
              <a:endParaRPr/>
            </a:p>
          </p:txBody>
        </p:sp>
      </p:grpSp>
      <p:grpSp>
        <p:nvGrpSpPr>
          <p:cNvPr id="171" name="Google Shape;171;p6"/>
          <p:cNvGrpSpPr/>
          <p:nvPr/>
        </p:nvGrpSpPr>
        <p:grpSpPr>
          <a:xfrm>
            <a:off x="8261861" y="5190468"/>
            <a:ext cx="1657080" cy="646331"/>
            <a:chOff x="3232208" y="4637894"/>
            <a:chExt cx="1657080" cy="646331"/>
          </a:xfrm>
        </p:grpSpPr>
        <p:sp>
          <p:nvSpPr>
            <p:cNvPr id="172" name="Google Shape;172;p6"/>
            <p:cNvSpPr/>
            <p:nvPr/>
          </p:nvSpPr>
          <p:spPr>
            <a:xfrm>
              <a:off x="3265479" y="4728268"/>
              <a:ext cx="1590539" cy="555957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6"/>
            <p:cNvSpPr txBox="1"/>
            <p:nvPr/>
          </p:nvSpPr>
          <p:spPr>
            <a:xfrm>
              <a:off x="3232208" y="4637894"/>
              <a:ext cx="165708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 &lt; z &lt; x</a:t>
              </a:r>
              <a:endParaRPr/>
            </a:p>
          </p:txBody>
        </p:sp>
      </p:grpSp>
      <p:grpSp>
        <p:nvGrpSpPr>
          <p:cNvPr id="174" name="Google Shape;174;p6"/>
          <p:cNvGrpSpPr/>
          <p:nvPr/>
        </p:nvGrpSpPr>
        <p:grpSpPr>
          <a:xfrm>
            <a:off x="10223194" y="5171858"/>
            <a:ext cx="1657080" cy="646331"/>
            <a:chOff x="3232208" y="4637894"/>
            <a:chExt cx="1657080" cy="646331"/>
          </a:xfrm>
        </p:grpSpPr>
        <p:sp>
          <p:nvSpPr>
            <p:cNvPr id="175" name="Google Shape;175;p6"/>
            <p:cNvSpPr/>
            <p:nvPr/>
          </p:nvSpPr>
          <p:spPr>
            <a:xfrm>
              <a:off x="3265479" y="4728268"/>
              <a:ext cx="1590539" cy="555957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3232208" y="4637894"/>
              <a:ext cx="165708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 &lt; y &lt; x</a:t>
              </a:r>
              <a:endParaRPr/>
            </a:p>
          </p:txBody>
        </p:sp>
      </p:grpSp>
      <p:cxnSp>
        <p:nvCxnSpPr>
          <p:cNvPr id="177" name="Google Shape;177;p6"/>
          <p:cNvCxnSpPr>
            <a:stCxn id="148" idx="5"/>
          </p:cNvCxnSpPr>
          <p:nvPr/>
        </p:nvCxnSpPr>
        <p:spPr>
          <a:xfrm>
            <a:off x="7383221" y="2363938"/>
            <a:ext cx="652500" cy="47940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9047853" y="3560343"/>
            <a:ext cx="518711" cy="42429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9" name="Google Shape;179;p6"/>
          <p:cNvCxnSpPr/>
          <p:nvPr/>
        </p:nvCxnSpPr>
        <p:spPr>
          <a:xfrm>
            <a:off x="5702804" y="3604301"/>
            <a:ext cx="459180" cy="354247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" name="Google Shape;180;p6"/>
          <p:cNvCxnSpPr/>
          <p:nvPr/>
        </p:nvCxnSpPr>
        <p:spPr>
          <a:xfrm>
            <a:off x="6562327" y="4885179"/>
            <a:ext cx="652414" cy="479355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" name="Google Shape;181;p6"/>
          <p:cNvCxnSpPr/>
          <p:nvPr/>
        </p:nvCxnSpPr>
        <p:spPr>
          <a:xfrm flipH="1">
            <a:off x="5523404" y="2357637"/>
            <a:ext cx="705513" cy="56320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2" name="Google Shape;182;p6"/>
          <p:cNvCxnSpPr/>
          <p:nvPr/>
        </p:nvCxnSpPr>
        <p:spPr>
          <a:xfrm flipH="1">
            <a:off x="3887683" y="3679319"/>
            <a:ext cx="724024" cy="50258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" name="Google Shape;183;p6"/>
          <p:cNvCxnSpPr/>
          <p:nvPr/>
        </p:nvCxnSpPr>
        <p:spPr>
          <a:xfrm flipH="1">
            <a:off x="5122711" y="4766881"/>
            <a:ext cx="656303" cy="614173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" name="Google Shape;184;p6"/>
          <p:cNvCxnSpPr/>
          <p:nvPr/>
        </p:nvCxnSpPr>
        <p:spPr>
          <a:xfrm>
            <a:off x="10361738" y="4766610"/>
            <a:ext cx="652414" cy="479355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5" name="Google Shape;185;p6"/>
          <p:cNvCxnSpPr/>
          <p:nvPr/>
        </p:nvCxnSpPr>
        <p:spPr>
          <a:xfrm flipH="1">
            <a:off x="8926011" y="4782877"/>
            <a:ext cx="540495" cy="497965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6" name="Google Shape;186;p6"/>
          <p:cNvCxnSpPr/>
          <p:nvPr/>
        </p:nvCxnSpPr>
        <p:spPr>
          <a:xfrm flipH="1">
            <a:off x="7682013" y="3765706"/>
            <a:ext cx="604365" cy="408594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87" name="Google Shape;187;p6"/>
          <p:cNvGrpSpPr/>
          <p:nvPr/>
        </p:nvGrpSpPr>
        <p:grpSpPr>
          <a:xfrm>
            <a:off x="7281712" y="4091312"/>
            <a:ext cx="1657080" cy="646331"/>
            <a:chOff x="3232208" y="4637894"/>
            <a:chExt cx="1657080" cy="646331"/>
          </a:xfrm>
        </p:grpSpPr>
        <p:sp>
          <p:nvSpPr>
            <p:cNvPr id="188" name="Google Shape;188;p6"/>
            <p:cNvSpPr/>
            <p:nvPr/>
          </p:nvSpPr>
          <p:spPr>
            <a:xfrm>
              <a:off x="3265479" y="4728268"/>
              <a:ext cx="1590539" cy="555957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6"/>
            <p:cNvSpPr txBox="1"/>
            <p:nvPr/>
          </p:nvSpPr>
          <p:spPr>
            <a:xfrm>
              <a:off x="3232208" y="4637894"/>
              <a:ext cx="165708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 &lt; x &lt; z</a:t>
              </a:r>
              <a:endParaRPr/>
            </a:p>
          </p:txBody>
        </p:sp>
      </p:grpSp>
      <p:sp>
        <p:nvSpPr>
          <p:cNvPr id="190" name="Google Shape;190;p6"/>
          <p:cNvSpPr txBox="1"/>
          <p:nvPr/>
        </p:nvSpPr>
        <p:spPr>
          <a:xfrm>
            <a:off x="7647284" y="2049894"/>
            <a:ext cx="11197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4946252" y="2112542"/>
            <a:ext cx="11197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197" name="Google Shape;197;p7"/>
          <p:cNvSpPr txBox="1"/>
          <p:nvPr>
            <p:ph idx="1" type="body"/>
          </p:nvPr>
        </p:nvSpPr>
        <p:spPr>
          <a:xfrm>
            <a:off x="6109815" y="1126189"/>
            <a:ext cx="6122338" cy="2263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Alternate way of thinking: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Initially, start with all possible orders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With each YES/NO answer shrink possible answer set until one order left  </a:t>
            </a:r>
            <a:endParaRPr/>
          </a:p>
        </p:txBody>
      </p:sp>
      <p:grpSp>
        <p:nvGrpSpPr>
          <p:cNvPr id="198" name="Google Shape;198;p7"/>
          <p:cNvGrpSpPr/>
          <p:nvPr/>
        </p:nvGrpSpPr>
        <p:grpSpPr>
          <a:xfrm>
            <a:off x="349216" y="2290656"/>
            <a:ext cx="8431954" cy="4315955"/>
            <a:chOff x="3448320" y="1595274"/>
            <a:chExt cx="8431954" cy="4315955"/>
          </a:xfrm>
        </p:grpSpPr>
        <p:grpSp>
          <p:nvGrpSpPr>
            <p:cNvPr id="199" name="Google Shape;199;p7"/>
            <p:cNvGrpSpPr/>
            <p:nvPr/>
          </p:nvGrpSpPr>
          <p:grpSpPr>
            <a:xfrm>
              <a:off x="6045681" y="1595274"/>
              <a:ext cx="1773382" cy="900546"/>
              <a:chOff x="8070273" y="1052945"/>
              <a:chExt cx="1905000" cy="997528"/>
            </a:xfrm>
          </p:grpSpPr>
          <p:sp>
            <p:nvSpPr>
              <p:cNvPr id="200" name="Google Shape;200;p7"/>
              <p:cNvSpPr/>
              <p:nvPr/>
            </p:nvSpPr>
            <p:spPr>
              <a:xfrm>
                <a:off x="8070273" y="1052945"/>
                <a:ext cx="1683327" cy="997528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7"/>
              <p:cNvSpPr txBox="1"/>
              <p:nvPr/>
            </p:nvSpPr>
            <p:spPr>
              <a:xfrm>
                <a:off x="8402782" y="1179295"/>
                <a:ext cx="1572491" cy="646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  <a:extLst>
                      <a:ext uri="http://customooxmlschemas.google.com/">
                        <go:slidesCustomData xmlns:go="http://customooxmlschemas.google.com/" textRoundtripDataId="0"/>
                      </a:ext>
                    </a:extLst>
                  </a:rPr>
                  <a:t>x</a:t>
                </a: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&lt; y</a:t>
                </a:r>
                <a:endParaRPr/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9077460" y="3940171"/>
              <a:ext cx="1773382" cy="900546"/>
              <a:chOff x="8070273" y="1052945"/>
              <a:chExt cx="1905000" cy="997528"/>
            </a:xfrm>
          </p:grpSpPr>
          <p:sp>
            <p:nvSpPr>
              <p:cNvPr id="203" name="Google Shape;203;p7"/>
              <p:cNvSpPr/>
              <p:nvPr/>
            </p:nvSpPr>
            <p:spPr>
              <a:xfrm>
                <a:off x="8070273" y="1052945"/>
                <a:ext cx="1683327" cy="997528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7"/>
              <p:cNvSpPr txBox="1"/>
              <p:nvPr/>
            </p:nvSpPr>
            <p:spPr>
              <a:xfrm>
                <a:off x="8402782" y="1179294"/>
                <a:ext cx="1572491" cy="7159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 &lt; z</a:t>
                </a:r>
                <a:endParaRPr/>
              </a:p>
            </p:txBody>
          </p:sp>
        </p:grpSp>
        <p:grpSp>
          <p:nvGrpSpPr>
            <p:cNvPr id="205" name="Google Shape;205;p7"/>
            <p:cNvGrpSpPr/>
            <p:nvPr/>
          </p:nvGrpSpPr>
          <p:grpSpPr>
            <a:xfrm>
              <a:off x="5523403" y="3984633"/>
              <a:ext cx="1773382" cy="900546"/>
              <a:chOff x="8070273" y="1052945"/>
              <a:chExt cx="1905000" cy="997528"/>
            </a:xfrm>
          </p:grpSpPr>
          <p:sp>
            <p:nvSpPr>
              <p:cNvPr id="206" name="Google Shape;206;p7"/>
              <p:cNvSpPr/>
              <p:nvPr/>
            </p:nvSpPr>
            <p:spPr>
              <a:xfrm>
                <a:off x="8070273" y="1052945"/>
                <a:ext cx="1683327" cy="997528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7"/>
              <p:cNvSpPr txBox="1"/>
              <p:nvPr/>
            </p:nvSpPr>
            <p:spPr>
              <a:xfrm>
                <a:off x="8402782" y="1179294"/>
                <a:ext cx="1572491" cy="7159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 &lt; z</a:t>
                </a:r>
                <a:endParaRPr/>
              </a:p>
            </p:txBody>
          </p:sp>
        </p:grpSp>
        <p:grpSp>
          <p:nvGrpSpPr>
            <p:cNvPr id="208" name="Google Shape;208;p7"/>
            <p:cNvGrpSpPr/>
            <p:nvPr/>
          </p:nvGrpSpPr>
          <p:grpSpPr>
            <a:xfrm>
              <a:off x="7600677" y="2843293"/>
              <a:ext cx="1773382" cy="900546"/>
              <a:chOff x="8070273" y="1052945"/>
              <a:chExt cx="1905000" cy="997528"/>
            </a:xfrm>
          </p:grpSpPr>
          <p:sp>
            <p:nvSpPr>
              <p:cNvPr id="209" name="Google Shape;209;p7"/>
              <p:cNvSpPr/>
              <p:nvPr/>
            </p:nvSpPr>
            <p:spPr>
              <a:xfrm>
                <a:off x="8070273" y="1052945"/>
                <a:ext cx="1683327" cy="997528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7"/>
              <p:cNvSpPr txBox="1"/>
              <p:nvPr/>
            </p:nvSpPr>
            <p:spPr>
              <a:xfrm>
                <a:off x="8402782" y="1179294"/>
                <a:ext cx="1572491" cy="7159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 &lt; z</a:t>
                </a:r>
                <a:endParaRPr/>
              </a:p>
            </p:txBody>
          </p:sp>
        </p:grpSp>
        <p:grpSp>
          <p:nvGrpSpPr>
            <p:cNvPr id="211" name="Google Shape;211;p7"/>
            <p:cNvGrpSpPr/>
            <p:nvPr/>
          </p:nvGrpSpPr>
          <p:grpSpPr>
            <a:xfrm>
              <a:off x="4322617" y="2856336"/>
              <a:ext cx="1773382" cy="900546"/>
              <a:chOff x="8070273" y="1052945"/>
              <a:chExt cx="1905000" cy="997528"/>
            </a:xfrm>
          </p:grpSpPr>
          <p:sp>
            <p:nvSpPr>
              <p:cNvPr id="212" name="Google Shape;212;p7"/>
              <p:cNvSpPr/>
              <p:nvPr/>
            </p:nvSpPr>
            <p:spPr>
              <a:xfrm>
                <a:off x="8070273" y="1052945"/>
                <a:ext cx="1683327" cy="997528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7"/>
              <p:cNvSpPr txBox="1"/>
              <p:nvPr/>
            </p:nvSpPr>
            <p:spPr>
              <a:xfrm>
                <a:off x="8402782" y="1179294"/>
                <a:ext cx="1572491" cy="7159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 &lt; z</a:t>
                </a:r>
                <a:endParaRPr/>
              </a:p>
            </p:txBody>
          </p:sp>
        </p:grpSp>
        <p:grpSp>
          <p:nvGrpSpPr>
            <p:cNvPr id="214" name="Google Shape;214;p7"/>
            <p:cNvGrpSpPr/>
            <p:nvPr/>
          </p:nvGrpSpPr>
          <p:grpSpPr>
            <a:xfrm>
              <a:off x="3448320" y="4111741"/>
              <a:ext cx="1657080" cy="646331"/>
              <a:chOff x="3232208" y="4637894"/>
              <a:chExt cx="1657080" cy="646331"/>
            </a:xfrm>
          </p:grpSpPr>
          <p:sp>
            <p:nvSpPr>
              <p:cNvPr id="215" name="Google Shape;215;p7"/>
              <p:cNvSpPr/>
              <p:nvPr/>
            </p:nvSpPr>
            <p:spPr>
              <a:xfrm>
                <a:off x="3265479" y="4728268"/>
                <a:ext cx="1590539" cy="555957"/>
              </a:xfrm>
              <a:prstGeom prst="rect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7"/>
              <p:cNvSpPr txBox="1"/>
              <p:nvPr/>
            </p:nvSpPr>
            <p:spPr>
              <a:xfrm>
                <a:off x="3232208" y="4637894"/>
                <a:ext cx="165708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 &lt; y &lt; z</a:t>
                </a:r>
                <a:endParaRPr/>
              </a:p>
            </p:txBody>
          </p:sp>
        </p:grpSp>
        <p:grpSp>
          <p:nvGrpSpPr>
            <p:cNvPr id="217" name="Google Shape;217;p7"/>
            <p:cNvGrpSpPr/>
            <p:nvPr/>
          </p:nvGrpSpPr>
          <p:grpSpPr>
            <a:xfrm>
              <a:off x="4294171" y="5253947"/>
              <a:ext cx="1657080" cy="648448"/>
              <a:chOff x="3255171" y="4635777"/>
              <a:chExt cx="1657080" cy="648448"/>
            </a:xfrm>
          </p:grpSpPr>
          <p:sp>
            <p:nvSpPr>
              <p:cNvPr id="218" name="Google Shape;218;p7"/>
              <p:cNvSpPr/>
              <p:nvPr/>
            </p:nvSpPr>
            <p:spPr>
              <a:xfrm>
                <a:off x="3265479" y="4728268"/>
                <a:ext cx="1590539" cy="555957"/>
              </a:xfrm>
              <a:prstGeom prst="rect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7"/>
              <p:cNvSpPr txBox="1"/>
              <p:nvPr/>
            </p:nvSpPr>
            <p:spPr>
              <a:xfrm>
                <a:off x="3255171" y="4635777"/>
                <a:ext cx="165708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 &lt; z &lt; y</a:t>
                </a:r>
                <a:endParaRPr/>
              </a:p>
            </p:txBody>
          </p:sp>
        </p:grpSp>
        <p:grpSp>
          <p:nvGrpSpPr>
            <p:cNvPr id="220" name="Google Shape;220;p7"/>
            <p:cNvGrpSpPr/>
            <p:nvPr/>
          </p:nvGrpSpPr>
          <p:grpSpPr>
            <a:xfrm>
              <a:off x="6161984" y="5264898"/>
              <a:ext cx="1657080" cy="646331"/>
              <a:chOff x="3232208" y="4637894"/>
              <a:chExt cx="1657080" cy="646331"/>
            </a:xfrm>
          </p:grpSpPr>
          <p:sp>
            <p:nvSpPr>
              <p:cNvPr id="221" name="Google Shape;221;p7"/>
              <p:cNvSpPr/>
              <p:nvPr/>
            </p:nvSpPr>
            <p:spPr>
              <a:xfrm>
                <a:off x="3265479" y="4728268"/>
                <a:ext cx="1590539" cy="555957"/>
              </a:xfrm>
              <a:prstGeom prst="rect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7"/>
              <p:cNvSpPr txBox="1"/>
              <p:nvPr/>
            </p:nvSpPr>
            <p:spPr>
              <a:xfrm>
                <a:off x="3232208" y="4637894"/>
                <a:ext cx="165708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 &lt; x &lt; y</a:t>
                </a:r>
                <a:endParaRPr/>
              </a:p>
            </p:txBody>
          </p:sp>
        </p:grpSp>
        <p:grpSp>
          <p:nvGrpSpPr>
            <p:cNvPr id="223" name="Google Shape;223;p7"/>
            <p:cNvGrpSpPr/>
            <p:nvPr/>
          </p:nvGrpSpPr>
          <p:grpSpPr>
            <a:xfrm>
              <a:off x="8261861" y="5190468"/>
              <a:ext cx="1657080" cy="646331"/>
              <a:chOff x="3232208" y="4637894"/>
              <a:chExt cx="1657080" cy="646331"/>
            </a:xfrm>
          </p:grpSpPr>
          <p:sp>
            <p:nvSpPr>
              <p:cNvPr id="224" name="Google Shape;224;p7"/>
              <p:cNvSpPr/>
              <p:nvPr/>
            </p:nvSpPr>
            <p:spPr>
              <a:xfrm>
                <a:off x="3265479" y="4728268"/>
                <a:ext cx="1590539" cy="555957"/>
              </a:xfrm>
              <a:prstGeom prst="rect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7"/>
              <p:cNvSpPr txBox="1"/>
              <p:nvPr/>
            </p:nvSpPr>
            <p:spPr>
              <a:xfrm>
                <a:off x="3232208" y="4637894"/>
                <a:ext cx="165708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 &lt; z &lt; x</a:t>
                </a:r>
                <a:endParaRPr/>
              </a:p>
            </p:txBody>
          </p:sp>
        </p:grpSp>
        <p:grpSp>
          <p:nvGrpSpPr>
            <p:cNvPr id="226" name="Google Shape;226;p7"/>
            <p:cNvGrpSpPr/>
            <p:nvPr/>
          </p:nvGrpSpPr>
          <p:grpSpPr>
            <a:xfrm>
              <a:off x="10223194" y="5171858"/>
              <a:ext cx="1657080" cy="646331"/>
              <a:chOff x="3232208" y="4637894"/>
              <a:chExt cx="1657080" cy="646331"/>
            </a:xfrm>
          </p:grpSpPr>
          <p:sp>
            <p:nvSpPr>
              <p:cNvPr id="227" name="Google Shape;227;p7"/>
              <p:cNvSpPr/>
              <p:nvPr/>
            </p:nvSpPr>
            <p:spPr>
              <a:xfrm>
                <a:off x="3265479" y="4728268"/>
                <a:ext cx="1590539" cy="555957"/>
              </a:xfrm>
              <a:prstGeom prst="rect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7"/>
              <p:cNvSpPr txBox="1"/>
              <p:nvPr/>
            </p:nvSpPr>
            <p:spPr>
              <a:xfrm>
                <a:off x="3232208" y="4637894"/>
                <a:ext cx="165708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 &lt; y &lt; x</a:t>
                </a:r>
                <a:endParaRPr/>
              </a:p>
            </p:txBody>
          </p:sp>
        </p:grpSp>
        <p:cxnSp>
          <p:nvCxnSpPr>
            <p:cNvPr id="229" name="Google Shape;229;p7"/>
            <p:cNvCxnSpPr>
              <a:stCxn id="200" idx="5"/>
            </p:cNvCxnSpPr>
            <p:nvPr/>
          </p:nvCxnSpPr>
          <p:spPr>
            <a:xfrm>
              <a:off x="7383221" y="2363938"/>
              <a:ext cx="652500" cy="479400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0" name="Google Shape;230;p7"/>
            <p:cNvCxnSpPr/>
            <p:nvPr/>
          </p:nvCxnSpPr>
          <p:spPr>
            <a:xfrm>
              <a:off x="9047853" y="3560343"/>
              <a:ext cx="518711" cy="424290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1" name="Google Shape;231;p7"/>
            <p:cNvCxnSpPr/>
            <p:nvPr/>
          </p:nvCxnSpPr>
          <p:spPr>
            <a:xfrm>
              <a:off x="5702804" y="3604301"/>
              <a:ext cx="459180" cy="354247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2" name="Google Shape;232;p7"/>
            <p:cNvCxnSpPr/>
            <p:nvPr/>
          </p:nvCxnSpPr>
          <p:spPr>
            <a:xfrm>
              <a:off x="6562327" y="4885179"/>
              <a:ext cx="652414" cy="479355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3" name="Google Shape;233;p7"/>
            <p:cNvCxnSpPr/>
            <p:nvPr/>
          </p:nvCxnSpPr>
          <p:spPr>
            <a:xfrm flipH="1">
              <a:off x="5523404" y="2357637"/>
              <a:ext cx="705513" cy="563200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4" name="Google Shape;234;p7"/>
            <p:cNvCxnSpPr/>
            <p:nvPr/>
          </p:nvCxnSpPr>
          <p:spPr>
            <a:xfrm flipH="1">
              <a:off x="3887683" y="3679319"/>
              <a:ext cx="724024" cy="502580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5" name="Google Shape;235;p7"/>
            <p:cNvCxnSpPr/>
            <p:nvPr/>
          </p:nvCxnSpPr>
          <p:spPr>
            <a:xfrm flipH="1">
              <a:off x="5122711" y="4766881"/>
              <a:ext cx="656303" cy="614173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6" name="Google Shape;236;p7"/>
            <p:cNvCxnSpPr/>
            <p:nvPr/>
          </p:nvCxnSpPr>
          <p:spPr>
            <a:xfrm>
              <a:off x="10361738" y="4766610"/>
              <a:ext cx="652414" cy="479355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7" name="Google Shape;237;p7"/>
            <p:cNvCxnSpPr/>
            <p:nvPr/>
          </p:nvCxnSpPr>
          <p:spPr>
            <a:xfrm flipH="1">
              <a:off x="8926011" y="4782877"/>
              <a:ext cx="540495" cy="497965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8" name="Google Shape;238;p7"/>
            <p:cNvCxnSpPr/>
            <p:nvPr/>
          </p:nvCxnSpPr>
          <p:spPr>
            <a:xfrm flipH="1">
              <a:off x="7682013" y="3765706"/>
              <a:ext cx="604365" cy="408594"/>
            </a:xfrm>
            <a:prstGeom prst="straightConnector1">
              <a:avLst/>
            </a:prstGeom>
            <a:noFill/>
            <a:ln cap="flat" cmpd="sng" w="635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39" name="Google Shape;239;p7"/>
            <p:cNvGrpSpPr/>
            <p:nvPr/>
          </p:nvGrpSpPr>
          <p:grpSpPr>
            <a:xfrm>
              <a:off x="7281712" y="4091312"/>
              <a:ext cx="1657080" cy="646331"/>
              <a:chOff x="3232208" y="4637894"/>
              <a:chExt cx="1657080" cy="646331"/>
            </a:xfrm>
          </p:grpSpPr>
          <p:sp>
            <p:nvSpPr>
              <p:cNvPr id="240" name="Google Shape;240;p7"/>
              <p:cNvSpPr/>
              <p:nvPr/>
            </p:nvSpPr>
            <p:spPr>
              <a:xfrm>
                <a:off x="3265479" y="4728268"/>
                <a:ext cx="1590539" cy="555957"/>
              </a:xfrm>
              <a:prstGeom prst="rect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7"/>
              <p:cNvSpPr txBox="1"/>
              <p:nvPr/>
            </p:nvSpPr>
            <p:spPr>
              <a:xfrm>
                <a:off x="3232208" y="4637894"/>
                <a:ext cx="165708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 &lt; x &lt; z</a:t>
                </a:r>
                <a:endParaRPr/>
              </a:p>
            </p:txBody>
          </p:sp>
        </p:grpSp>
        <p:sp>
          <p:nvSpPr>
            <p:cNvPr id="242" name="Google Shape;242;p7"/>
            <p:cNvSpPr txBox="1"/>
            <p:nvPr/>
          </p:nvSpPr>
          <p:spPr>
            <a:xfrm>
              <a:off x="7647284" y="2049894"/>
              <a:ext cx="111972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FALSE</a:t>
              </a:r>
              <a:endParaRPr/>
            </a:p>
          </p:txBody>
        </p:sp>
        <p:sp>
          <p:nvSpPr>
            <p:cNvPr id="243" name="Google Shape;243;p7"/>
            <p:cNvSpPr txBox="1"/>
            <p:nvPr/>
          </p:nvSpPr>
          <p:spPr>
            <a:xfrm>
              <a:off x="4946252" y="2112542"/>
              <a:ext cx="1119727" cy="113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TRUE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249" name="Google Shape;249;p8"/>
          <p:cNvSpPr txBox="1"/>
          <p:nvPr>
            <p:ph idx="1" type="body"/>
          </p:nvPr>
        </p:nvSpPr>
        <p:spPr>
          <a:xfrm>
            <a:off x="838200" y="1825625"/>
            <a:ext cx="10515600" cy="4886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Any comparison-based sorting algorithm is a decision tree – a binary tree</a:t>
            </a:r>
            <a:endParaRPr/>
          </a:p>
          <a:p>
            <a:pPr indent="-2540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Each internal node is a comparison between two elements</a:t>
            </a:r>
            <a:endParaRPr/>
          </a:p>
          <a:p>
            <a:pPr indent="-2540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Each leaf node is the sorted ordering of the elements</a:t>
            </a:r>
            <a:endParaRPr/>
          </a:p>
          <a:p>
            <a:pPr indent="-2540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The height h (= length of longest path from root to leaf) of the tree is the worst-case complexity of the algorithm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255" name="Google Shape;255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How many possible orders are there of n elements? 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n!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Hence number of leaves must be greater than n!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261" name="Google Shape;26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How many leaves can a binary tree of height h have? 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2</a:t>
            </a:r>
            <a:r>
              <a:rPr baseline="30000" lang="en-US" sz="4000"/>
              <a:t>h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Hence 2</a:t>
            </a:r>
            <a:r>
              <a:rPr baseline="30000" lang="en-US" sz="4000"/>
              <a:t>h</a:t>
            </a:r>
            <a:r>
              <a:rPr lang="en-US" sz="4000"/>
              <a:t> ≥ n! 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or, h = </a:t>
            </a: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Ω(log n!)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267" name="Google Shape;26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But,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  log n!  = log 1 + log 2 + … log 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               ≥ log n/2 + log n/2  + … log n/2 </a:t>
            </a:r>
            <a:r>
              <a:rPr baseline="30000" lang="en-US">
                <a:latin typeface="Cambria"/>
                <a:ea typeface="Cambria"/>
                <a:cs typeface="Cambria"/>
                <a:sym typeface="Cambria"/>
              </a:rPr>
              <a:t>(n/2+1 of them)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               ≥  (n/2)log n/2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               =Ω(nlogn)</a:t>
            </a:r>
            <a:endParaRPr/>
          </a:p>
          <a:p>
            <a:pPr indent="-2540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Thus,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/>
              <a:t>  h = </a:t>
            </a: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Ω(nlogn) and the lower bound is proven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273" name="Google Shape;27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Lower bounds are important 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They tell us what to try for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And when to stop trying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Main Takeaway: the complexity of comparison-based sorting is </a:t>
            </a: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Θ(nlogn), i.e. Merge Sort is an optimal sorting algorithm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2019-09-13T03:48:54Z</dcterms:created>
  <dc:creator>koods koods</dc:creator>
</cp:coreProperties>
</file>